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0" r:id="rId15"/>
    <p:sldId id="271" r:id="rId16"/>
    <p:sldId id="272" r:id="rId17"/>
    <p:sldId id="277" r:id="rId18"/>
    <p:sldId id="278" r:id="rId19"/>
    <p:sldId id="280"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8" d="100"/>
          <a:sy n="88" d="100"/>
        </p:scale>
        <p:origin x="228" y="5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276045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everyone. My name is [Your Name], and today I'll be presenting my final year project titled 'NewsNest — a Personalized Interest-Based News Aggregator.' This project was built under the guidance of [Guide Name] at [Your Institute Name]. NewsNest is a full-stack, microservices-based web application that delivers a personalized news homepage based on each user's selected interests — everything from UPSC and government policy to technology, AI, sports, and finance. Over the next few minutes, I'll walk you through the problem it solves, its architecture, the technologies used, and the live deployment on Docker and Kubernetes.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with the real-world problem. Today, someone interested in multiple domains — say UPSC preparation, technology news, and the stock market — has to visit several separate websites and apps to stay updated. This leads to three core issues: first, the sheer number of sources people must juggle; second, information overload from generic, unfiltered homepages; and third, the time this manual process consumes every single day. The goal of NewsNest is simple: pull news from a single trusted News API and intelligently organize it around each user's own selected interests — replacing five or six scattered sources with one clean, personalized feed.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NewsNest is, at its core, a personalized news aggregator. Instead of showing every user the same generic homepage, it lets each person choose from over twenty interest categories — UPSC, technology, AI, business, sports, health, and more — and builds a homepage around those choices. It's designed for absolutely everyone, not just professionals: a student prepping for competitive exams, a working professional tracking the stock market, or someone who just wants curated cricket updates. The core benefit is time saved and relevance gained — instead of filtering through noise, users see what matters to them first.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was guided by six core objectives. First, building a unified platform that personalizes itself to the user rather than showing static content. Second, structuring the backend as independent microservices rather than one large monolith. Third, delivering a genuinely modern, responsive interface. Fourth and fifth, making sure the entire system is containerized with Docker and deployable on Kubernetes, with a backend that stays stateless and scalable. And finally, rounding out the experience with practical features like search, bookmarking, and category filtering.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looking at the solution, let's examine what's wrong with the existing landscape. Most news platforms today are built for the masses, not the individual. This creates four recurring problems: people rely on too many separate websites, they're overloaded with information that isn't relevant to them, recommendation engines optimize for clicks rather than genuine interest, and the entire process of finding relevant news is simply time-consuming. These four pain points directly shaped the design goals for NewsNest.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maps each existing problem directly to how NewsNest solves it. Instead of multiple scattered websites, users get a single platform pulling from one News API. Instead of a generic homepage, the system builds a feed around the user's own selected interests, backed by twenty-two categories and keyword mapping in the category service. Instead of manually searching, personalized results appear automatically. And on the technical side, the entire system is fully responsive and ready to run anywhere via Docker and Kubernetes — which we'll get into shortly.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full architecture. The browser only ever talks to the Frontend, which is a static HTML, CSS, and vanilla JavaScript app. The Frontend sends every data request to a single entry point — the API Gateway — which handles routing, CORS, and rate limiting before forwarding requests onward. The Gateway talks to two backend microservices: the News Service, which fetches and caches articles from the external News API, and the Category Service, which maps user interests to search keywords. Notice the News Service is the only component that ever talks to the external News API directly — this keeps the API key hidden from the browser entirely. On the side, you can see localStorage — this is where the user's name, theme, interests, and bookmarks are stored, entirely on the client side, since the backend itself holds no database at all.</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Breaking the architecture down service by service: the Frontend is purely static and only ever calls the API Gateway — it never talks to News or Category services directly. The API Gateway is the single entry point, handling cross-cutting concerns like CORS and rate limiting, then routing requests to the right backend service. The News Service is responsible for fetching, caching, and normalizing articles — and it's the only place the News API key exists. The Category Service simply serves interest-to-keyword mappings from a JSON file, with no external dependencies at all. This separation gives us real advantages: each service can scale independently, a failure in one doesn't take down the others, and the codebase is far easier to maintain and deploy piece by piece.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full user journey, start to finish. A first-time visitor opens the site, enters their name, and selects their interests — all of which get saved instantly into the browser's localStorage. From that point on, whenever the Frontend needs news, it sends a request to the API Gateway, which forwards it to the News Service. The News Service, in turn, consults the Category Service to translate the user's chosen interests into search keywords, fetches matching articles from the News API, and returns a personalized feed. If the user bookmarks an article along the way, that bookmark is saved directly back into localStorage — completing a fully client-persisted, stateless-backend experience.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technology choices were deliberate at every layer. On the frontend, plain HTML, CSS, and vanilla JavaScript keep the app lightweight and dependency-free — no framework build step needed. On the backend, Node.js with Express gives us fast, minimal REST APIs across all four services. For data, we intentionally avoided a database — JSON handles static category configuration, and localStorage handles all user-specific data on the client. And for deployment, Docker containers keep every service portable and identical across environments, Docker Compose orchestrates them locally, and Kubernetes brings production-grade scaling and self-healing when deployed to a real cluster.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frontend, the focus was on making the experience feel premium despite using no framework at all. The layout is fully responsive across devices, supports dark and light themes, and includes live search with debounced input so it doesn't spam the backend on every keystroke. Users can bookmark articles and filter by category at any time. Visually, the app uses a glassmorphism design language with gradient hero sections, smooth staggered animations, and toast notifications for instant feedback. [This is a good point to switch to your browser and show the live homepage, onboarding flow, and dark/light toggle.]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backend, the API Gateway is the workhorse. It exposes clean, versioned REST endpoints and routes each request to the right microservice. The News Service caches responses in memory for five minutes, cutting down repeated calls to the external News API. Requests are filtered by interest, category, or search term as needed. For robustness, every service uses centralized error handling, rate limiting to prevent abuse, Helmet for secure HTTP headers, and strict CORS and input validation — all standard production practices applied consistently across the stack.</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Personalization happens in five stages. It starts when the user selects interests during onboarding — say, Technology and Cricket. Those interest IDs are sent to the Category Service, which maps each one to a set of real-world search keywords — for Technology, that might include 'AI', 'cloud computing', or 'Microsoft'. Those keywords are combined into a single query, which the News Service uses to filter live articles from the News API. The end result is a feed that's genuinely tailored — not just labeled 'Technology', but built from the actual keywords that matter within that category.</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one of the four microservices — Frontend, API Gateway, News Service, and Category Service — has its own Dockerfile using multi-stage, Node Alpine-based builds for small, secure images. Containers communicate with each other over an internal Docker network using service names as hostnames — for example, the Gateway simply calls 'http://news-service:4001' rather than a hardcoded IP. Everything is orchestrated together with a single docker-compose.yml file that defines networking, environment variables, and health checks, so the entire stack comes up with one command: docker compose up. [Switch to your terminal or Docker Desktop here to show the running containers and their health status.]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production-style deployment, NewsNest ships with full Kubernetes manifests: a Deployment and Service for each of the four microservices, plus a ConfigMap and Secret for environment configuration and the News API key, and a single Ingress resource tying it all together. Each service runs with two replica pods for basic high availability, sitting behind a stable ClusterIP Service. The Ingress Controller is the single public entry point, routing '/api' traffic to the Gateway and everything else to the Frontend, all under one hostname. Kubernetes also gives us self-healing — if a pod crashes, it's automatically restarted — and a clear path to horizontal auto-scaling as traffic grows. [This is the moment to show your live 'kubectl get pods' output or the Kubernetes dashboard with all pods running.]</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entire project is version-controlled and hosted publicly on GitHub at github.com/ShivamPandey985/NewsNest. The repository follows a clean structure — one top-level folder per microservice, plus a dedicated kubernetes folder for all deployment manifests. It includes a complete README with setup instructions for running locally, via Docker Compose, and via Kubernetes, along with environment variable documentation, a license file, and a proper .gitignore so secrets and node_modules never get committed. Anyone can clone this repository and have the full stack running within minutes. [Show the actual GitHub repository page here.]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Looking ahead, there's a clear roadmap for NewsNest to grow. The most natural next step is database integration, enabling true user accounts, authentication, and cross-device sync. From there, the system could layer in AI and machine-learning-based recommendations that learn from reading behavior, multi-language support for wider accessibility, push notifications for breaking news, and even an offline reading mode. Longer-term ideas include a voice assistant for hands-free browsing, an admin dashboard with usage analytics, and eventually a native mobile application — turning this from a project prototype into a genuinely production-scale product.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 NewsNest set out to solve a genuine everyday problem: the fragmented, one-size-fits-all way most people consume news. It solves this with a single personalized platform built on four core technical pillars. Microservices keep the system modular and fault-isolated. Docker makes every service portable and consistent across environments. Kubernetes brings production-grade scalability and self-healing. And modern, framework-free web technologies keep the frontend fast and responsive. Together, these choices demonstrate not just a working prototype, but a system genuinely structured the way real-world, cloud-native applications are built today.</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your time and attention. My contact details and the project's GitHub and Docker Hub links are on screen if you'd like to explore the code or pull the images yourself. I'm happy to answer any further questions.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A1B5D"/>
        </a:solidFill>
        <a:effectLst/>
      </p:bgPr>
    </p:bg>
    <p:spTree>
      <p:nvGrpSpPr>
        <p:cNvPr id="1" name=""/>
        <p:cNvGrpSpPr/>
        <p:nvPr/>
      </p:nvGrpSpPr>
      <p:grpSpPr>
        <a:xfrm>
          <a:off x="0" y="0"/>
          <a:ext cx="0" cy="0"/>
          <a:chOff x="0" y="0"/>
          <a:chExt cx="0" cy="0"/>
        </a:xfrm>
      </p:grpSpPr>
      <p:sp>
        <p:nvSpPr>
          <p:cNvPr id="2" name="Shape 0"/>
          <p:cNvSpPr/>
          <p:nvPr/>
        </p:nvSpPr>
        <p:spPr>
          <a:xfrm>
            <a:off x="9784080" y="-2011680"/>
            <a:ext cx="5943600" cy="5943600"/>
          </a:xfrm>
          <a:prstGeom prst="ellipse">
            <a:avLst/>
          </a:prstGeom>
          <a:solidFill>
            <a:srgbClr val="6C3CE9">
              <a:alpha val="22000"/>
            </a:srgbClr>
          </a:solidFill>
          <a:ln/>
        </p:spPr>
      </p:sp>
      <p:sp>
        <p:nvSpPr>
          <p:cNvPr id="3" name="Shape 1"/>
          <p:cNvSpPr/>
          <p:nvPr/>
        </p:nvSpPr>
        <p:spPr>
          <a:xfrm>
            <a:off x="-2103120" y="4206240"/>
            <a:ext cx="5120640" cy="5120640"/>
          </a:xfrm>
          <a:prstGeom prst="ellipse">
            <a:avLst/>
          </a:prstGeom>
          <a:solidFill>
            <a:srgbClr val="EC4899">
              <a:alpha val="18000"/>
            </a:srgbClr>
          </a:solidFill>
          <a:ln/>
        </p:spPr>
      </p:sp>
      <p:sp>
        <p:nvSpPr>
          <p:cNvPr id="4" name="Shape 2"/>
          <p:cNvSpPr/>
          <p:nvPr/>
        </p:nvSpPr>
        <p:spPr>
          <a:xfrm>
            <a:off x="8961120" y="4754880"/>
            <a:ext cx="2926080" cy="2926080"/>
          </a:xfrm>
          <a:prstGeom prst="ellipse">
            <a:avLst/>
          </a:prstGeom>
          <a:solidFill>
            <a:srgbClr val="EC4899">
              <a:alpha val="15000"/>
            </a:srgbClr>
          </a:solidFill>
          <a:ln/>
        </p:spPr>
      </p:sp>
      <p:sp>
        <p:nvSpPr>
          <p:cNvPr id="5" name="Shape 3"/>
          <p:cNvSpPr/>
          <p:nvPr/>
        </p:nvSpPr>
        <p:spPr>
          <a:xfrm>
            <a:off x="5641848" y="640080"/>
            <a:ext cx="777240" cy="777240"/>
          </a:xfrm>
          <a:prstGeom prst="ellipse">
            <a:avLst/>
          </a:prstGeom>
          <a:solidFill>
            <a:srgbClr val="EC4899"/>
          </a:solidFill>
          <a:ln/>
        </p:spPr>
      </p:sp>
      <p:sp>
        <p:nvSpPr>
          <p:cNvPr id="6" name="Text 4"/>
          <p:cNvSpPr/>
          <p:nvPr/>
        </p:nvSpPr>
        <p:spPr>
          <a:xfrm>
            <a:off x="5641848" y="621792"/>
            <a:ext cx="777240" cy="777240"/>
          </a:xfrm>
          <a:prstGeom prst="rect">
            <a:avLst/>
          </a:prstGeom>
          <a:noFill/>
          <a:ln/>
        </p:spPr>
        <p:txBody>
          <a:bodyPr wrap="square" lIns="0" tIns="0" rIns="0" bIns="0" rtlCol="0" anchor="ctr"/>
          <a:lstStyle/>
          <a:p>
            <a:pPr marL="0" indent="0" algn="ctr">
              <a:buNone/>
            </a:pPr>
            <a:r>
              <a:rPr lang="en-US" sz="3400" dirty="0">
                <a:solidFill>
                  <a:srgbClr val="000000"/>
                </a:solidFill>
                <a:latin typeface="Segoe UI Emoji" pitchFamily="34" charset="0"/>
                <a:ea typeface="Segoe UI Emoji" pitchFamily="34" charset="-122"/>
                <a:cs typeface="Segoe UI Emoji" pitchFamily="34" charset="-120"/>
              </a:rPr>
              <a:t>📰</a:t>
            </a:r>
            <a:endParaRPr lang="en-US" sz="3400" dirty="0"/>
          </a:p>
        </p:txBody>
      </p:sp>
      <p:sp>
        <p:nvSpPr>
          <p:cNvPr id="7" name="Text 5"/>
          <p:cNvSpPr/>
          <p:nvPr/>
        </p:nvSpPr>
        <p:spPr>
          <a:xfrm>
            <a:off x="0" y="1600200"/>
            <a:ext cx="12191695" cy="914400"/>
          </a:xfrm>
          <a:prstGeom prst="rect">
            <a:avLst/>
          </a:prstGeom>
          <a:noFill/>
          <a:ln/>
        </p:spPr>
        <p:txBody>
          <a:bodyPr wrap="square" lIns="0" tIns="0" rIns="0" bIns="0" rtlCol="0" anchor="ctr"/>
          <a:lstStyle/>
          <a:p>
            <a:pPr marL="0" indent="0" algn="ctr">
              <a:buNone/>
            </a:pPr>
            <a:r>
              <a:rPr lang="en-US" sz="5400" b="1" dirty="0">
                <a:solidFill>
                  <a:srgbClr val="FFFFFF"/>
                </a:solidFill>
                <a:latin typeface="Cambria" pitchFamily="34" charset="0"/>
                <a:ea typeface="Cambria" pitchFamily="34" charset="-122"/>
                <a:cs typeface="Cambria" pitchFamily="34" charset="-120"/>
              </a:rPr>
              <a:t>News</a:t>
            </a:r>
            <a:r>
              <a:rPr lang="en-US" sz="5400" b="1" dirty="0">
                <a:solidFill>
                  <a:srgbClr val="EC4899"/>
                </a:solidFill>
                <a:latin typeface="Cambria" pitchFamily="34" charset="0"/>
                <a:ea typeface="Cambria" pitchFamily="34" charset="-122"/>
                <a:cs typeface="Cambria" pitchFamily="34" charset="-120"/>
              </a:rPr>
              <a:t>Nest</a:t>
            </a:r>
            <a:endParaRPr lang="en-US" sz="5400" dirty="0"/>
          </a:p>
        </p:txBody>
      </p:sp>
      <p:sp>
        <p:nvSpPr>
          <p:cNvPr id="8" name="Text 6"/>
          <p:cNvSpPr/>
          <p:nvPr/>
        </p:nvSpPr>
        <p:spPr>
          <a:xfrm>
            <a:off x="-1" y="2587752"/>
            <a:ext cx="12191695" cy="457200"/>
          </a:xfrm>
          <a:prstGeom prst="rect">
            <a:avLst/>
          </a:prstGeom>
          <a:noFill/>
          <a:ln/>
        </p:spPr>
        <p:txBody>
          <a:bodyPr wrap="square" lIns="0" tIns="0" rIns="0" bIns="0" rtlCol="0" anchor="ctr"/>
          <a:lstStyle/>
          <a:p>
            <a:pPr marL="0" indent="0" algn="ctr">
              <a:buNone/>
            </a:pPr>
            <a:r>
              <a:rPr lang="en-US" sz="1900" i="1" dirty="0">
                <a:solidFill>
                  <a:srgbClr val="D9D2F0"/>
                </a:solidFill>
                <a:latin typeface="Calibri" pitchFamily="34" charset="0"/>
                <a:ea typeface="Calibri" pitchFamily="34" charset="-122"/>
                <a:cs typeface="Calibri" pitchFamily="34" charset="-120"/>
              </a:rPr>
              <a:t>Personalized Interest-Based News Aggregator</a:t>
            </a:r>
            <a:endParaRPr lang="en-US" sz="1900" dirty="0"/>
          </a:p>
        </p:txBody>
      </p:sp>
      <p:sp>
        <p:nvSpPr>
          <p:cNvPr id="9" name="Shape 7"/>
          <p:cNvSpPr/>
          <p:nvPr/>
        </p:nvSpPr>
        <p:spPr>
          <a:xfrm>
            <a:off x="5413248" y="3127248"/>
            <a:ext cx="1371600" cy="32004"/>
          </a:xfrm>
          <a:prstGeom prst="rect">
            <a:avLst/>
          </a:prstGeom>
          <a:solidFill>
            <a:srgbClr val="EC4899"/>
          </a:solidFill>
          <a:ln/>
        </p:spPr>
      </p:sp>
      <p:sp>
        <p:nvSpPr>
          <p:cNvPr id="11" name="Text 9"/>
          <p:cNvSpPr/>
          <p:nvPr/>
        </p:nvSpPr>
        <p:spPr>
          <a:xfrm>
            <a:off x="3281622" y="5568696"/>
            <a:ext cx="457200" cy="457200"/>
          </a:xfrm>
          <a:prstGeom prst="rect">
            <a:avLst/>
          </a:prstGeom>
          <a:noFill/>
          <a:ln/>
        </p:spPr>
        <p:txBody>
          <a:bodyPr wrap="square" lIns="0" tIns="0" rIns="0" bIns="0" rtlCol="0" anchor="ctr"/>
          <a:lstStyle/>
          <a:p>
            <a:pPr marL="0" indent="0" algn="ctr">
              <a:buNone/>
            </a:pPr>
            <a:r>
              <a:rPr lang="en-US" sz="2000" dirty="0">
                <a:solidFill>
                  <a:srgbClr val="000000"/>
                </a:solidFill>
                <a:latin typeface="Segoe UI Emoji" pitchFamily="34" charset="0"/>
                <a:ea typeface="Segoe UI Emoji" pitchFamily="34" charset="-122"/>
                <a:cs typeface="Segoe UI Emoji" pitchFamily="34" charset="-120"/>
              </a:rPr>
              <a:t>🎓</a:t>
            </a:r>
            <a:endParaRPr lang="en-US" sz="2000" dirty="0"/>
          </a:p>
        </p:txBody>
      </p:sp>
      <p:sp>
        <p:nvSpPr>
          <p:cNvPr id="12" name="Text 10"/>
          <p:cNvSpPr/>
          <p:nvPr/>
        </p:nvSpPr>
        <p:spPr>
          <a:xfrm>
            <a:off x="3738822" y="5752130"/>
            <a:ext cx="4583292" cy="274320"/>
          </a:xfrm>
          <a:prstGeom prst="rect">
            <a:avLst/>
          </a:prstGeom>
          <a:noFill/>
          <a:ln/>
        </p:spPr>
        <p:txBody>
          <a:bodyPr wrap="square" lIns="0" tIns="0" rIns="0" bIns="0" rtlCol="0" anchor="ctr"/>
          <a:lstStyle/>
          <a:p>
            <a:pPr marL="0" indent="0">
              <a:buNone/>
            </a:pPr>
            <a:r>
              <a:rPr lang="en-US" b="1" kern="0" spc="100" dirty="0">
                <a:solidFill>
                  <a:srgbClr val="D9D2F0"/>
                </a:solidFill>
                <a:latin typeface="Calibri" pitchFamily="34" charset="0"/>
                <a:ea typeface="Calibri" pitchFamily="34" charset="-122"/>
                <a:cs typeface="Calibri" pitchFamily="34" charset="-120"/>
              </a:rPr>
              <a:t>STUDENT NAME:- SHIVAM KUMAR PANDEY </a:t>
            </a:r>
          </a:p>
          <a:p>
            <a:pPr marL="0" indent="0">
              <a:buNone/>
            </a:pPr>
            <a:endParaRPr lang="en-US" sz="1200" b="1" kern="0" spc="100" dirty="0">
              <a:solidFill>
                <a:srgbClr val="D9D2F0"/>
              </a:solidFill>
              <a:latin typeface="Calibri" pitchFamily="34" charset="0"/>
              <a:ea typeface="Calibri" pitchFamily="34" charset="-122"/>
              <a:cs typeface="Calibri" pitchFamily="34" charset="-120"/>
            </a:endParaRPr>
          </a:p>
        </p:txBody>
      </p:sp>
      <p:sp>
        <p:nvSpPr>
          <p:cNvPr id="13" name="Text 11"/>
          <p:cNvSpPr/>
          <p:nvPr/>
        </p:nvSpPr>
        <p:spPr>
          <a:xfrm>
            <a:off x="5321808" y="4206240"/>
            <a:ext cx="3108960" cy="365760"/>
          </a:xfrm>
          <a:prstGeom prst="rect">
            <a:avLst/>
          </a:prstGeom>
          <a:noFill/>
          <a:ln/>
        </p:spPr>
        <p:txBody>
          <a:bodyPr wrap="square" lIns="0" tIns="0" rIns="0" bIns="0" rtlCol="0" anchor="ctr"/>
          <a:lstStyle/>
          <a:p>
            <a:pPr marL="0" indent="0">
              <a:buNone/>
            </a:pPr>
            <a:endParaRPr lang="en-US" sz="1350" dirty="0"/>
          </a:p>
        </p:txBody>
      </p:sp>
      <p:sp>
        <p:nvSpPr>
          <p:cNvPr id="14" name="Text 12"/>
          <p:cNvSpPr/>
          <p:nvPr/>
        </p:nvSpPr>
        <p:spPr>
          <a:xfrm>
            <a:off x="6556248" y="4005072"/>
            <a:ext cx="457200" cy="457200"/>
          </a:xfrm>
          <a:prstGeom prst="rect">
            <a:avLst/>
          </a:prstGeom>
          <a:noFill/>
          <a:ln/>
        </p:spPr>
        <p:txBody>
          <a:bodyPr wrap="square" lIns="0" tIns="0" rIns="0" bIns="0" rtlCol="0" anchor="ctr"/>
          <a:lstStyle/>
          <a:p>
            <a:pPr marL="0" indent="0" algn="ctr">
              <a:buNone/>
            </a:pPr>
            <a:endParaRPr lang="en-US" sz="2000" dirty="0"/>
          </a:p>
        </p:txBody>
      </p:sp>
      <p:sp>
        <p:nvSpPr>
          <p:cNvPr id="15" name="Text 13"/>
          <p:cNvSpPr/>
          <p:nvPr/>
        </p:nvSpPr>
        <p:spPr>
          <a:xfrm>
            <a:off x="7059168" y="3959352"/>
            <a:ext cx="2926080" cy="274320"/>
          </a:xfrm>
          <a:prstGeom prst="rect">
            <a:avLst/>
          </a:prstGeom>
          <a:noFill/>
          <a:ln/>
        </p:spPr>
        <p:txBody>
          <a:bodyPr wrap="square" lIns="0" tIns="0" rIns="0" bIns="0" rtlCol="0" anchor="ctr"/>
          <a:lstStyle/>
          <a:p>
            <a:pPr marL="0" indent="0">
              <a:buNone/>
            </a:pPr>
            <a:endParaRPr lang="en-US" sz="1000" dirty="0"/>
          </a:p>
        </p:txBody>
      </p:sp>
      <p:sp>
        <p:nvSpPr>
          <p:cNvPr id="16" name="Text 14"/>
          <p:cNvSpPr/>
          <p:nvPr/>
        </p:nvSpPr>
        <p:spPr>
          <a:xfrm>
            <a:off x="7059168" y="4206240"/>
            <a:ext cx="3108960" cy="365760"/>
          </a:xfrm>
          <a:prstGeom prst="rect">
            <a:avLst/>
          </a:prstGeom>
          <a:noFill/>
          <a:ln/>
        </p:spPr>
        <p:txBody>
          <a:bodyPr wrap="square" lIns="0" tIns="0" rIns="0" bIns="0" rtlCol="0" anchor="ctr"/>
          <a:lstStyle/>
          <a:p>
            <a:pPr marL="0" indent="0">
              <a:buNone/>
            </a:pPr>
            <a:endParaRPr lang="en-US" sz="1350" dirty="0"/>
          </a:p>
        </p:txBody>
      </p:sp>
      <p:sp>
        <p:nvSpPr>
          <p:cNvPr id="17" name="Text 15"/>
          <p:cNvSpPr/>
          <p:nvPr/>
        </p:nvSpPr>
        <p:spPr>
          <a:xfrm>
            <a:off x="2670048" y="4873752"/>
            <a:ext cx="457200" cy="457200"/>
          </a:xfrm>
          <a:prstGeom prst="rect">
            <a:avLst/>
          </a:prstGeom>
          <a:noFill/>
          <a:ln/>
        </p:spPr>
        <p:txBody>
          <a:bodyPr wrap="square" lIns="0" tIns="0" rIns="0" bIns="0" rtlCol="0" anchor="ctr"/>
          <a:lstStyle/>
          <a:p>
            <a:pPr marL="0" indent="0" algn="ctr">
              <a:buNone/>
            </a:pPr>
            <a:endParaRPr lang="en-US" sz="2000" dirty="0"/>
          </a:p>
        </p:txBody>
      </p:sp>
      <p:sp>
        <p:nvSpPr>
          <p:cNvPr id="18" name="Text 16"/>
          <p:cNvSpPr/>
          <p:nvPr/>
        </p:nvSpPr>
        <p:spPr>
          <a:xfrm>
            <a:off x="3172968" y="4828032"/>
            <a:ext cx="2926080" cy="274320"/>
          </a:xfrm>
          <a:prstGeom prst="rect">
            <a:avLst/>
          </a:prstGeom>
          <a:noFill/>
          <a:ln/>
        </p:spPr>
        <p:txBody>
          <a:bodyPr wrap="square" lIns="0" tIns="0" rIns="0" bIns="0" rtlCol="0" anchor="ctr"/>
          <a:lstStyle/>
          <a:p>
            <a:pPr marL="0" indent="0">
              <a:buNone/>
            </a:pPr>
            <a:endParaRPr lang="en-US" sz="1000" dirty="0"/>
          </a:p>
        </p:txBody>
      </p:sp>
      <p:sp>
        <p:nvSpPr>
          <p:cNvPr id="19" name="Text 17"/>
          <p:cNvSpPr/>
          <p:nvPr/>
        </p:nvSpPr>
        <p:spPr>
          <a:xfrm>
            <a:off x="3172968" y="5074920"/>
            <a:ext cx="3108960" cy="365760"/>
          </a:xfrm>
          <a:prstGeom prst="rect">
            <a:avLst/>
          </a:prstGeom>
          <a:noFill/>
          <a:ln/>
        </p:spPr>
        <p:txBody>
          <a:bodyPr wrap="square" lIns="0" tIns="0" rIns="0" bIns="0" rtlCol="0" anchor="ctr"/>
          <a:lstStyle/>
          <a:p>
            <a:pPr marL="0" indent="0">
              <a:buNone/>
            </a:pPr>
            <a:endParaRPr lang="en-US" sz="1350" dirty="0"/>
          </a:p>
        </p:txBody>
      </p:sp>
      <p:sp>
        <p:nvSpPr>
          <p:cNvPr id="20" name="Text 18"/>
          <p:cNvSpPr/>
          <p:nvPr/>
        </p:nvSpPr>
        <p:spPr>
          <a:xfrm>
            <a:off x="6556248" y="4873752"/>
            <a:ext cx="457200" cy="457200"/>
          </a:xfrm>
          <a:prstGeom prst="rect">
            <a:avLst/>
          </a:prstGeom>
          <a:noFill/>
          <a:ln/>
        </p:spPr>
        <p:txBody>
          <a:bodyPr wrap="square" lIns="0" tIns="0" rIns="0" bIns="0" rtlCol="0" anchor="ctr"/>
          <a:lstStyle/>
          <a:p>
            <a:pPr marL="0" indent="0" algn="ctr">
              <a:buNone/>
            </a:pPr>
            <a:endParaRPr lang="en-US" sz="2000" dirty="0"/>
          </a:p>
        </p:txBody>
      </p:sp>
      <p:sp>
        <p:nvSpPr>
          <p:cNvPr id="21" name="Text 19"/>
          <p:cNvSpPr/>
          <p:nvPr/>
        </p:nvSpPr>
        <p:spPr>
          <a:xfrm>
            <a:off x="7059168" y="4828032"/>
            <a:ext cx="2926080" cy="274320"/>
          </a:xfrm>
          <a:prstGeom prst="rect">
            <a:avLst/>
          </a:prstGeom>
          <a:noFill/>
          <a:ln/>
        </p:spPr>
        <p:txBody>
          <a:bodyPr wrap="square" lIns="0" tIns="0" rIns="0" bIns="0" rtlCol="0" anchor="ctr"/>
          <a:lstStyle/>
          <a:p>
            <a:pPr marL="0" indent="0">
              <a:buNone/>
            </a:pPr>
            <a:endParaRPr lang="en-US" sz="1000" dirty="0"/>
          </a:p>
        </p:txBody>
      </p:sp>
      <p:sp>
        <p:nvSpPr>
          <p:cNvPr id="22" name="Text 20"/>
          <p:cNvSpPr/>
          <p:nvPr/>
        </p:nvSpPr>
        <p:spPr>
          <a:xfrm>
            <a:off x="7059168" y="5074920"/>
            <a:ext cx="3108960" cy="365760"/>
          </a:xfrm>
          <a:prstGeom prst="rect">
            <a:avLst/>
          </a:prstGeom>
          <a:noFill/>
          <a:ln/>
        </p:spPr>
        <p:txBody>
          <a:bodyPr wrap="square" lIns="0" tIns="0" rIns="0" bIns="0" rtlCol="0" anchor="ctr"/>
          <a:lstStyle/>
          <a:p>
            <a:pPr marL="0" indent="0">
              <a:buNone/>
            </a:pPr>
            <a:endParaRPr lang="en-US" sz="1350" dirty="0"/>
          </a:p>
        </p:txBody>
      </p:sp>
      <p:sp>
        <p:nvSpPr>
          <p:cNvPr id="23" name="Text 21"/>
          <p:cNvSpPr/>
          <p:nvPr/>
        </p:nvSpPr>
        <p:spPr>
          <a:xfrm>
            <a:off x="0" y="6263640"/>
            <a:ext cx="12191695" cy="320040"/>
          </a:xfrm>
          <a:prstGeom prst="rect">
            <a:avLst/>
          </a:prstGeom>
          <a:noFill/>
          <a:ln/>
        </p:spPr>
        <p:txBody>
          <a:bodyPr wrap="square" lIns="0" tIns="0" rIns="0" bIns="0" rtlCol="0" anchor="ctr"/>
          <a:lstStyle/>
          <a:p>
            <a:pPr marL="0" indent="0" algn="ctr">
              <a:buNone/>
            </a:pP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91672" cy="685800"/>
          </a:xfrm>
          <a:prstGeom prst="rect">
            <a:avLst/>
          </a:prstGeom>
          <a:noFill/>
          <a:ln/>
        </p:spPr>
        <p:txBody>
          <a:bodyPr wrap="square" lIns="0" tIns="0" rIns="0" bIns="0" rtlCol="0" anchor="ctr"/>
          <a:lstStyle/>
          <a:p>
            <a:pPr marL="0" indent="0" algn="l">
              <a:buNone/>
            </a:pPr>
            <a:r>
              <a:rPr lang="en-US" sz="3200" b="1" dirty="0">
                <a:solidFill>
                  <a:srgbClr val="2A1B5D"/>
                </a:solidFill>
                <a:latin typeface="Cambria" pitchFamily="34" charset="0"/>
                <a:ea typeface="Cambria" pitchFamily="34" charset="-122"/>
                <a:cs typeface="Cambria" pitchFamily="34" charset="-120"/>
              </a:rPr>
              <a:t>Problem Statement</a:t>
            </a:r>
            <a:endParaRPr lang="en-US" sz="3200" dirty="0"/>
          </a:p>
        </p:txBody>
      </p:sp>
      <p:sp>
        <p:nvSpPr>
          <p:cNvPr id="3" name="Shape 1"/>
          <p:cNvSpPr/>
          <p:nvPr/>
        </p:nvSpPr>
        <p:spPr>
          <a:xfrm>
            <a:off x="548640" y="1042416"/>
            <a:ext cx="502920" cy="41148"/>
          </a:xfrm>
          <a:prstGeom prst="rect">
            <a:avLst/>
          </a:prstGeom>
          <a:solidFill>
            <a:srgbClr val="EC4899"/>
          </a:solidFill>
          <a:ln/>
        </p:spPr>
      </p:sp>
      <p:sp>
        <p:nvSpPr>
          <p:cNvPr id="4" name="Text 2"/>
          <p:cNvSpPr/>
          <p:nvPr/>
        </p:nvSpPr>
        <p:spPr>
          <a:xfrm>
            <a:off x="548640" y="1097280"/>
            <a:ext cx="11091672" cy="365760"/>
          </a:xfrm>
          <a:prstGeom prst="rect">
            <a:avLst/>
          </a:prstGeom>
          <a:noFill/>
          <a:ln/>
        </p:spPr>
        <p:txBody>
          <a:bodyPr wrap="square" lIns="0" tIns="0" rIns="0" bIns="0" rtlCol="0" anchor="ctr"/>
          <a:lstStyle/>
          <a:p>
            <a:pPr marL="0" indent="0" algn="l">
              <a:buNone/>
            </a:pPr>
            <a:r>
              <a:rPr lang="en-US" sz="1400" i="1" dirty="0">
                <a:solidFill>
                  <a:srgbClr val="6B6480"/>
                </a:solidFill>
                <a:latin typeface="Calibri" pitchFamily="34" charset="0"/>
                <a:ea typeface="Calibri" pitchFamily="34" charset="-122"/>
                <a:cs typeface="Calibri" pitchFamily="34" charset="-120"/>
              </a:rPr>
              <a:t>Why do we need a smarter way to consume news?</a:t>
            </a:r>
            <a:endParaRPr lang="en-US" sz="1400" dirty="0"/>
          </a:p>
        </p:txBody>
      </p:sp>
      <p:sp>
        <p:nvSpPr>
          <p:cNvPr id="5" name="Shape 3"/>
          <p:cNvSpPr/>
          <p:nvPr/>
        </p:nvSpPr>
        <p:spPr>
          <a:xfrm>
            <a:off x="548640" y="1691640"/>
            <a:ext cx="566928" cy="566928"/>
          </a:xfrm>
          <a:prstGeom prst="ellipse">
            <a:avLst/>
          </a:prstGeom>
          <a:solidFill>
            <a:srgbClr val="6C3CE9"/>
          </a:solidFill>
          <a:ln/>
        </p:spPr>
      </p:sp>
      <p:sp>
        <p:nvSpPr>
          <p:cNvPr id="6" name="Text 4"/>
          <p:cNvSpPr/>
          <p:nvPr/>
        </p:nvSpPr>
        <p:spPr>
          <a:xfrm>
            <a:off x="548640" y="1673352"/>
            <a:ext cx="566928" cy="566928"/>
          </a:xfrm>
          <a:prstGeom prst="rect">
            <a:avLst/>
          </a:prstGeom>
          <a:noFill/>
          <a:ln/>
        </p:spPr>
        <p:txBody>
          <a:bodyPr wrap="square" lIns="0" tIns="0" rIns="0" bIns="0" rtlCol="0" anchor="ctr"/>
          <a:lstStyle/>
          <a:p>
            <a:pPr marL="0" indent="0" algn="ctr">
              <a:buNone/>
            </a:pPr>
            <a:r>
              <a:rPr lang="en-US" sz="2400" dirty="0">
                <a:solidFill>
                  <a:srgbClr val="000000"/>
                </a:solidFill>
                <a:latin typeface="Segoe UI Emoji" pitchFamily="34" charset="0"/>
                <a:ea typeface="Segoe UI Emoji" pitchFamily="34" charset="-122"/>
                <a:cs typeface="Segoe UI Emoji" pitchFamily="34" charset="-120"/>
              </a:rPr>
              <a:t>🌐</a:t>
            </a:r>
            <a:endParaRPr lang="en-US" sz="2400" dirty="0"/>
          </a:p>
        </p:txBody>
      </p:sp>
      <p:sp>
        <p:nvSpPr>
          <p:cNvPr id="7" name="Text 5"/>
          <p:cNvSpPr/>
          <p:nvPr/>
        </p:nvSpPr>
        <p:spPr>
          <a:xfrm>
            <a:off x="1280160" y="1673352"/>
            <a:ext cx="4480560" cy="365760"/>
          </a:xfrm>
          <a:prstGeom prst="rect">
            <a:avLst/>
          </a:prstGeom>
          <a:noFill/>
          <a:ln/>
        </p:spPr>
        <p:txBody>
          <a:bodyPr wrap="square" lIns="0" tIns="0" rIns="0" bIns="0" rtlCol="0" anchor="ctr"/>
          <a:lstStyle/>
          <a:p>
            <a:pPr marL="0" indent="0">
              <a:buNone/>
            </a:pPr>
            <a:r>
              <a:rPr lang="en-US" sz="1500" b="1" dirty="0">
                <a:solidFill>
                  <a:srgbClr val="1F1B3A"/>
                </a:solidFill>
                <a:latin typeface="Calibri" pitchFamily="34" charset="0"/>
                <a:ea typeface="Calibri" pitchFamily="34" charset="-122"/>
                <a:cs typeface="Calibri" pitchFamily="34" charset="-120"/>
              </a:rPr>
              <a:t>Multiple Websites &amp; Apps</a:t>
            </a:r>
            <a:endParaRPr lang="en-US" sz="1500" dirty="0"/>
          </a:p>
        </p:txBody>
      </p:sp>
      <p:sp>
        <p:nvSpPr>
          <p:cNvPr id="8" name="Text 6"/>
          <p:cNvSpPr/>
          <p:nvPr/>
        </p:nvSpPr>
        <p:spPr>
          <a:xfrm>
            <a:off x="1280160" y="2039112"/>
            <a:ext cx="4480560" cy="868680"/>
          </a:xfrm>
          <a:prstGeom prst="rect">
            <a:avLst/>
          </a:prstGeom>
          <a:noFill/>
          <a:ln/>
        </p:spPr>
        <p:txBody>
          <a:bodyPr wrap="square" lIns="0" tIns="0" rIns="0" bIns="0" rtlCol="0" anchor="t"/>
          <a:lstStyle/>
          <a:p>
            <a:pPr marL="0" indent="0">
              <a:buNone/>
            </a:pPr>
            <a:r>
              <a:rPr lang="en-US" sz="1150" dirty="0">
                <a:solidFill>
                  <a:srgbClr val="6B6480"/>
                </a:solidFill>
                <a:latin typeface="Calibri" pitchFamily="34" charset="0"/>
                <a:ea typeface="Calibri" pitchFamily="34" charset="-122"/>
                <a:cs typeface="Calibri" pitchFamily="34" charset="-120"/>
              </a:rPr>
              <a:t>Users visit 5–6 different portals to track UPSC, tech, sports, and finance news separately.</a:t>
            </a:r>
            <a:endParaRPr lang="en-US" sz="1150" dirty="0"/>
          </a:p>
        </p:txBody>
      </p:sp>
      <p:sp>
        <p:nvSpPr>
          <p:cNvPr id="9" name="Shape 7"/>
          <p:cNvSpPr/>
          <p:nvPr/>
        </p:nvSpPr>
        <p:spPr>
          <a:xfrm>
            <a:off x="548640" y="3108960"/>
            <a:ext cx="566928" cy="566928"/>
          </a:xfrm>
          <a:prstGeom prst="ellipse">
            <a:avLst/>
          </a:prstGeom>
          <a:solidFill>
            <a:srgbClr val="6C3CE9"/>
          </a:solidFill>
          <a:ln/>
        </p:spPr>
      </p:sp>
      <p:sp>
        <p:nvSpPr>
          <p:cNvPr id="10" name="Text 8"/>
          <p:cNvSpPr/>
          <p:nvPr/>
        </p:nvSpPr>
        <p:spPr>
          <a:xfrm>
            <a:off x="548640" y="3090672"/>
            <a:ext cx="566928" cy="566928"/>
          </a:xfrm>
          <a:prstGeom prst="rect">
            <a:avLst/>
          </a:prstGeom>
          <a:noFill/>
          <a:ln/>
        </p:spPr>
        <p:txBody>
          <a:bodyPr wrap="square" lIns="0" tIns="0" rIns="0" bIns="0" rtlCol="0" anchor="ctr"/>
          <a:lstStyle/>
          <a:p>
            <a:pPr marL="0" indent="0" algn="ctr">
              <a:buNone/>
            </a:pPr>
            <a:r>
              <a:rPr lang="en-US" sz="2400" dirty="0">
                <a:solidFill>
                  <a:srgbClr val="000000"/>
                </a:solidFill>
                <a:latin typeface="Segoe UI Emoji" pitchFamily="34" charset="0"/>
                <a:ea typeface="Segoe UI Emoji" pitchFamily="34" charset="-122"/>
                <a:cs typeface="Segoe UI Emoji" pitchFamily="34" charset="-120"/>
              </a:rPr>
              <a:t>📚</a:t>
            </a:r>
            <a:endParaRPr lang="en-US" sz="2400" dirty="0"/>
          </a:p>
        </p:txBody>
      </p:sp>
      <p:sp>
        <p:nvSpPr>
          <p:cNvPr id="11" name="Text 9"/>
          <p:cNvSpPr/>
          <p:nvPr/>
        </p:nvSpPr>
        <p:spPr>
          <a:xfrm>
            <a:off x="1280160" y="3090672"/>
            <a:ext cx="4480560" cy="365760"/>
          </a:xfrm>
          <a:prstGeom prst="rect">
            <a:avLst/>
          </a:prstGeom>
          <a:noFill/>
          <a:ln/>
        </p:spPr>
        <p:txBody>
          <a:bodyPr wrap="square" lIns="0" tIns="0" rIns="0" bIns="0" rtlCol="0" anchor="ctr"/>
          <a:lstStyle/>
          <a:p>
            <a:pPr marL="0" indent="0">
              <a:buNone/>
            </a:pPr>
            <a:r>
              <a:rPr lang="en-US" sz="1500" b="1" dirty="0">
                <a:solidFill>
                  <a:srgbClr val="1F1B3A"/>
                </a:solidFill>
                <a:latin typeface="Calibri" pitchFamily="34" charset="0"/>
                <a:ea typeface="Calibri" pitchFamily="34" charset="-122"/>
                <a:cs typeface="Calibri" pitchFamily="34" charset="-120"/>
              </a:rPr>
              <a:t>Information Overload</a:t>
            </a:r>
            <a:endParaRPr lang="en-US" sz="1500" dirty="0"/>
          </a:p>
        </p:txBody>
      </p:sp>
      <p:sp>
        <p:nvSpPr>
          <p:cNvPr id="12" name="Text 10"/>
          <p:cNvSpPr/>
          <p:nvPr/>
        </p:nvSpPr>
        <p:spPr>
          <a:xfrm>
            <a:off x="1280160" y="3456432"/>
            <a:ext cx="4480560" cy="868680"/>
          </a:xfrm>
          <a:prstGeom prst="rect">
            <a:avLst/>
          </a:prstGeom>
          <a:noFill/>
          <a:ln/>
        </p:spPr>
        <p:txBody>
          <a:bodyPr wrap="square" lIns="0" tIns="0" rIns="0" bIns="0" rtlCol="0" anchor="t"/>
          <a:lstStyle/>
          <a:p>
            <a:pPr marL="0" indent="0">
              <a:buNone/>
            </a:pPr>
            <a:r>
              <a:rPr lang="en-US" sz="1150" dirty="0">
                <a:solidFill>
                  <a:srgbClr val="6B6480"/>
                </a:solidFill>
                <a:latin typeface="Calibri" pitchFamily="34" charset="0"/>
                <a:ea typeface="Calibri" pitchFamily="34" charset="-122"/>
                <a:cs typeface="Calibri" pitchFamily="34" charset="-120"/>
              </a:rPr>
              <a:t>Generic homepages flood readers with unfiltered, irrelevant articles every day.</a:t>
            </a:r>
            <a:endParaRPr lang="en-US" sz="1150" dirty="0"/>
          </a:p>
        </p:txBody>
      </p:sp>
      <p:sp>
        <p:nvSpPr>
          <p:cNvPr id="13" name="Shape 11"/>
          <p:cNvSpPr/>
          <p:nvPr/>
        </p:nvSpPr>
        <p:spPr>
          <a:xfrm>
            <a:off x="548640" y="4526280"/>
            <a:ext cx="566928" cy="566928"/>
          </a:xfrm>
          <a:prstGeom prst="ellipse">
            <a:avLst/>
          </a:prstGeom>
          <a:solidFill>
            <a:srgbClr val="6C3CE9"/>
          </a:solidFill>
          <a:ln/>
        </p:spPr>
      </p:sp>
      <p:sp>
        <p:nvSpPr>
          <p:cNvPr id="14" name="Text 12"/>
          <p:cNvSpPr/>
          <p:nvPr/>
        </p:nvSpPr>
        <p:spPr>
          <a:xfrm>
            <a:off x="548640" y="4507992"/>
            <a:ext cx="566928" cy="566928"/>
          </a:xfrm>
          <a:prstGeom prst="rect">
            <a:avLst/>
          </a:prstGeom>
          <a:noFill/>
          <a:ln/>
        </p:spPr>
        <p:txBody>
          <a:bodyPr wrap="square" lIns="0" tIns="0" rIns="0" bIns="0" rtlCol="0" anchor="ctr"/>
          <a:lstStyle/>
          <a:p>
            <a:pPr marL="0" indent="0" algn="ctr">
              <a:buNone/>
            </a:pPr>
            <a:r>
              <a:rPr lang="en-US" sz="2400" dirty="0">
                <a:solidFill>
                  <a:srgbClr val="000000"/>
                </a:solidFill>
                <a:latin typeface="Segoe UI Emoji" pitchFamily="34" charset="0"/>
                <a:ea typeface="Segoe UI Emoji" pitchFamily="34" charset="-122"/>
                <a:cs typeface="Segoe UI Emoji" pitchFamily="34" charset="-120"/>
              </a:rPr>
              <a:t>⏳</a:t>
            </a:r>
            <a:endParaRPr lang="en-US" sz="2400" dirty="0"/>
          </a:p>
        </p:txBody>
      </p:sp>
      <p:sp>
        <p:nvSpPr>
          <p:cNvPr id="15" name="Text 13"/>
          <p:cNvSpPr/>
          <p:nvPr/>
        </p:nvSpPr>
        <p:spPr>
          <a:xfrm>
            <a:off x="1280160" y="4507992"/>
            <a:ext cx="4480560" cy="365760"/>
          </a:xfrm>
          <a:prstGeom prst="rect">
            <a:avLst/>
          </a:prstGeom>
          <a:noFill/>
          <a:ln/>
        </p:spPr>
        <p:txBody>
          <a:bodyPr wrap="square" lIns="0" tIns="0" rIns="0" bIns="0" rtlCol="0" anchor="ctr"/>
          <a:lstStyle/>
          <a:p>
            <a:pPr marL="0" indent="0">
              <a:buNone/>
            </a:pPr>
            <a:r>
              <a:rPr lang="en-US" sz="1500" b="1" dirty="0">
                <a:solidFill>
                  <a:srgbClr val="1F1B3A"/>
                </a:solidFill>
                <a:latin typeface="Calibri" pitchFamily="34" charset="0"/>
                <a:ea typeface="Calibri" pitchFamily="34" charset="-122"/>
                <a:cs typeface="Calibri" pitchFamily="34" charset="-120"/>
              </a:rPr>
              <a:t>Time-Consuming</a:t>
            </a:r>
            <a:endParaRPr lang="en-US" sz="1500" dirty="0"/>
          </a:p>
        </p:txBody>
      </p:sp>
      <p:sp>
        <p:nvSpPr>
          <p:cNvPr id="16" name="Text 14"/>
          <p:cNvSpPr/>
          <p:nvPr/>
        </p:nvSpPr>
        <p:spPr>
          <a:xfrm>
            <a:off x="1280160" y="4873752"/>
            <a:ext cx="4480560" cy="868680"/>
          </a:xfrm>
          <a:prstGeom prst="rect">
            <a:avLst/>
          </a:prstGeom>
          <a:noFill/>
          <a:ln/>
        </p:spPr>
        <p:txBody>
          <a:bodyPr wrap="square" lIns="0" tIns="0" rIns="0" bIns="0" rtlCol="0" anchor="t"/>
          <a:lstStyle/>
          <a:p>
            <a:pPr marL="0" indent="0">
              <a:buNone/>
            </a:pPr>
            <a:r>
              <a:rPr lang="en-US" sz="1150" dirty="0">
                <a:solidFill>
                  <a:srgbClr val="6B6480"/>
                </a:solidFill>
                <a:latin typeface="Calibri" pitchFamily="34" charset="0"/>
                <a:ea typeface="Calibri" pitchFamily="34" charset="-122"/>
                <a:cs typeface="Calibri" pitchFamily="34" charset="-120"/>
              </a:rPr>
              <a:t>Manually searching and filtering news across sources wastes valuable time daily.</a:t>
            </a:r>
            <a:endParaRPr lang="en-US" sz="1150" dirty="0"/>
          </a:p>
        </p:txBody>
      </p:sp>
      <p:sp>
        <p:nvSpPr>
          <p:cNvPr id="17" name="Shape 15"/>
          <p:cNvSpPr/>
          <p:nvPr/>
        </p:nvSpPr>
        <p:spPr>
          <a:xfrm>
            <a:off x="6309360" y="1691640"/>
            <a:ext cx="1920240" cy="822960"/>
          </a:xfrm>
          <a:prstGeom prst="roundRect">
            <a:avLst>
              <a:gd name="adj" fmla="val 11111"/>
            </a:avLst>
          </a:prstGeom>
          <a:solidFill>
            <a:srgbClr val="F6F4FC"/>
          </a:solidFill>
          <a:ln w="12700">
            <a:solidFill>
              <a:srgbClr val="DED6F5"/>
            </a:solidFill>
            <a:prstDash val="solid"/>
          </a:ln>
        </p:spPr>
      </p:sp>
      <p:sp>
        <p:nvSpPr>
          <p:cNvPr id="18" name="Text 16"/>
          <p:cNvSpPr/>
          <p:nvPr/>
        </p:nvSpPr>
        <p:spPr>
          <a:xfrm>
            <a:off x="6400800" y="1691640"/>
            <a:ext cx="731520" cy="822960"/>
          </a:xfrm>
          <a:prstGeom prst="rect">
            <a:avLst/>
          </a:prstGeom>
          <a:noFill/>
          <a:ln/>
        </p:spPr>
        <p:txBody>
          <a:bodyPr wrap="square" lIns="0" tIns="0" rIns="0" bIns="0" rtlCol="0" anchor="ctr"/>
          <a:lstStyle/>
          <a:p>
            <a:pPr marL="0" indent="0" algn="ctr">
              <a:buNone/>
            </a:pPr>
            <a:r>
              <a:rPr lang="en-US" sz="2400" dirty="0">
                <a:solidFill>
                  <a:srgbClr val="000000"/>
                </a:solidFill>
                <a:latin typeface="Segoe UI Emoji" pitchFamily="34" charset="0"/>
                <a:ea typeface="Segoe UI Emoji" pitchFamily="34" charset="-122"/>
                <a:cs typeface="Segoe UI Emoji" pitchFamily="34" charset="-120"/>
              </a:rPr>
              <a:t>📜</a:t>
            </a:r>
            <a:endParaRPr lang="en-US" sz="2400" dirty="0"/>
          </a:p>
        </p:txBody>
      </p:sp>
      <p:sp>
        <p:nvSpPr>
          <p:cNvPr id="19" name="Text 17"/>
          <p:cNvSpPr/>
          <p:nvPr/>
        </p:nvSpPr>
        <p:spPr>
          <a:xfrm>
            <a:off x="6995160" y="1691640"/>
            <a:ext cx="1188720" cy="822960"/>
          </a:xfrm>
          <a:prstGeom prst="rect">
            <a:avLst/>
          </a:prstGeom>
          <a:noFill/>
          <a:ln/>
        </p:spPr>
        <p:txBody>
          <a:bodyPr wrap="square" lIns="0" tIns="0" rIns="0" bIns="0" rtlCol="0" anchor="ctr"/>
          <a:lstStyle/>
          <a:p>
            <a:pPr marL="0" indent="0" algn="l">
              <a:buNone/>
            </a:pPr>
            <a:r>
              <a:rPr lang="en-US" sz="1300" b="1" dirty="0">
                <a:solidFill>
                  <a:srgbClr val="1F1B3A"/>
                </a:solidFill>
                <a:latin typeface="Calibri" pitchFamily="34" charset="0"/>
                <a:ea typeface="Calibri" pitchFamily="34" charset="-122"/>
                <a:cs typeface="Calibri" pitchFamily="34" charset="-120"/>
              </a:rPr>
              <a:t>UPSC</a:t>
            </a:r>
            <a:endParaRPr lang="en-US" sz="1300" dirty="0"/>
          </a:p>
        </p:txBody>
      </p:sp>
      <p:sp>
        <p:nvSpPr>
          <p:cNvPr id="20" name="Shape 18"/>
          <p:cNvSpPr/>
          <p:nvPr/>
        </p:nvSpPr>
        <p:spPr>
          <a:xfrm>
            <a:off x="8686800" y="1691640"/>
            <a:ext cx="1920240" cy="822960"/>
          </a:xfrm>
          <a:prstGeom prst="roundRect">
            <a:avLst>
              <a:gd name="adj" fmla="val 11111"/>
            </a:avLst>
          </a:prstGeom>
          <a:solidFill>
            <a:srgbClr val="F6F4FC"/>
          </a:solidFill>
          <a:ln w="12700">
            <a:solidFill>
              <a:srgbClr val="DED6F5"/>
            </a:solidFill>
            <a:prstDash val="solid"/>
          </a:ln>
        </p:spPr>
      </p:sp>
      <p:sp>
        <p:nvSpPr>
          <p:cNvPr id="21" name="Text 19"/>
          <p:cNvSpPr/>
          <p:nvPr/>
        </p:nvSpPr>
        <p:spPr>
          <a:xfrm>
            <a:off x="8778240" y="1691640"/>
            <a:ext cx="731520" cy="822960"/>
          </a:xfrm>
          <a:prstGeom prst="rect">
            <a:avLst/>
          </a:prstGeom>
          <a:noFill/>
          <a:ln/>
        </p:spPr>
        <p:txBody>
          <a:bodyPr wrap="square" lIns="0" tIns="0" rIns="0" bIns="0" rtlCol="0" anchor="ctr"/>
          <a:lstStyle/>
          <a:p>
            <a:pPr marL="0" indent="0" algn="ctr">
              <a:buNone/>
            </a:pPr>
            <a:r>
              <a:rPr lang="en-US" sz="2400" dirty="0">
                <a:solidFill>
                  <a:srgbClr val="000000"/>
                </a:solidFill>
                <a:latin typeface="Segoe UI Emoji" pitchFamily="34" charset="0"/>
                <a:ea typeface="Segoe UI Emoji" pitchFamily="34" charset="-122"/>
                <a:cs typeface="Segoe UI Emoji" pitchFamily="34" charset="-120"/>
              </a:rPr>
              <a:t>💻</a:t>
            </a:r>
            <a:endParaRPr lang="en-US" sz="2400" dirty="0"/>
          </a:p>
        </p:txBody>
      </p:sp>
      <p:sp>
        <p:nvSpPr>
          <p:cNvPr id="22" name="Text 20"/>
          <p:cNvSpPr/>
          <p:nvPr/>
        </p:nvSpPr>
        <p:spPr>
          <a:xfrm>
            <a:off x="9372600" y="1691640"/>
            <a:ext cx="1188720" cy="822960"/>
          </a:xfrm>
          <a:prstGeom prst="rect">
            <a:avLst/>
          </a:prstGeom>
          <a:noFill/>
          <a:ln/>
        </p:spPr>
        <p:txBody>
          <a:bodyPr wrap="square" lIns="0" tIns="0" rIns="0" bIns="0" rtlCol="0" anchor="ctr"/>
          <a:lstStyle/>
          <a:p>
            <a:pPr marL="0" indent="0" algn="l">
              <a:buNone/>
            </a:pPr>
            <a:r>
              <a:rPr lang="en-US" sz="1300" b="1" dirty="0">
                <a:solidFill>
                  <a:srgbClr val="1F1B3A"/>
                </a:solidFill>
                <a:latin typeface="Calibri" pitchFamily="34" charset="0"/>
                <a:ea typeface="Calibri" pitchFamily="34" charset="-122"/>
                <a:cs typeface="Calibri" pitchFamily="34" charset="-120"/>
              </a:rPr>
              <a:t>Tech</a:t>
            </a:r>
            <a:endParaRPr lang="en-US" sz="1300" dirty="0"/>
          </a:p>
        </p:txBody>
      </p:sp>
      <p:sp>
        <p:nvSpPr>
          <p:cNvPr id="23" name="Shape 21"/>
          <p:cNvSpPr/>
          <p:nvPr/>
        </p:nvSpPr>
        <p:spPr>
          <a:xfrm>
            <a:off x="6309360" y="2880360"/>
            <a:ext cx="1920240" cy="822960"/>
          </a:xfrm>
          <a:prstGeom prst="roundRect">
            <a:avLst>
              <a:gd name="adj" fmla="val 11111"/>
            </a:avLst>
          </a:prstGeom>
          <a:solidFill>
            <a:srgbClr val="F6F4FC"/>
          </a:solidFill>
          <a:ln w="12700">
            <a:solidFill>
              <a:srgbClr val="DED6F5"/>
            </a:solidFill>
            <a:prstDash val="solid"/>
          </a:ln>
        </p:spPr>
      </p:sp>
      <p:sp>
        <p:nvSpPr>
          <p:cNvPr id="24" name="Text 22"/>
          <p:cNvSpPr/>
          <p:nvPr/>
        </p:nvSpPr>
        <p:spPr>
          <a:xfrm>
            <a:off x="6400800" y="2880360"/>
            <a:ext cx="731520" cy="822960"/>
          </a:xfrm>
          <a:prstGeom prst="rect">
            <a:avLst/>
          </a:prstGeom>
          <a:noFill/>
          <a:ln/>
        </p:spPr>
        <p:txBody>
          <a:bodyPr wrap="square" lIns="0" tIns="0" rIns="0" bIns="0" rtlCol="0" anchor="ctr"/>
          <a:lstStyle/>
          <a:p>
            <a:pPr marL="0" indent="0" algn="ctr">
              <a:buNone/>
            </a:pPr>
            <a:r>
              <a:rPr lang="en-US" sz="2400" dirty="0">
                <a:solidFill>
                  <a:srgbClr val="000000"/>
                </a:solidFill>
                <a:latin typeface="Segoe UI Emoji" pitchFamily="34" charset="0"/>
                <a:ea typeface="Segoe UI Emoji" pitchFamily="34" charset="-122"/>
                <a:cs typeface="Segoe UI Emoji" pitchFamily="34" charset="-120"/>
              </a:rPr>
              <a:t>🏏</a:t>
            </a:r>
            <a:endParaRPr lang="en-US" sz="2400" dirty="0"/>
          </a:p>
        </p:txBody>
      </p:sp>
      <p:sp>
        <p:nvSpPr>
          <p:cNvPr id="25" name="Text 23"/>
          <p:cNvSpPr/>
          <p:nvPr/>
        </p:nvSpPr>
        <p:spPr>
          <a:xfrm>
            <a:off x="6995160" y="2880360"/>
            <a:ext cx="1188720" cy="822960"/>
          </a:xfrm>
          <a:prstGeom prst="rect">
            <a:avLst/>
          </a:prstGeom>
          <a:noFill/>
          <a:ln/>
        </p:spPr>
        <p:txBody>
          <a:bodyPr wrap="square" lIns="0" tIns="0" rIns="0" bIns="0" rtlCol="0" anchor="ctr"/>
          <a:lstStyle/>
          <a:p>
            <a:pPr marL="0" indent="0" algn="l">
              <a:buNone/>
            </a:pPr>
            <a:r>
              <a:rPr lang="en-US" sz="1300" b="1" dirty="0">
                <a:solidFill>
                  <a:srgbClr val="1F1B3A"/>
                </a:solidFill>
                <a:latin typeface="Calibri" pitchFamily="34" charset="0"/>
                <a:ea typeface="Calibri" pitchFamily="34" charset="-122"/>
                <a:cs typeface="Calibri" pitchFamily="34" charset="-120"/>
              </a:rPr>
              <a:t>Sports</a:t>
            </a:r>
            <a:endParaRPr lang="en-US" sz="1300" dirty="0"/>
          </a:p>
        </p:txBody>
      </p:sp>
      <p:sp>
        <p:nvSpPr>
          <p:cNvPr id="26" name="Shape 24"/>
          <p:cNvSpPr/>
          <p:nvPr/>
        </p:nvSpPr>
        <p:spPr>
          <a:xfrm>
            <a:off x="8686800" y="2880360"/>
            <a:ext cx="1920240" cy="822960"/>
          </a:xfrm>
          <a:prstGeom prst="roundRect">
            <a:avLst>
              <a:gd name="adj" fmla="val 11111"/>
            </a:avLst>
          </a:prstGeom>
          <a:solidFill>
            <a:srgbClr val="F6F4FC"/>
          </a:solidFill>
          <a:ln w="12700">
            <a:solidFill>
              <a:srgbClr val="DED6F5"/>
            </a:solidFill>
            <a:prstDash val="solid"/>
          </a:ln>
        </p:spPr>
      </p:sp>
      <p:sp>
        <p:nvSpPr>
          <p:cNvPr id="27" name="Text 25"/>
          <p:cNvSpPr/>
          <p:nvPr/>
        </p:nvSpPr>
        <p:spPr>
          <a:xfrm>
            <a:off x="8778240" y="2880360"/>
            <a:ext cx="731520" cy="822960"/>
          </a:xfrm>
          <a:prstGeom prst="rect">
            <a:avLst/>
          </a:prstGeom>
          <a:noFill/>
          <a:ln/>
        </p:spPr>
        <p:txBody>
          <a:bodyPr wrap="square" lIns="0" tIns="0" rIns="0" bIns="0" rtlCol="0" anchor="ctr"/>
          <a:lstStyle/>
          <a:p>
            <a:pPr marL="0" indent="0" algn="ctr">
              <a:buNone/>
            </a:pPr>
            <a:r>
              <a:rPr lang="en-US" sz="2400" dirty="0">
                <a:solidFill>
                  <a:srgbClr val="000000"/>
                </a:solidFill>
                <a:latin typeface="Segoe UI Emoji" pitchFamily="34" charset="0"/>
                <a:ea typeface="Segoe UI Emoji" pitchFamily="34" charset="-122"/>
                <a:cs typeface="Segoe UI Emoji" pitchFamily="34" charset="-120"/>
              </a:rPr>
              <a:t>💰</a:t>
            </a:r>
            <a:endParaRPr lang="en-US" sz="2400" dirty="0"/>
          </a:p>
        </p:txBody>
      </p:sp>
      <p:sp>
        <p:nvSpPr>
          <p:cNvPr id="28" name="Text 26"/>
          <p:cNvSpPr/>
          <p:nvPr/>
        </p:nvSpPr>
        <p:spPr>
          <a:xfrm>
            <a:off x="9372600" y="2880360"/>
            <a:ext cx="1188720" cy="822960"/>
          </a:xfrm>
          <a:prstGeom prst="rect">
            <a:avLst/>
          </a:prstGeom>
          <a:noFill/>
          <a:ln/>
        </p:spPr>
        <p:txBody>
          <a:bodyPr wrap="square" lIns="0" tIns="0" rIns="0" bIns="0" rtlCol="0" anchor="ctr"/>
          <a:lstStyle/>
          <a:p>
            <a:pPr marL="0" indent="0" algn="l">
              <a:buNone/>
            </a:pPr>
            <a:r>
              <a:rPr lang="en-US" sz="1300" b="1" dirty="0">
                <a:solidFill>
                  <a:srgbClr val="1F1B3A"/>
                </a:solidFill>
                <a:latin typeface="Calibri" pitchFamily="34" charset="0"/>
                <a:ea typeface="Calibri" pitchFamily="34" charset="-122"/>
                <a:cs typeface="Calibri" pitchFamily="34" charset="-120"/>
              </a:rPr>
              <a:t>Finance</a:t>
            </a:r>
            <a:endParaRPr lang="en-US" sz="1300" dirty="0"/>
          </a:p>
        </p:txBody>
      </p:sp>
      <p:sp>
        <p:nvSpPr>
          <p:cNvPr id="29" name="Text 27"/>
          <p:cNvSpPr/>
          <p:nvPr/>
        </p:nvSpPr>
        <p:spPr>
          <a:xfrm>
            <a:off x="6309360" y="4023360"/>
            <a:ext cx="5120640" cy="365760"/>
          </a:xfrm>
          <a:prstGeom prst="rect">
            <a:avLst/>
          </a:prstGeom>
          <a:noFill/>
          <a:ln/>
        </p:spPr>
        <p:txBody>
          <a:bodyPr wrap="square" lIns="0" tIns="0" rIns="0" bIns="0" rtlCol="0" anchor="ctr"/>
          <a:lstStyle/>
          <a:p>
            <a:pPr marL="0" indent="0" algn="ctr">
              <a:buNone/>
            </a:pPr>
            <a:r>
              <a:rPr lang="en-US" sz="1600" dirty="0">
                <a:solidFill>
                  <a:srgbClr val="6C3CE9"/>
                </a:solidFill>
              </a:rPr>
              <a:t>▼  ▼  ▼  ▼</a:t>
            </a:r>
            <a:endParaRPr lang="en-US" sz="1600" dirty="0"/>
          </a:p>
        </p:txBody>
      </p:sp>
      <p:sp>
        <p:nvSpPr>
          <p:cNvPr id="30" name="Shape 28"/>
          <p:cNvSpPr/>
          <p:nvPr/>
        </p:nvSpPr>
        <p:spPr>
          <a:xfrm>
            <a:off x="7223760" y="4480560"/>
            <a:ext cx="3291840" cy="1051560"/>
          </a:xfrm>
          <a:prstGeom prst="roundRect">
            <a:avLst>
              <a:gd name="adj" fmla="val 50435"/>
            </a:avLst>
          </a:prstGeom>
          <a:solidFill>
            <a:srgbClr val="6C3CE9"/>
          </a:solidFill>
          <a:ln/>
        </p:spPr>
      </p:sp>
      <p:sp>
        <p:nvSpPr>
          <p:cNvPr id="31" name="Text 29"/>
          <p:cNvSpPr/>
          <p:nvPr/>
        </p:nvSpPr>
        <p:spPr>
          <a:xfrm>
            <a:off x="7223760" y="4480560"/>
            <a:ext cx="3291840" cy="594360"/>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  NewsNest</a:t>
            </a:r>
            <a:endParaRPr lang="en-US" sz="1700" dirty="0"/>
          </a:p>
        </p:txBody>
      </p:sp>
      <p:sp>
        <p:nvSpPr>
          <p:cNvPr id="32" name="Text 30"/>
          <p:cNvSpPr/>
          <p:nvPr/>
        </p:nvSpPr>
        <p:spPr>
          <a:xfrm>
            <a:off x="7223760" y="5047488"/>
            <a:ext cx="3291840" cy="365760"/>
          </a:xfrm>
          <a:prstGeom prst="rect">
            <a:avLst/>
          </a:prstGeom>
          <a:noFill/>
          <a:ln/>
        </p:spPr>
        <p:txBody>
          <a:bodyPr wrap="square" lIns="0" tIns="0" rIns="0" bIns="0" rtlCol="0" anchor="ctr"/>
          <a:lstStyle/>
          <a:p>
            <a:pPr marL="0" indent="0" algn="ctr">
              <a:buNone/>
            </a:pPr>
            <a:r>
              <a:rPr lang="en-US" sz="1050" dirty="0">
                <a:solidFill>
                  <a:srgbClr val="D9D2F0"/>
                </a:solidFill>
                <a:latin typeface="Calibri" pitchFamily="34" charset="0"/>
                <a:ea typeface="Calibri" pitchFamily="34" charset="-122"/>
                <a:cs typeface="Calibri" pitchFamily="34" charset="-120"/>
              </a:rPr>
              <a:t>One Personalized Feed</a:t>
            </a:r>
            <a:endParaRPr lang="en-US" sz="1050" dirty="0"/>
          </a:p>
        </p:txBody>
      </p:sp>
      <p:sp>
        <p:nvSpPr>
          <p:cNvPr id="33" name="Text 31"/>
          <p:cNvSpPr/>
          <p:nvPr/>
        </p:nvSpPr>
        <p:spPr>
          <a:xfrm>
            <a:off x="548640" y="6528816"/>
            <a:ext cx="2743200" cy="274320"/>
          </a:xfrm>
          <a:prstGeom prst="rect">
            <a:avLst/>
          </a:prstGeom>
          <a:noFill/>
          <a:ln/>
        </p:spPr>
        <p:txBody>
          <a:bodyPr wrap="square" lIns="0" tIns="0" rIns="0" bIns="0" rtlCol="0" anchor="ctr"/>
          <a:lstStyle/>
          <a:p>
            <a:pPr marL="0" indent="0" algn="l">
              <a:buNone/>
            </a:pPr>
            <a:r>
              <a:rPr lang="en-US" sz="1000" dirty="0">
                <a:solidFill>
                  <a:srgbClr val="6B6480"/>
                </a:solidFill>
                <a:latin typeface="Calibri" pitchFamily="34" charset="0"/>
                <a:ea typeface="Calibri" pitchFamily="34" charset="-122"/>
                <a:cs typeface="Calibri" pitchFamily="34" charset="-120"/>
              </a:rPr>
              <a:t>NewsNest</a:t>
            </a:r>
            <a:endParaRPr lang="en-US" sz="1000" dirty="0"/>
          </a:p>
        </p:txBody>
      </p:sp>
      <p:sp>
        <p:nvSpPr>
          <p:cNvPr id="34" name="Text 32"/>
          <p:cNvSpPr/>
          <p:nvPr/>
        </p:nvSpPr>
        <p:spPr>
          <a:xfrm>
            <a:off x="11183112" y="6528816"/>
            <a:ext cx="457200" cy="274320"/>
          </a:xfrm>
          <a:prstGeom prst="rect">
            <a:avLst/>
          </a:prstGeom>
          <a:noFill/>
          <a:ln/>
        </p:spPr>
        <p:txBody>
          <a:bodyPr wrap="square" lIns="0" tIns="0" rIns="0" bIns="0" rtlCol="0" anchor="ctr"/>
          <a:lstStyle/>
          <a:p>
            <a:pPr marL="0" indent="0" algn="r">
              <a:buNone/>
            </a:pPr>
            <a:r>
              <a:rPr lang="en-US" sz="1000" dirty="0">
                <a:solidFill>
                  <a:srgbClr val="6B6480"/>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91672" cy="685800"/>
          </a:xfrm>
          <a:prstGeom prst="rect">
            <a:avLst/>
          </a:prstGeom>
          <a:noFill/>
          <a:ln/>
        </p:spPr>
        <p:txBody>
          <a:bodyPr wrap="square" lIns="0" tIns="0" rIns="0" bIns="0" rtlCol="0" anchor="ctr"/>
          <a:lstStyle/>
          <a:p>
            <a:pPr marL="0" indent="0" algn="l">
              <a:buNone/>
            </a:pPr>
            <a:r>
              <a:rPr lang="en-US" sz="3200" b="1" dirty="0">
                <a:solidFill>
                  <a:srgbClr val="2A1B5D"/>
                </a:solidFill>
                <a:latin typeface="Cambria" pitchFamily="34" charset="0"/>
                <a:ea typeface="Cambria" pitchFamily="34" charset="-122"/>
                <a:cs typeface="Cambria" pitchFamily="34" charset="-120"/>
              </a:rPr>
              <a:t>Introduction</a:t>
            </a:r>
            <a:endParaRPr lang="en-US" sz="3200" dirty="0"/>
          </a:p>
        </p:txBody>
      </p:sp>
      <p:sp>
        <p:nvSpPr>
          <p:cNvPr id="3" name="Shape 1"/>
          <p:cNvSpPr/>
          <p:nvPr/>
        </p:nvSpPr>
        <p:spPr>
          <a:xfrm>
            <a:off x="548640" y="1042416"/>
            <a:ext cx="502920" cy="41148"/>
          </a:xfrm>
          <a:prstGeom prst="rect">
            <a:avLst/>
          </a:prstGeom>
          <a:solidFill>
            <a:srgbClr val="EC4899"/>
          </a:solidFill>
          <a:ln/>
        </p:spPr>
      </p:sp>
      <p:sp>
        <p:nvSpPr>
          <p:cNvPr id="4" name="Text 2"/>
          <p:cNvSpPr/>
          <p:nvPr/>
        </p:nvSpPr>
        <p:spPr>
          <a:xfrm>
            <a:off x="548640" y="1097280"/>
            <a:ext cx="11091672" cy="365760"/>
          </a:xfrm>
          <a:prstGeom prst="rect">
            <a:avLst/>
          </a:prstGeom>
          <a:noFill/>
          <a:ln/>
        </p:spPr>
        <p:txBody>
          <a:bodyPr wrap="square" lIns="0" tIns="0" rIns="0" bIns="0" rtlCol="0" anchor="ctr"/>
          <a:lstStyle/>
          <a:p>
            <a:pPr marL="0" indent="0" algn="l">
              <a:buNone/>
            </a:pPr>
            <a:r>
              <a:rPr lang="en-US" sz="1400" i="1" dirty="0">
                <a:solidFill>
                  <a:srgbClr val="6B6480"/>
                </a:solidFill>
                <a:latin typeface="Calibri" pitchFamily="34" charset="0"/>
                <a:ea typeface="Calibri" pitchFamily="34" charset="-122"/>
                <a:cs typeface="Calibri" pitchFamily="34" charset="-120"/>
              </a:rPr>
              <a:t>A quick look at what NewsNest is and who it's built for</a:t>
            </a:r>
            <a:endParaRPr lang="en-US" sz="1400" dirty="0"/>
          </a:p>
        </p:txBody>
      </p:sp>
      <p:sp>
        <p:nvSpPr>
          <p:cNvPr id="5" name="Shape 3"/>
          <p:cNvSpPr/>
          <p:nvPr/>
        </p:nvSpPr>
        <p:spPr>
          <a:xfrm>
            <a:off x="548640" y="1554480"/>
            <a:ext cx="5385816" cy="1920240"/>
          </a:xfrm>
          <a:prstGeom prst="roundRect">
            <a:avLst>
              <a:gd name="adj" fmla="val 4762"/>
            </a:avLst>
          </a:prstGeom>
          <a:solidFill>
            <a:srgbClr val="F6F4FC"/>
          </a:solidFill>
          <a:ln/>
          <a:effectLst>
            <a:outerShdw blurRad="76200" dist="25400" dir="5400000" algn="bl" rotWithShape="0">
              <a:srgbClr val="3A2E6E">
                <a:alpha val="12000"/>
              </a:srgbClr>
            </a:outerShdw>
          </a:effectLst>
        </p:spPr>
      </p:sp>
      <p:sp>
        <p:nvSpPr>
          <p:cNvPr id="6" name="Shape 4"/>
          <p:cNvSpPr/>
          <p:nvPr/>
        </p:nvSpPr>
        <p:spPr>
          <a:xfrm>
            <a:off x="749808" y="1755648"/>
            <a:ext cx="502920" cy="502920"/>
          </a:xfrm>
          <a:prstGeom prst="ellipse">
            <a:avLst/>
          </a:prstGeom>
          <a:solidFill>
            <a:srgbClr val="6C3CE9"/>
          </a:solidFill>
          <a:ln/>
        </p:spPr>
      </p:sp>
      <p:sp>
        <p:nvSpPr>
          <p:cNvPr id="7" name="Text 5"/>
          <p:cNvSpPr/>
          <p:nvPr/>
        </p:nvSpPr>
        <p:spPr>
          <a:xfrm>
            <a:off x="749808" y="1737360"/>
            <a:ext cx="502920" cy="502920"/>
          </a:xfrm>
          <a:prstGeom prst="rect">
            <a:avLst/>
          </a:prstGeom>
          <a:noFill/>
          <a:ln/>
        </p:spPr>
        <p:txBody>
          <a:bodyPr wrap="square" lIns="0" tIns="0" rIns="0" bIns="0" rtlCol="0" anchor="ctr"/>
          <a:lstStyle/>
          <a:p>
            <a:pPr marL="0" indent="0" algn="ctr">
              <a:buNone/>
            </a:pPr>
            <a:r>
              <a:rPr lang="en-US" sz="1400" dirty="0">
                <a:solidFill>
                  <a:srgbClr val="000000"/>
                </a:solidFill>
                <a:latin typeface="Segoe UI Emoji" pitchFamily="34" charset="0"/>
                <a:ea typeface="Segoe UI Emoji" pitchFamily="34" charset="-122"/>
                <a:cs typeface="Segoe UI Emoji" pitchFamily="34" charset="-120"/>
              </a:rPr>
              <a:t>📰</a:t>
            </a:r>
            <a:endParaRPr lang="en-US" sz="1400" dirty="0"/>
          </a:p>
        </p:txBody>
      </p:sp>
      <p:sp>
        <p:nvSpPr>
          <p:cNvPr id="8" name="Text 6"/>
          <p:cNvSpPr/>
          <p:nvPr/>
        </p:nvSpPr>
        <p:spPr>
          <a:xfrm>
            <a:off x="1417320" y="1700784"/>
            <a:ext cx="4334256" cy="365760"/>
          </a:xfrm>
          <a:prstGeom prst="rect">
            <a:avLst/>
          </a:prstGeom>
          <a:noFill/>
          <a:ln/>
        </p:spPr>
        <p:txBody>
          <a:bodyPr wrap="square" lIns="0" tIns="0" rIns="0" bIns="0" rtlCol="0" anchor="ctr"/>
          <a:lstStyle/>
          <a:p>
            <a:pPr marL="0" indent="0">
              <a:buNone/>
            </a:pPr>
            <a:r>
              <a:rPr lang="en-US" sz="1500" b="1" dirty="0">
                <a:solidFill>
                  <a:srgbClr val="1F1B3A"/>
                </a:solidFill>
                <a:latin typeface="Calibri" pitchFamily="34" charset="0"/>
                <a:ea typeface="Calibri" pitchFamily="34" charset="-122"/>
                <a:cs typeface="Calibri" pitchFamily="34" charset="-120"/>
              </a:rPr>
              <a:t>What is NewsNest?</a:t>
            </a:r>
            <a:endParaRPr lang="en-US" sz="1500" dirty="0"/>
          </a:p>
        </p:txBody>
      </p:sp>
      <p:sp>
        <p:nvSpPr>
          <p:cNvPr id="9" name="Text 7"/>
          <p:cNvSpPr/>
          <p:nvPr/>
        </p:nvSpPr>
        <p:spPr>
          <a:xfrm>
            <a:off x="749808" y="2240280"/>
            <a:ext cx="4983480" cy="1097280"/>
          </a:xfrm>
          <a:prstGeom prst="rect">
            <a:avLst/>
          </a:prstGeom>
          <a:noFill/>
          <a:ln/>
        </p:spPr>
        <p:txBody>
          <a:bodyPr wrap="square" lIns="0" tIns="0" rIns="0" bIns="0" rtlCol="0" anchor="t"/>
          <a:lstStyle/>
          <a:p>
            <a:pPr marL="0" indent="0">
              <a:buNone/>
            </a:pPr>
            <a:r>
              <a:rPr lang="en-US" sz="1150" dirty="0">
                <a:solidFill>
                  <a:srgbClr val="6B6480"/>
                </a:solidFill>
                <a:latin typeface="Calibri" pitchFamily="34" charset="0"/>
                <a:ea typeface="Calibri" pitchFamily="34" charset="-122"/>
                <a:cs typeface="Calibri" pitchFamily="34" charset="-120"/>
              </a:rPr>
              <a:t>A personalized, interest-based news aggregator that pulls articles from a single News API and organizes them by category.</a:t>
            </a:r>
            <a:endParaRPr lang="en-US" sz="1150" dirty="0"/>
          </a:p>
        </p:txBody>
      </p:sp>
      <p:sp>
        <p:nvSpPr>
          <p:cNvPr id="10" name="Shape 8"/>
          <p:cNvSpPr/>
          <p:nvPr/>
        </p:nvSpPr>
        <p:spPr>
          <a:xfrm>
            <a:off x="6254496" y="1554480"/>
            <a:ext cx="5385816" cy="1920240"/>
          </a:xfrm>
          <a:prstGeom prst="roundRect">
            <a:avLst>
              <a:gd name="adj" fmla="val 4762"/>
            </a:avLst>
          </a:prstGeom>
          <a:solidFill>
            <a:srgbClr val="F6F4FC"/>
          </a:solidFill>
          <a:ln/>
          <a:effectLst>
            <a:outerShdw blurRad="76200" dist="25400" dir="5400000" algn="bl" rotWithShape="0">
              <a:srgbClr val="3A2E6E">
                <a:alpha val="12000"/>
              </a:srgbClr>
            </a:outerShdw>
          </a:effectLst>
        </p:spPr>
      </p:sp>
      <p:sp>
        <p:nvSpPr>
          <p:cNvPr id="11" name="Shape 9"/>
          <p:cNvSpPr/>
          <p:nvPr/>
        </p:nvSpPr>
        <p:spPr>
          <a:xfrm>
            <a:off x="6455664" y="1755648"/>
            <a:ext cx="502920" cy="502920"/>
          </a:xfrm>
          <a:prstGeom prst="ellipse">
            <a:avLst/>
          </a:prstGeom>
          <a:solidFill>
            <a:srgbClr val="6C3CE9"/>
          </a:solidFill>
          <a:ln/>
        </p:spPr>
      </p:sp>
      <p:sp>
        <p:nvSpPr>
          <p:cNvPr id="12" name="Text 10"/>
          <p:cNvSpPr/>
          <p:nvPr/>
        </p:nvSpPr>
        <p:spPr>
          <a:xfrm>
            <a:off x="6455664" y="1737360"/>
            <a:ext cx="502920" cy="502920"/>
          </a:xfrm>
          <a:prstGeom prst="rect">
            <a:avLst/>
          </a:prstGeom>
          <a:noFill/>
          <a:ln/>
        </p:spPr>
        <p:txBody>
          <a:bodyPr wrap="square" lIns="0" tIns="0" rIns="0" bIns="0" rtlCol="0" anchor="ctr"/>
          <a:lstStyle/>
          <a:p>
            <a:pPr marL="0" indent="0" algn="ctr">
              <a:buNone/>
            </a:pPr>
            <a:r>
              <a:rPr lang="en-US" sz="1400" dirty="0">
                <a:solidFill>
                  <a:srgbClr val="000000"/>
                </a:solidFill>
                <a:latin typeface="Segoe UI Emoji" pitchFamily="34" charset="0"/>
                <a:ea typeface="Segoe UI Emoji" pitchFamily="34" charset="-122"/>
                <a:cs typeface="Segoe UI Emoji" pitchFamily="34" charset="-120"/>
              </a:rPr>
              <a:t>💡</a:t>
            </a:r>
            <a:endParaRPr lang="en-US" sz="1400" dirty="0"/>
          </a:p>
        </p:txBody>
      </p:sp>
      <p:sp>
        <p:nvSpPr>
          <p:cNvPr id="13" name="Text 11"/>
          <p:cNvSpPr/>
          <p:nvPr/>
        </p:nvSpPr>
        <p:spPr>
          <a:xfrm>
            <a:off x="7123176" y="1700784"/>
            <a:ext cx="4334256" cy="365760"/>
          </a:xfrm>
          <a:prstGeom prst="rect">
            <a:avLst/>
          </a:prstGeom>
          <a:noFill/>
          <a:ln/>
        </p:spPr>
        <p:txBody>
          <a:bodyPr wrap="square" lIns="0" tIns="0" rIns="0" bIns="0" rtlCol="0" anchor="ctr"/>
          <a:lstStyle/>
          <a:p>
            <a:pPr marL="0" indent="0">
              <a:buNone/>
            </a:pPr>
            <a:r>
              <a:rPr lang="en-US" sz="1500" b="1" dirty="0">
                <a:solidFill>
                  <a:srgbClr val="1F1B3A"/>
                </a:solidFill>
                <a:latin typeface="Calibri" pitchFamily="34" charset="0"/>
                <a:ea typeface="Calibri" pitchFamily="34" charset="-122"/>
                <a:cs typeface="Calibri" pitchFamily="34" charset="-120"/>
              </a:rPr>
              <a:t>Why is it Useful?</a:t>
            </a:r>
            <a:endParaRPr lang="en-US" sz="1500" dirty="0"/>
          </a:p>
        </p:txBody>
      </p:sp>
      <p:sp>
        <p:nvSpPr>
          <p:cNvPr id="14" name="Text 12"/>
          <p:cNvSpPr/>
          <p:nvPr/>
        </p:nvSpPr>
        <p:spPr>
          <a:xfrm>
            <a:off x="6455664" y="2240280"/>
            <a:ext cx="4983480" cy="1097280"/>
          </a:xfrm>
          <a:prstGeom prst="rect">
            <a:avLst/>
          </a:prstGeom>
          <a:noFill/>
          <a:ln/>
        </p:spPr>
        <p:txBody>
          <a:bodyPr wrap="square" lIns="0" tIns="0" rIns="0" bIns="0" rtlCol="0" anchor="t"/>
          <a:lstStyle/>
          <a:p>
            <a:pPr marL="0" indent="0">
              <a:buNone/>
            </a:pPr>
            <a:r>
              <a:rPr lang="en-US" sz="1150" dirty="0">
                <a:solidFill>
                  <a:srgbClr val="6B6480"/>
                </a:solidFill>
                <a:latin typeface="Calibri" pitchFamily="34" charset="0"/>
                <a:ea typeface="Calibri" pitchFamily="34" charset="-122"/>
                <a:cs typeface="Calibri" pitchFamily="34" charset="-120"/>
              </a:rPr>
              <a:t>It removes the need to browse multiple sites — users get a single homepage tailored to exactly what they care about.</a:t>
            </a:r>
            <a:endParaRPr lang="en-US" sz="1150" dirty="0"/>
          </a:p>
        </p:txBody>
      </p:sp>
      <p:sp>
        <p:nvSpPr>
          <p:cNvPr id="15" name="Shape 13"/>
          <p:cNvSpPr/>
          <p:nvPr/>
        </p:nvSpPr>
        <p:spPr>
          <a:xfrm>
            <a:off x="548640" y="3730752"/>
            <a:ext cx="5385816" cy="1920240"/>
          </a:xfrm>
          <a:prstGeom prst="roundRect">
            <a:avLst>
              <a:gd name="adj" fmla="val 4762"/>
            </a:avLst>
          </a:prstGeom>
          <a:solidFill>
            <a:srgbClr val="F6F4FC"/>
          </a:solidFill>
          <a:ln/>
          <a:effectLst>
            <a:outerShdw blurRad="76200" dist="25400" dir="5400000" algn="bl" rotWithShape="0">
              <a:srgbClr val="3A2E6E">
                <a:alpha val="12000"/>
              </a:srgbClr>
            </a:outerShdw>
          </a:effectLst>
        </p:spPr>
      </p:sp>
      <p:sp>
        <p:nvSpPr>
          <p:cNvPr id="16" name="Shape 14"/>
          <p:cNvSpPr/>
          <p:nvPr/>
        </p:nvSpPr>
        <p:spPr>
          <a:xfrm>
            <a:off x="749808" y="3931920"/>
            <a:ext cx="502920" cy="502920"/>
          </a:xfrm>
          <a:prstGeom prst="ellipse">
            <a:avLst/>
          </a:prstGeom>
          <a:solidFill>
            <a:srgbClr val="6C3CE9"/>
          </a:solidFill>
          <a:ln/>
        </p:spPr>
      </p:sp>
      <p:sp>
        <p:nvSpPr>
          <p:cNvPr id="17" name="Text 15"/>
          <p:cNvSpPr/>
          <p:nvPr/>
        </p:nvSpPr>
        <p:spPr>
          <a:xfrm>
            <a:off x="749808" y="3913632"/>
            <a:ext cx="502920" cy="502920"/>
          </a:xfrm>
          <a:prstGeom prst="rect">
            <a:avLst/>
          </a:prstGeom>
          <a:noFill/>
          <a:ln/>
        </p:spPr>
        <p:txBody>
          <a:bodyPr wrap="square" lIns="0" tIns="0" rIns="0" bIns="0" rtlCol="0" anchor="ctr"/>
          <a:lstStyle/>
          <a:p>
            <a:pPr marL="0" indent="0" algn="ctr">
              <a:buNone/>
            </a:pPr>
            <a:r>
              <a:rPr lang="en-US" sz="1400" dirty="0">
                <a:solidFill>
                  <a:srgbClr val="000000"/>
                </a:solidFill>
                <a:latin typeface="Segoe UI Emoji" pitchFamily="34" charset="0"/>
                <a:ea typeface="Segoe UI Emoji" pitchFamily="34" charset="-122"/>
                <a:cs typeface="Segoe UI Emoji" pitchFamily="34" charset="-120"/>
              </a:rPr>
              <a:t>👥</a:t>
            </a:r>
            <a:endParaRPr lang="en-US" sz="1400" dirty="0"/>
          </a:p>
        </p:txBody>
      </p:sp>
      <p:sp>
        <p:nvSpPr>
          <p:cNvPr id="18" name="Text 16"/>
          <p:cNvSpPr/>
          <p:nvPr/>
        </p:nvSpPr>
        <p:spPr>
          <a:xfrm>
            <a:off x="1417320" y="3877056"/>
            <a:ext cx="4334256" cy="365760"/>
          </a:xfrm>
          <a:prstGeom prst="rect">
            <a:avLst/>
          </a:prstGeom>
          <a:noFill/>
          <a:ln/>
        </p:spPr>
        <p:txBody>
          <a:bodyPr wrap="square" lIns="0" tIns="0" rIns="0" bIns="0" rtlCol="0" anchor="ctr"/>
          <a:lstStyle/>
          <a:p>
            <a:pPr marL="0" indent="0">
              <a:buNone/>
            </a:pPr>
            <a:r>
              <a:rPr lang="en-US" sz="1500" b="1" dirty="0">
                <a:solidFill>
                  <a:srgbClr val="1F1B3A"/>
                </a:solidFill>
                <a:latin typeface="Calibri" pitchFamily="34" charset="0"/>
                <a:ea typeface="Calibri" pitchFamily="34" charset="-122"/>
                <a:cs typeface="Calibri" pitchFamily="34" charset="-120"/>
              </a:rPr>
              <a:t>Who Can Use It?</a:t>
            </a:r>
            <a:endParaRPr lang="en-US" sz="1500" dirty="0"/>
          </a:p>
        </p:txBody>
      </p:sp>
      <p:sp>
        <p:nvSpPr>
          <p:cNvPr id="19" name="Text 17"/>
          <p:cNvSpPr/>
          <p:nvPr/>
        </p:nvSpPr>
        <p:spPr>
          <a:xfrm>
            <a:off x="749808" y="4416552"/>
            <a:ext cx="4983480" cy="1097280"/>
          </a:xfrm>
          <a:prstGeom prst="rect">
            <a:avLst/>
          </a:prstGeom>
          <a:noFill/>
          <a:ln/>
        </p:spPr>
        <p:txBody>
          <a:bodyPr wrap="square" lIns="0" tIns="0" rIns="0" bIns="0" rtlCol="0" anchor="t"/>
          <a:lstStyle/>
          <a:p>
            <a:pPr marL="0" indent="0">
              <a:buNone/>
            </a:pPr>
            <a:r>
              <a:rPr lang="en-US" sz="1150" dirty="0">
                <a:solidFill>
                  <a:srgbClr val="6B6480"/>
                </a:solidFill>
                <a:latin typeface="Calibri" pitchFamily="34" charset="0"/>
                <a:ea typeface="Calibri" pitchFamily="34" charset="-122"/>
                <a:cs typeface="Calibri" pitchFamily="34" charset="-120"/>
              </a:rPr>
              <a:t>Anyone — students preparing for UPSC, tech enthusiasts, investors, sports fans, or casual daily readers.</a:t>
            </a:r>
            <a:endParaRPr lang="en-US" sz="1150" dirty="0"/>
          </a:p>
        </p:txBody>
      </p:sp>
      <p:sp>
        <p:nvSpPr>
          <p:cNvPr id="20" name="Shape 18"/>
          <p:cNvSpPr/>
          <p:nvPr/>
        </p:nvSpPr>
        <p:spPr>
          <a:xfrm>
            <a:off x="6254496" y="3730752"/>
            <a:ext cx="5385816" cy="1920240"/>
          </a:xfrm>
          <a:prstGeom prst="roundRect">
            <a:avLst>
              <a:gd name="adj" fmla="val 4762"/>
            </a:avLst>
          </a:prstGeom>
          <a:solidFill>
            <a:srgbClr val="F6F4FC"/>
          </a:solidFill>
          <a:ln/>
          <a:effectLst>
            <a:outerShdw blurRad="76200" dist="25400" dir="5400000" algn="bl" rotWithShape="0">
              <a:srgbClr val="3A2E6E">
                <a:alpha val="12000"/>
              </a:srgbClr>
            </a:outerShdw>
          </a:effectLst>
        </p:spPr>
      </p:sp>
      <p:sp>
        <p:nvSpPr>
          <p:cNvPr id="21" name="Shape 19"/>
          <p:cNvSpPr/>
          <p:nvPr/>
        </p:nvSpPr>
        <p:spPr>
          <a:xfrm>
            <a:off x="6455664" y="3931920"/>
            <a:ext cx="502920" cy="502920"/>
          </a:xfrm>
          <a:prstGeom prst="ellipse">
            <a:avLst/>
          </a:prstGeom>
          <a:solidFill>
            <a:srgbClr val="6C3CE9"/>
          </a:solidFill>
          <a:ln/>
        </p:spPr>
      </p:sp>
      <p:sp>
        <p:nvSpPr>
          <p:cNvPr id="22" name="Text 20"/>
          <p:cNvSpPr/>
          <p:nvPr/>
        </p:nvSpPr>
        <p:spPr>
          <a:xfrm>
            <a:off x="6455664" y="3913632"/>
            <a:ext cx="502920" cy="502920"/>
          </a:xfrm>
          <a:prstGeom prst="rect">
            <a:avLst/>
          </a:prstGeom>
          <a:noFill/>
          <a:ln/>
        </p:spPr>
        <p:txBody>
          <a:bodyPr wrap="square" lIns="0" tIns="0" rIns="0" bIns="0" rtlCol="0" anchor="ctr"/>
          <a:lstStyle/>
          <a:p>
            <a:pPr marL="0" indent="0" algn="ctr">
              <a:buNone/>
            </a:pPr>
            <a:r>
              <a:rPr lang="en-US" sz="1400" dirty="0">
                <a:solidFill>
                  <a:srgbClr val="000000"/>
                </a:solidFill>
                <a:latin typeface="Segoe UI Emoji" pitchFamily="34" charset="0"/>
                <a:ea typeface="Segoe UI Emoji" pitchFamily="34" charset="-122"/>
                <a:cs typeface="Segoe UI Emoji" pitchFamily="34" charset="-120"/>
              </a:rPr>
              <a:t>🎯</a:t>
            </a:r>
            <a:endParaRPr lang="en-US" sz="1400" dirty="0"/>
          </a:p>
        </p:txBody>
      </p:sp>
      <p:sp>
        <p:nvSpPr>
          <p:cNvPr id="23" name="Text 21"/>
          <p:cNvSpPr/>
          <p:nvPr/>
        </p:nvSpPr>
        <p:spPr>
          <a:xfrm>
            <a:off x="7123176" y="3877056"/>
            <a:ext cx="4334256" cy="365760"/>
          </a:xfrm>
          <a:prstGeom prst="rect">
            <a:avLst/>
          </a:prstGeom>
          <a:noFill/>
          <a:ln/>
        </p:spPr>
        <p:txBody>
          <a:bodyPr wrap="square" lIns="0" tIns="0" rIns="0" bIns="0" rtlCol="0" anchor="ctr"/>
          <a:lstStyle/>
          <a:p>
            <a:pPr marL="0" indent="0">
              <a:buNone/>
            </a:pPr>
            <a:r>
              <a:rPr lang="en-US" sz="1500" b="1" dirty="0">
                <a:solidFill>
                  <a:srgbClr val="1F1B3A"/>
                </a:solidFill>
                <a:latin typeface="Calibri" pitchFamily="34" charset="0"/>
                <a:ea typeface="Calibri" pitchFamily="34" charset="-122"/>
                <a:cs typeface="Calibri" pitchFamily="34" charset="-120"/>
              </a:rPr>
              <a:t>Key Benefits</a:t>
            </a:r>
            <a:endParaRPr lang="en-US" sz="1500" dirty="0"/>
          </a:p>
        </p:txBody>
      </p:sp>
      <p:sp>
        <p:nvSpPr>
          <p:cNvPr id="24" name="Text 22"/>
          <p:cNvSpPr/>
          <p:nvPr/>
        </p:nvSpPr>
        <p:spPr>
          <a:xfrm>
            <a:off x="6455664" y="4416552"/>
            <a:ext cx="4983480" cy="1097280"/>
          </a:xfrm>
          <a:prstGeom prst="rect">
            <a:avLst/>
          </a:prstGeom>
          <a:noFill/>
          <a:ln/>
        </p:spPr>
        <p:txBody>
          <a:bodyPr wrap="square" lIns="0" tIns="0" rIns="0" bIns="0" rtlCol="0" anchor="t"/>
          <a:lstStyle/>
          <a:p>
            <a:pPr marL="0" indent="0">
              <a:buNone/>
            </a:pPr>
            <a:r>
              <a:rPr lang="en-US" sz="1150" dirty="0">
                <a:solidFill>
                  <a:srgbClr val="6B6480"/>
                </a:solidFill>
                <a:latin typeface="Calibri" pitchFamily="34" charset="0"/>
                <a:ea typeface="Calibri" pitchFamily="34" charset="-122"/>
                <a:cs typeface="Calibri" pitchFamily="34" charset="-120"/>
              </a:rPr>
              <a:t>Faster access to relevant news, less clutter, a modern responsive UI, and a fully personalized experience.</a:t>
            </a:r>
            <a:endParaRPr lang="en-US" sz="1150" dirty="0"/>
          </a:p>
        </p:txBody>
      </p:sp>
      <p:sp>
        <p:nvSpPr>
          <p:cNvPr id="25" name="Text 23"/>
          <p:cNvSpPr/>
          <p:nvPr/>
        </p:nvSpPr>
        <p:spPr>
          <a:xfrm>
            <a:off x="548640" y="6528816"/>
            <a:ext cx="2743200" cy="274320"/>
          </a:xfrm>
          <a:prstGeom prst="rect">
            <a:avLst/>
          </a:prstGeom>
          <a:noFill/>
          <a:ln/>
        </p:spPr>
        <p:txBody>
          <a:bodyPr wrap="square" lIns="0" tIns="0" rIns="0" bIns="0" rtlCol="0" anchor="ctr"/>
          <a:lstStyle/>
          <a:p>
            <a:pPr marL="0" indent="0" algn="l">
              <a:buNone/>
            </a:pPr>
            <a:r>
              <a:rPr lang="en-US" sz="1000" dirty="0">
                <a:solidFill>
                  <a:srgbClr val="6B6480"/>
                </a:solidFill>
                <a:latin typeface="Calibri" pitchFamily="34" charset="0"/>
                <a:ea typeface="Calibri" pitchFamily="34" charset="-122"/>
                <a:cs typeface="Calibri" pitchFamily="34" charset="-120"/>
              </a:rPr>
              <a:t>NewsNest</a:t>
            </a:r>
            <a:endParaRPr lang="en-US" sz="1000" dirty="0"/>
          </a:p>
        </p:txBody>
      </p:sp>
      <p:sp>
        <p:nvSpPr>
          <p:cNvPr id="26" name="Text 24"/>
          <p:cNvSpPr/>
          <p:nvPr/>
        </p:nvSpPr>
        <p:spPr>
          <a:xfrm>
            <a:off x="11183112" y="6528816"/>
            <a:ext cx="457200" cy="274320"/>
          </a:xfrm>
          <a:prstGeom prst="rect">
            <a:avLst/>
          </a:prstGeom>
          <a:noFill/>
          <a:ln/>
        </p:spPr>
        <p:txBody>
          <a:bodyPr wrap="square" lIns="0" tIns="0" rIns="0" bIns="0" rtlCol="0" anchor="ctr"/>
          <a:lstStyle/>
          <a:p>
            <a:pPr marL="0" indent="0" algn="r">
              <a:buNone/>
            </a:pPr>
            <a:r>
              <a:rPr lang="en-US" sz="1000" dirty="0">
                <a:solidFill>
                  <a:srgbClr val="6B6480"/>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91672" cy="685800"/>
          </a:xfrm>
          <a:prstGeom prst="rect">
            <a:avLst/>
          </a:prstGeom>
          <a:noFill/>
          <a:ln/>
        </p:spPr>
        <p:txBody>
          <a:bodyPr wrap="square" lIns="0" tIns="0" rIns="0" bIns="0" rtlCol="0" anchor="ctr"/>
          <a:lstStyle/>
          <a:p>
            <a:pPr marL="0" indent="0" algn="l">
              <a:buNone/>
            </a:pPr>
            <a:r>
              <a:rPr lang="en-US" sz="3200" b="1" dirty="0">
                <a:solidFill>
                  <a:srgbClr val="2A1B5D"/>
                </a:solidFill>
                <a:latin typeface="Cambria" pitchFamily="34" charset="0"/>
                <a:ea typeface="Cambria" pitchFamily="34" charset="-122"/>
                <a:cs typeface="Cambria" pitchFamily="34" charset="-120"/>
              </a:rPr>
              <a:t>Objectives</a:t>
            </a:r>
            <a:endParaRPr lang="en-US" sz="3200" dirty="0"/>
          </a:p>
        </p:txBody>
      </p:sp>
      <p:sp>
        <p:nvSpPr>
          <p:cNvPr id="3" name="Shape 1"/>
          <p:cNvSpPr/>
          <p:nvPr/>
        </p:nvSpPr>
        <p:spPr>
          <a:xfrm>
            <a:off x="548640" y="1042416"/>
            <a:ext cx="502920" cy="41148"/>
          </a:xfrm>
          <a:prstGeom prst="rect">
            <a:avLst/>
          </a:prstGeom>
          <a:solidFill>
            <a:srgbClr val="EC4899"/>
          </a:solidFill>
          <a:ln/>
        </p:spPr>
      </p:sp>
      <p:sp>
        <p:nvSpPr>
          <p:cNvPr id="4" name="Text 2"/>
          <p:cNvSpPr/>
          <p:nvPr/>
        </p:nvSpPr>
        <p:spPr>
          <a:xfrm>
            <a:off x="548640" y="1097280"/>
            <a:ext cx="11091672" cy="365760"/>
          </a:xfrm>
          <a:prstGeom prst="rect">
            <a:avLst/>
          </a:prstGeom>
          <a:noFill/>
          <a:ln/>
        </p:spPr>
        <p:txBody>
          <a:bodyPr wrap="square" lIns="0" tIns="0" rIns="0" bIns="0" rtlCol="0" anchor="ctr"/>
          <a:lstStyle/>
          <a:p>
            <a:pPr marL="0" indent="0" algn="l">
              <a:buNone/>
            </a:pPr>
            <a:r>
              <a:rPr lang="en-US" sz="1400" i="1" dirty="0">
                <a:solidFill>
                  <a:srgbClr val="6B6480"/>
                </a:solidFill>
                <a:latin typeface="Calibri" pitchFamily="34" charset="0"/>
                <a:ea typeface="Calibri" pitchFamily="34" charset="-122"/>
                <a:cs typeface="Calibri" pitchFamily="34" charset="-120"/>
              </a:rPr>
              <a:t>What this project set out to achieve</a:t>
            </a:r>
            <a:endParaRPr lang="en-US" sz="1400" dirty="0"/>
          </a:p>
        </p:txBody>
      </p:sp>
      <p:sp>
        <p:nvSpPr>
          <p:cNvPr id="5" name="Shape 3"/>
          <p:cNvSpPr/>
          <p:nvPr/>
        </p:nvSpPr>
        <p:spPr>
          <a:xfrm>
            <a:off x="548640" y="1554480"/>
            <a:ext cx="3483864" cy="1417320"/>
          </a:xfrm>
          <a:prstGeom prst="roundRect">
            <a:avLst>
              <a:gd name="adj" fmla="val 6452"/>
            </a:avLst>
          </a:prstGeom>
          <a:solidFill>
            <a:srgbClr val="F6F4FC"/>
          </a:solidFill>
          <a:ln/>
          <a:effectLst>
            <a:outerShdw blurRad="76200" dist="25400" dir="5400000" algn="bl" rotWithShape="0">
              <a:srgbClr val="3A2E6E">
                <a:alpha val="12000"/>
              </a:srgbClr>
            </a:outerShdw>
          </a:effectLst>
        </p:spPr>
      </p:sp>
      <p:sp>
        <p:nvSpPr>
          <p:cNvPr id="6" name="Shape 4"/>
          <p:cNvSpPr/>
          <p:nvPr/>
        </p:nvSpPr>
        <p:spPr>
          <a:xfrm>
            <a:off x="749808" y="1755648"/>
            <a:ext cx="502920" cy="502920"/>
          </a:xfrm>
          <a:prstGeom prst="ellipse">
            <a:avLst/>
          </a:prstGeom>
          <a:solidFill>
            <a:srgbClr val="6C3CE9"/>
          </a:solidFill>
          <a:ln/>
        </p:spPr>
      </p:sp>
      <p:sp>
        <p:nvSpPr>
          <p:cNvPr id="7" name="Text 5"/>
          <p:cNvSpPr/>
          <p:nvPr/>
        </p:nvSpPr>
        <p:spPr>
          <a:xfrm>
            <a:off x="749808" y="1737360"/>
            <a:ext cx="502920" cy="502920"/>
          </a:xfrm>
          <a:prstGeom prst="rect">
            <a:avLst/>
          </a:prstGeom>
          <a:noFill/>
          <a:ln/>
        </p:spPr>
        <p:txBody>
          <a:bodyPr wrap="square" lIns="0" tIns="0" rIns="0" bIns="0" rtlCol="0" anchor="ctr"/>
          <a:lstStyle/>
          <a:p>
            <a:pPr marL="0" indent="0" algn="ctr">
              <a:buNone/>
            </a:pPr>
            <a:r>
              <a:rPr lang="en-US" sz="1400" dirty="0">
                <a:solidFill>
                  <a:srgbClr val="000000"/>
                </a:solidFill>
                <a:latin typeface="Segoe UI Emoji" pitchFamily="34" charset="0"/>
                <a:ea typeface="Segoe UI Emoji" pitchFamily="34" charset="-122"/>
                <a:cs typeface="Segoe UI Emoji" pitchFamily="34" charset="-120"/>
              </a:rPr>
              <a:t>🎯</a:t>
            </a:r>
            <a:endParaRPr lang="en-US" sz="1400" dirty="0"/>
          </a:p>
        </p:txBody>
      </p:sp>
      <p:sp>
        <p:nvSpPr>
          <p:cNvPr id="8" name="Text 6"/>
          <p:cNvSpPr/>
          <p:nvPr/>
        </p:nvSpPr>
        <p:spPr>
          <a:xfrm>
            <a:off x="1417320" y="1700784"/>
            <a:ext cx="2432304" cy="365760"/>
          </a:xfrm>
          <a:prstGeom prst="rect">
            <a:avLst/>
          </a:prstGeom>
          <a:noFill/>
          <a:ln/>
        </p:spPr>
        <p:txBody>
          <a:bodyPr wrap="square" lIns="0" tIns="0" rIns="0" bIns="0" rtlCol="0" anchor="ctr"/>
          <a:lstStyle/>
          <a:p>
            <a:pPr marL="0" indent="0">
              <a:buNone/>
            </a:pPr>
            <a:r>
              <a:rPr lang="en-US" sz="1500" b="1" dirty="0">
                <a:solidFill>
                  <a:srgbClr val="1F1B3A"/>
                </a:solidFill>
                <a:latin typeface="Calibri" pitchFamily="34" charset="0"/>
                <a:ea typeface="Calibri" pitchFamily="34" charset="-122"/>
                <a:cs typeface="Calibri" pitchFamily="34" charset="-120"/>
              </a:rPr>
              <a:t>Unified Personalized Platform</a:t>
            </a:r>
            <a:endParaRPr lang="en-US" sz="1500" dirty="0"/>
          </a:p>
        </p:txBody>
      </p:sp>
      <p:sp>
        <p:nvSpPr>
          <p:cNvPr id="9" name="Text 7"/>
          <p:cNvSpPr/>
          <p:nvPr/>
        </p:nvSpPr>
        <p:spPr>
          <a:xfrm>
            <a:off x="749808" y="2240280"/>
            <a:ext cx="3081528" cy="594360"/>
          </a:xfrm>
          <a:prstGeom prst="rect">
            <a:avLst/>
          </a:prstGeom>
          <a:noFill/>
          <a:ln/>
        </p:spPr>
        <p:txBody>
          <a:bodyPr wrap="square" lIns="0" tIns="0" rIns="0" bIns="0" rtlCol="0" anchor="t"/>
          <a:lstStyle/>
          <a:p>
            <a:pPr marL="0" indent="0">
              <a:buNone/>
            </a:pPr>
            <a:r>
              <a:rPr lang="en-US" sz="1150" dirty="0">
                <a:solidFill>
                  <a:srgbClr val="6B6480"/>
                </a:solidFill>
                <a:latin typeface="Calibri" pitchFamily="34" charset="0"/>
                <a:ea typeface="Calibri" pitchFamily="34" charset="-122"/>
                <a:cs typeface="Calibri" pitchFamily="34" charset="-120"/>
              </a:rPr>
              <a:t>Build a single homepage that adapts to each user's chosen interests.</a:t>
            </a:r>
            <a:endParaRPr lang="en-US" sz="1150" dirty="0"/>
          </a:p>
        </p:txBody>
      </p:sp>
      <p:sp>
        <p:nvSpPr>
          <p:cNvPr id="10" name="Shape 8"/>
          <p:cNvSpPr/>
          <p:nvPr/>
        </p:nvSpPr>
        <p:spPr>
          <a:xfrm>
            <a:off x="4352544" y="1554480"/>
            <a:ext cx="3483864" cy="1417320"/>
          </a:xfrm>
          <a:prstGeom prst="roundRect">
            <a:avLst>
              <a:gd name="adj" fmla="val 6452"/>
            </a:avLst>
          </a:prstGeom>
          <a:solidFill>
            <a:srgbClr val="F6F4FC"/>
          </a:solidFill>
          <a:ln/>
          <a:effectLst>
            <a:outerShdw blurRad="76200" dist="25400" dir="5400000" algn="bl" rotWithShape="0">
              <a:srgbClr val="3A2E6E">
                <a:alpha val="12000"/>
              </a:srgbClr>
            </a:outerShdw>
          </a:effectLst>
        </p:spPr>
      </p:sp>
      <p:sp>
        <p:nvSpPr>
          <p:cNvPr id="11" name="Shape 9"/>
          <p:cNvSpPr/>
          <p:nvPr/>
        </p:nvSpPr>
        <p:spPr>
          <a:xfrm>
            <a:off x="4553712" y="1755648"/>
            <a:ext cx="502920" cy="502920"/>
          </a:xfrm>
          <a:prstGeom prst="ellipse">
            <a:avLst/>
          </a:prstGeom>
          <a:solidFill>
            <a:srgbClr val="6C3CE9"/>
          </a:solidFill>
          <a:ln/>
        </p:spPr>
      </p:sp>
      <p:sp>
        <p:nvSpPr>
          <p:cNvPr id="12" name="Text 10"/>
          <p:cNvSpPr/>
          <p:nvPr/>
        </p:nvSpPr>
        <p:spPr>
          <a:xfrm>
            <a:off x="4553712" y="1737360"/>
            <a:ext cx="502920" cy="502920"/>
          </a:xfrm>
          <a:prstGeom prst="rect">
            <a:avLst/>
          </a:prstGeom>
          <a:noFill/>
          <a:ln/>
        </p:spPr>
        <p:txBody>
          <a:bodyPr wrap="square" lIns="0" tIns="0" rIns="0" bIns="0" rtlCol="0" anchor="ctr"/>
          <a:lstStyle/>
          <a:p>
            <a:pPr marL="0" indent="0" algn="ctr">
              <a:buNone/>
            </a:pPr>
            <a:r>
              <a:rPr lang="en-US" sz="1400" dirty="0">
                <a:solidFill>
                  <a:srgbClr val="000000"/>
                </a:solidFill>
                <a:latin typeface="Segoe UI Emoji" pitchFamily="34" charset="0"/>
                <a:ea typeface="Segoe UI Emoji" pitchFamily="34" charset="-122"/>
                <a:cs typeface="Segoe UI Emoji" pitchFamily="34" charset="-120"/>
              </a:rPr>
              <a:t>🧩</a:t>
            </a:r>
            <a:endParaRPr lang="en-US" sz="1400" dirty="0"/>
          </a:p>
        </p:txBody>
      </p:sp>
      <p:sp>
        <p:nvSpPr>
          <p:cNvPr id="13" name="Text 11"/>
          <p:cNvSpPr/>
          <p:nvPr/>
        </p:nvSpPr>
        <p:spPr>
          <a:xfrm>
            <a:off x="5221224" y="1700784"/>
            <a:ext cx="2432304" cy="365760"/>
          </a:xfrm>
          <a:prstGeom prst="rect">
            <a:avLst/>
          </a:prstGeom>
          <a:noFill/>
          <a:ln/>
        </p:spPr>
        <p:txBody>
          <a:bodyPr wrap="square" lIns="0" tIns="0" rIns="0" bIns="0" rtlCol="0" anchor="ctr"/>
          <a:lstStyle/>
          <a:p>
            <a:pPr marL="0" indent="0">
              <a:buNone/>
            </a:pPr>
            <a:r>
              <a:rPr lang="en-US" sz="1500" b="1" dirty="0">
                <a:solidFill>
                  <a:srgbClr val="1F1B3A"/>
                </a:solidFill>
                <a:latin typeface="Calibri" pitchFamily="34" charset="0"/>
                <a:ea typeface="Calibri" pitchFamily="34" charset="-122"/>
                <a:cs typeface="Calibri" pitchFamily="34" charset="-120"/>
              </a:rPr>
              <a:t>Microservices Architecture</a:t>
            </a:r>
            <a:endParaRPr lang="en-US" sz="1500" dirty="0"/>
          </a:p>
        </p:txBody>
      </p:sp>
      <p:sp>
        <p:nvSpPr>
          <p:cNvPr id="14" name="Text 12"/>
          <p:cNvSpPr/>
          <p:nvPr/>
        </p:nvSpPr>
        <p:spPr>
          <a:xfrm>
            <a:off x="4553712" y="2240280"/>
            <a:ext cx="3081528" cy="594360"/>
          </a:xfrm>
          <a:prstGeom prst="rect">
            <a:avLst/>
          </a:prstGeom>
          <a:noFill/>
          <a:ln/>
        </p:spPr>
        <p:txBody>
          <a:bodyPr wrap="square" lIns="0" tIns="0" rIns="0" bIns="0" rtlCol="0" anchor="t"/>
          <a:lstStyle/>
          <a:p>
            <a:pPr marL="0" indent="0">
              <a:buNone/>
            </a:pPr>
            <a:r>
              <a:rPr lang="en-US" sz="1150" dirty="0">
                <a:solidFill>
                  <a:srgbClr val="6B6480"/>
                </a:solidFill>
                <a:latin typeface="Calibri" pitchFamily="34" charset="0"/>
                <a:ea typeface="Calibri" pitchFamily="34" charset="-122"/>
                <a:cs typeface="Calibri" pitchFamily="34" charset="-120"/>
              </a:rPr>
              <a:t>Design independent, loosely-coupled services for news, categories, and routing.</a:t>
            </a:r>
            <a:endParaRPr lang="en-US" sz="1150" dirty="0"/>
          </a:p>
        </p:txBody>
      </p:sp>
      <p:sp>
        <p:nvSpPr>
          <p:cNvPr id="15" name="Shape 13"/>
          <p:cNvSpPr/>
          <p:nvPr/>
        </p:nvSpPr>
        <p:spPr>
          <a:xfrm>
            <a:off x="8156448" y="1554480"/>
            <a:ext cx="3483864" cy="1417320"/>
          </a:xfrm>
          <a:prstGeom prst="roundRect">
            <a:avLst>
              <a:gd name="adj" fmla="val 6452"/>
            </a:avLst>
          </a:prstGeom>
          <a:solidFill>
            <a:srgbClr val="F6F4FC"/>
          </a:solidFill>
          <a:ln/>
          <a:effectLst>
            <a:outerShdw blurRad="76200" dist="25400" dir="5400000" algn="bl" rotWithShape="0">
              <a:srgbClr val="3A2E6E">
                <a:alpha val="12000"/>
              </a:srgbClr>
            </a:outerShdw>
          </a:effectLst>
        </p:spPr>
      </p:sp>
      <p:sp>
        <p:nvSpPr>
          <p:cNvPr id="16" name="Shape 14"/>
          <p:cNvSpPr/>
          <p:nvPr/>
        </p:nvSpPr>
        <p:spPr>
          <a:xfrm>
            <a:off x="8357616" y="1755648"/>
            <a:ext cx="502920" cy="502920"/>
          </a:xfrm>
          <a:prstGeom prst="ellipse">
            <a:avLst/>
          </a:prstGeom>
          <a:solidFill>
            <a:srgbClr val="6C3CE9"/>
          </a:solidFill>
          <a:ln/>
        </p:spPr>
      </p:sp>
      <p:sp>
        <p:nvSpPr>
          <p:cNvPr id="17" name="Text 15"/>
          <p:cNvSpPr/>
          <p:nvPr/>
        </p:nvSpPr>
        <p:spPr>
          <a:xfrm>
            <a:off x="8357616" y="1737360"/>
            <a:ext cx="502920" cy="502920"/>
          </a:xfrm>
          <a:prstGeom prst="rect">
            <a:avLst/>
          </a:prstGeom>
          <a:noFill/>
          <a:ln/>
        </p:spPr>
        <p:txBody>
          <a:bodyPr wrap="square" lIns="0" tIns="0" rIns="0" bIns="0" rtlCol="0" anchor="ctr"/>
          <a:lstStyle/>
          <a:p>
            <a:pPr marL="0" indent="0" algn="ctr">
              <a:buNone/>
            </a:pPr>
            <a:r>
              <a:rPr lang="en-US" sz="1400" dirty="0">
                <a:solidFill>
                  <a:srgbClr val="000000"/>
                </a:solidFill>
                <a:latin typeface="Segoe UI Emoji" pitchFamily="34" charset="0"/>
                <a:ea typeface="Segoe UI Emoji" pitchFamily="34" charset="-122"/>
                <a:cs typeface="Segoe UI Emoji" pitchFamily="34" charset="-120"/>
              </a:rPr>
              <a:t>📱</a:t>
            </a:r>
            <a:endParaRPr lang="en-US" sz="1400" dirty="0"/>
          </a:p>
        </p:txBody>
      </p:sp>
      <p:sp>
        <p:nvSpPr>
          <p:cNvPr id="18" name="Text 16"/>
          <p:cNvSpPr/>
          <p:nvPr/>
        </p:nvSpPr>
        <p:spPr>
          <a:xfrm>
            <a:off x="9025128" y="1700784"/>
            <a:ext cx="2432304" cy="365760"/>
          </a:xfrm>
          <a:prstGeom prst="rect">
            <a:avLst/>
          </a:prstGeom>
          <a:noFill/>
          <a:ln/>
        </p:spPr>
        <p:txBody>
          <a:bodyPr wrap="square" lIns="0" tIns="0" rIns="0" bIns="0" rtlCol="0" anchor="ctr"/>
          <a:lstStyle/>
          <a:p>
            <a:pPr marL="0" indent="0">
              <a:buNone/>
            </a:pPr>
            <a:r>
              <a:rPr lang="en-US" sz="1500" b="1" dirty="0">
                <a:solidFill>
                  <a:srgbClr val="1F1B3A"/>
                </a:solidFill>
                <a:latin typeface="Calibri" pitchFamily="34" charset="0"/>
                <a:ea typeface="Calibri" pitchFamily="34" charset="-122"/>
                <a:cs typeface="Calibri" pitchFamily="34" charset="-120"/>
              </a:rPr>
              <a:t>Responsive Modern UI</a:t>
            </a:r>
            <a:endParaRPr lang="en-US" sz="1500" dirty="0"/>
          </a:p>
        </p:txBody>
      </p:sp>
      <p:sp>
        <p:nvSpPr>
          <p:cNvPr id="19" name="Text 17"/>
          <p:cNvSpPr/>
          <p:nvPr/>
        </p:nvSpPr>
        <p:spPr>
          <a:xfrm>
            <a:off x="8357616" y="2240280"/>
            <a:ext cx="3081528" cy="594360"/>
          </a:xfrm>
          <a:prstGeom prst="rect">
            <a:avLst/>
          </a:prstGeom>
          <a:noFill/>
          <a:ln/>
        </p:spPr>
        <p:txBody>
          <a:bodyPr wrap="square" lIns="0" tIns="0" rIns="0" bIns="0" rtlCol="0" anchor="t"/>
          <a:lstStyle/>
          <a:p>
            <a:pPr marL="0" indent="0">
              <a:buNone/>
            </a:pPr>
            <a:r>
              <a:rPr lang="en-US" sz="1150" dirty="0">
                <a:solidFill>
                  <a:srgbClr val="6B6480"/>
                </a:solidFill>
                <a:latin typeface="Calibri" pitchFamily="34" charset="0"/>
                <a:ea typeface="Calibri" pitchFamily="34" charset="-122"/>
                <a:cs typeface="Calibri" pitchFamily="34" charset="-120"/>
              </a:rPr>
              <a:t>Deliver a clean, glassmorphic interface that works on any device.</a:t>
            </a:r>
            <a:endParaRPr lang="en-US" sz="1150" dirty="0"/>
          </a:p>
        </p:txBody>
      </p:sp>
      <p:sp>
        <p:nvSpPr>
          <p:cNvPr id="20" name="Shape 18"/>
          <p:cNvSpPr/>
          <p:nvPr/>
        </p:nvSpPr>
        <p:spPr>
          <a:xfrm>
            <a:off x="548640" y="3227832"/>
            <a:ext cx="3483864" cy="1417320"/>
          </a:xfrm>
          <a:prstGeom prst="roundRect">
            <a:avLst>
              <a:gd name="adj" fmla="val 6452"/>
            </a:avLst>
          </a:prstGeom>
          <a:solidFill>
            <a:srgbClr val="F6F4FC"/>
          </a:solidFill>
          <a:ln/>
          <a:effectLst>
            <a:outerShdw blurRad="76200" dist="25400" dir="5400000" algn="bl" rotWithShape="0">
              <a:srgbClr val="3A2E6E">
                <a:alpha val="12000"/>
              </a:srgbClr>
            </a:outerShdw>
          </a:effectLst>
        </p:spPr>
      </p:sp>
      <p:sp>
        <p:nvSpPr>
          <p:cNvPr id="21" name="Shape 19"/>
          <p:cNvSpPr/>
          <p:nvPr/>
        </p:nvSpPr>
        <p:spPr>
          <a:xfrm>
            <a:off x="749808" y="3429000"/>
            <a:ext cx="502920" cy="502920"/>
          </a:xfrm>
          <a:prstGeom prst="ellipse">
            <a:avLst/>
          </a:prstGeom>
          <a:solidFill>
            <a:srgbClr val="6C3CE9"/>
          </a:solidFill>
          <a:ln/>
        </p:spPr>
      </p:sp>
      <p:sp>
        <p:nvSpPr>
          <p:cNvPr id="22" name="Text 20"/>
          <p:cNvSpPr/>
          <p:nvPr/>
        </p:nvSpPr>
        <p:spPr>
          <a:xfrm>
            <a:off x="749808" y="3410712"/>
            <a:ext cx="502920" cy="502920"/>
          </a:xfrm>
          <a:prstGeom prst="rect">
            <a:avLst/>
          </a:prstGeom>
          <a:noFill/>
          <a:ln/>
        </p:spPr>
        <p:txBody>
          <a:bodyPr wrap="square" lIns="0" tIns="0" rIns="0" bIns="0" rtlCol="0" anchor="ctr"/>
          <a:lstStyle/>
          <a:p>
            <a:pPr marL="0" indent="0" algn="ctr">
              <a:buNone/>
            </a:pPr>
            <a:r>
              <a:rPr lang="en-US" sz="1400" dirty="0">
                <a:solidFill>
                  <a:srgbClr val="000000"/>
                </a:solidFill>
                <a:latin typeface="Segoe UI Emoji" pitchFamily="34" charset="0"/>
                <a:ea typeface="Segoe UI Emoji" pitchFamily="34" charset="-122"/>
                <a:cs typeface="Segoe UI Emoji" pitchFamily="34" charset="-120"/>
              </a:rPr>
              <a:t>🐳</a:t>
            </a:r>
            <a:endParaRPr lang="en-US" sz="1400" dirty="0"/>
          </a:p>
        </p:txBody>
      </p:sp>
      <p:sp>
        <p:nvSpPr>
          <p:cNvPr id="23" name="Text 21"/>
          <p:cNvSpPr/>
          <p:nvPr/>
        </p:nvSpPr>
        <p:spPr>
          <a:xfrm>
            <a:off x="1417320" y="3374136"/>
            <a:ext cx="2432304" cy="365760"/>
          </a:xfrm>
          <a:prstGeom prst="rect">
            <a:avLst/>
          </a:prstGeom>
          <a:noFill/>
          <a:ln/>
        </p:spPr>
        <p:txBody>
          <a:bodyPr wrap="square" lIns="0" tIns="0" rIns="0" bIns="0" rtlCol="0" anchor="ctr"/>
          <a:lstStyle/>
          <a:p>
            <a:pPr marL="0" indent="0">
              <a:buNone/>
            </a:pPr>
            <a:r>
              <a:rPr lang="en-US" sz="1500" b="1" dirty="0">
                <a:solidFill>
                  <a:srgbClr val="1F1B3A"/>
                </a:solidFill>
                <a:latin typeface="Calibri" pitchFamily="34" charset="0"/>
                <a:ea typeface="Calibri" pitchFamily="34" charset="-122"/>
                <a:cs typeface="Calibri" pitchFamily="34" charset="-120"/>
              </a:rPr>
              <a:t>Containerized Deployment</a:t>
            </a:r>
            <a:endParaRPr lang="en-US" sz="1500" dirty="0"/>
          </a:p>
        </p:txBody>
      </p:sp>
      <p:sp>
        <p:nvSpPr>
          <p:cNvPr id="24" name="Text 22"/>
          <p:cNvSpPr/>
          <p:nvPr/>
        </p:nvSpPr>
        <p:spPr>
          <a:xfrm>
            <a:off x="749808" y="3913632"/>
            <a:ext cx="3081528" cy="594360"/>
          </a:xfrm>
          <a:prstGeom prst="rect">
            <a:avLst/>
          </a:prstGeom>
          <a:noFill/>
          <a:ln/>
        </p:spPr>
        <p:txBody>
          <a:bodyPr wrap="square" lIns="0" tIns="0" rIns="0" bIns="0" rtlCol="0" anchor="t"/>
          <a:lstStyle/>
          <a:p>
            <a:pPr marL="0" indent="0">
              <a:buNone/>
            </a:pPr>
            <a:r>
              <a:rPr lang="en-US" sz="1150" dirty="0">
                <a:solidFill>
                  <a:srgbClr val="6B6480"/>
                </a:solidFill>
                <a:latin typeface="Calibri" pitchFamily="34" charset="0"/>
                <a:ea typeface="Calibri" pitchFamily="34" charset="-122"/>
                <a:cs typeface="Calibri" pitchFamily="34" charset="-120"/>
              </a:rPr>
              <a:t>Package every service with Docker and orchestrate with Kubernetes.</a:t>
            </a:r>
            <a:endParaRPr lang="en-US" sz="1150" dirty="0"/>
          </a:p>
        </p:txBody>
      </p:sp>
      <p:sp>
        <p:nvSpPr>
          <p:cNvPr id="25" name="Shape 23"/>
          <p:cNvSpPr/>
          <p:nvPr/>
        </p:nvSpPr>
        <p:spPr>
          <a:xfrm>
            <a:off x="4352544" y="3227832"/>
            <a:ext cx="3483864" cy="1417320"/>
          </a:xfrm>
          <a:prstGeom prst="roundRect">
            <a:avLst>
              <a:gd name="adj" fmla="val 6452"/>
            </a:avLst>
          </a:prstGeom>
          <a:solidFill>
            <a:srgbClr val="F6F4FC"/>
          </a:solidFill>
          <a:ln/>
          <a:effectLst>
            <a:outerShdw blurRad="76200" dist="25400" dir="5400000" algn="bl" rotWithShape="0">
              <a:srgbClr val="3A2E6E">
                <a:alpha val="12000"/>
              </a:srgbClr>
            </a:outerShdw>
          </a:effectLst>
        </p:spPr>
      </p:sp>
      <p:sp>
        <p:nvSpPr>
          <p:cNvPr id="26" name="Shape 24"/>
          <p:cNvSpPr/>
          <p:nvPr/>
        </p:nvSpPr>
        <p:spPr>
          <a:xfrm>
            <a:off x="4553712" y="3429000"/>
            <a:ext cx="502920" cy="502920"/>
          </a:xfrm>
          <a:prstGeom prst="ellipse">
            <a:avLst/>
          </a:prstGeom>
          <a:solidFill>
            <a:srgbClr val="6C3CE9"/>
          </a:solidFill>
          <a:ln/>
        </p:spPr>
      </p:sp>
      <p:sp>
        <p:nvSpPr>
          <p:cNvPr id="27" name="Text 25"/>
          <p:cNvSpPr/>
          <p:nvPr/>
        </p:nvSpPr>
        <p:spPr>
          <a:xfrm>
            <a:off x="4553712" y="3410712"/>
            <a:ext cx="502920" cy="502920"/>
          </a:xfrm>
          <a:prstGeom prst="rect">
            <a:avLst/>
          </a:prstGeom>
          <a:noFill/>
          <a:ln/>
        </p:spPr>
        <p:txBody>
          <a:bodyPr wrap="square" lIns="0" tIns="0" rIns="0" bIns="0" rtlCol="0" anchor="ctr"/>
          <a:lstStyle/>
          <a:p>
            <a:pPr marL="0" indent="0" algn="ctr">
              <a:buNone/>
            </a:pPr>
            <a:r>
              <a:rPr lang="en-US" sz="1400" dirty="0">
                <a:solidFill>
                  <a:srgbClr val="000000"/>
                </a:solidFill>
                <a:latin typeface="Segoe UI Emoji" pitchFamily="34" charset="0"/>
                <a:ea typeface="Segoe UI Emoji" pitchFamily="34" charset="-122"/>
                <a:cs typeface="Segoe UI Emoji" pitchFamily="34" charset="-120"/>
              </a:rPr>
              <a:t>⚙️</a:t>
            </a:r>
            <a:endParaRPr lang="en-US" sz="1400" dirty="0"/>
          </a:p>
        </p:txBody>
      </p:sp>
      <p:sp>
        <p:nvSpPr>
          <p:cNvPr id="28" name="Text 26"/>
          <p:cNvSpPr/>
          <p:nvPr/>
        </p:nvSpPr>
        <p:spPr>
          <a:xfrm>
            <a:off x="5221224" y="3374136"/>
            <a:ext cx="2432304" cy="365760"/>
          </a:xfrm>
          <a:prstGeom prst="rect">
            <a:avLst/>
          </a:prstGeom>
          <a:noFill/>
          <a:ln/>
        </p:spPr>
        <p:txBody>
          <a:bodyPr wrap="square" lIns="0" tIns="0" rIns="0" bIns="0" rtlCol="0" anchor="ctr"/>
          <a:lstStyle/>
          <a:p>
            <a:pPr marL="0" indent="0">
              <a:buNone/>
            </a:pPr>
            <a:r>
              <a:rPr lang="en-US" sz="1500" b="1" dirty="0">
                <a:solidFill>
                  <a:srgbClr val="1F1B3A"/>
                </a:solidFill>
                <a:latin typeface="Calibri" pitchFamily="34" charset="0"/>
                <a:ea typeface="Calibri" pitchFamily="34" charset="-122"/>
                <a:cs typeface="Calibri" pitchFamily="34" charset="-120"/>
              </a:rPr>
              <a:t>Stateless Scalable Backend</a:t>
            </a:r>
            <a:endParaRPr lang="en-US" sz="1500" dirty="0"/>
          </a:p>
        </p:txBody>
      </p:sp>
      <p:sp>
        <p:nvSpPr>
          <p:cNvPr id="29" name="Text 27"/>
          <p:cNvSpPr/>
          <p:nvPr/>
        </p:nvSpPr>
        <p:spPr>
          <a:xfrm>
            <a:off x="4553712" y="3913632"/>
            <a:ext cx="3081528" cy="594360"/>
          </a:xfrm>
          <a:prstGeom prst="rect">
            <a:avLst/>
          </a:prstGeom>
          <a:noFill/>
          <a:ln/>
        </p:spPr>
        <p:txBody>
          <a:bodyPr wrap="square" lIns="0" tIns="0" rIns="0" bIns="0" rtlCol="0" anchor="t"/>
          <a:lstStyle/>
          <a:p>
            <a:pPr marL="0" indent="0">
              <a:buNone/>
            </a:pPr>
            <a:r>
              <a:rPr lang="en-US" sz="1150" dirty="0">
                <a:solidFill>
                  <a:srgbClr val="6B6480"/>
                </a:solidFill>
                <a:latin typeface="Calibri" pitchFamily="34" charset="0"/>
                <a:ea typeface="Calibri" pitchFamily="34" charset="-122"/>
                <a:cs typeface="Calibri" pitchFamily="34" charset="-120"/>
              </a:rPr>
              <a:t>Keep the backend database-free and horizontally scalable.</a:t>
            </a:r>
            <a:endParaRPr lang="en-US" sz="1150" dirty="0"/>
          </a:p>
        </p:txBody>
      </p:sp>
      <p:sp>
        <p:nvSpPr>
          <p:cNvPr id="30" name="Shape 28"/>
          <p:cNvSpPr/>
          <p:nvPr/>
        </p:nvSpPr>
        <p:spPr>
          <a:xfrm>
            <a:off x="8156448" y="3227832"/>
            <a:ext cx="3483864" cy="1417320"/>
          </a:xfrm>
          <a:prstGeom prst="roundRect">
            <a:avLst>
              <a:gd name="adj" fmla="val 6452"/>
            </a:avLst>
          </a:prstGeom>
          <a:solidFill>
            <a:srgbClr val="F6F4FC"/>
          </a:solidFill>
          <a:ln/>
          <a:effectLst>
            <a:outerShdw blurRad="76200" dist="25400" dir="5400000" algn="bl" rotWithShape="0">
              <a:srgbClr val="3A2E6E">
                <a:alpha val="12000"/>
              </a:srgbClr>
            </a:outerShdw>
          </a:effectLst>
        </p:spPr>
      </p:sp>
      <p:sp>
        <p:nvSpPr>
          <p:cNvPr id="31" name="Shape 29"/>
          <p:cNvSpPr/>
          <p:nvPr/>
        </p:nvSpPr>
        <p:spPr>
          <a:xfrm>
            <a:off x="8357616" y="3429000"/>
            <a:ext cx="502920" cy="502920"/>
          </a:xfrm>
          <a:prstGeom prst="ellipse">
            <a:avLst/>
          </a:prstGeom>
          <a:solidFill>
            <a:srgbClr val="6C3CE9"/>
          </a:solidFill>
          <a:ln/>
        </p:spPr>
      </p:sp>
      <p:sp>
        <p:nvSpPr>
          <p:cNvPr id="32" name="Text 30"/>
          <p:cNvSpPr/>
          <p:nvPr/>
        </p:nvSpPr>
        <p:spPr>
          <a:xfrm>
            <a:off x="8357616" y="3410712"/>
            <a:ext cx="502920" cy="502920"/>
          </a:xfrm>
          <a:prstGeom prst="rect">
            <a:avLst/>
          </a:prstGeom>
          <a:noFill/>
          <a:ln/>
        </p:spPr>
        <p:txBody>
          <a:bodyPr wrap="square" lIns="0" tIns="0" rIns="0" bIns="0" rtlCol="0" anchor="ctr"/>
          <a:lstStyle/>
          <a:p>
            <a:pPr marL="0" indent="0" algn="ctr">
              <a:buNone/>
            </a:pPr>
            <a:r>
              <a:rPr lang="en-US" sz="1400" dirty="0">
                <a:solidFill>
                  <a:srgbClr val="000000"/>
                </a:solidFill>
                <a:latin typeface="Segoe UI Emoji" pitchFamily="34" charset="0"/>
                <a:ea typeface="Segoe UI Emoji" pitchFamily="34" charset="-122"/>
                <a:cs typeface="Segoe UI Emoji" pitchFamily="34" charset="-120"/>
              </a:rPr>
              <a:t>🔖</a:t>
            </a:r>
            <a:endParaRPr lang="en-US" sz="1400" dirty="0"/>
          </a:p>
        </p:txBody>
      </p:sp>
      <p:sp>
        <p:nvSpPr>
          <p:cNvPr id="33" name="Text 31"/>
          <p:cNvSpPr/>
          <p:nvPr/>
        </p:nvSpPr>
        <p:spPr>
          <a:xfrm>
            <a:off x="9025128" y="3374136"/>
            <a:ext cx="2432304" cy="365760"/>
          </a:xfrm>
          <a:prstGeom prst="rect">
            <a:avLst/>
          </a:prstGeom>
          <a:noFill/>
          <a:ln/>
        </p:spPr>
        <p:txBody>
          <a:bodyPr wrap="square" lIns="0" tIns="0" rIns="0" bIns="0" rtlCol="0" anchor="ctr"/>
          <a:lstStyle/>
          <a:p>
            <a:pPr marL="0" indent="0">
              <a:buNone/>
            </a:pPr>
            <a:r>
              <a:rPr lang="en-US" sz="1500" b="1" dirty="0">
                <a:solidFill>
                  <a:srgbClr val="1F1B3A"/>
                </a:solidFill>
                <a:latin typeface="Calibri" pitchFamily="34" charset="0"/>
                <a:ea typeface="Calibri" pitchFamily="34" charset="-122"/>
                <a:cs typeface="Calibri" pitchFamily="34" charset="-120"/>
              </a:rPr>
              <a:t>Smooth User Experience</a:t>
            </a:r>
            <a:endParaRPr lang="en-US" sz="1500" dirty="0"/>
          </a:p>
        </p:txBody>
      </p:sp>
      <p:sp>
        <p:nvSpPr>
          <p:cNvPr id="34" name="Text 32"/>
          <p:cNvSpPr/>
          <p:nvPr/>
        </p:nvSpPr>
        <p:spPr>
          <a:xfrm>
            <a:off x="8357616" y="3913632"/>
            <a:ext cx="3081528" cy="594360"/>
          </a:xfrm>
          <a:prstGeom prst="rect">
            <a:avLst/>
          </a:prstGeom>
          <a:noFill/>
          <a:ln/>
        </p:spPr>
        <p:txBody>
          <a:bodyPr wrap="square" lIns="0" tIns="0" rIns="0" bIns="0" rtlCol="0" anchor="t"/>
          <a:lstStyle/>
          <a:p>
            <a:pPr marL="0" indent="0">
              <a:buNone/>
            </a:pPr>
            <a:r>
              <a:rPr lang="en-US" sz="1150" dirty="0">
                <a:solidFill>
                  <a:srgbClr val="6B6480"/>
                </a:solidFill>
                <a:latin typeface="Calibri" pitchFamily="34" charset="0"/>
                <a:ea typeface="Calibri" pitchFamily="34" charset="-122"/>
                <a:cs typeface="Calibri" pitchFamily="34" charset="-120"/>
              </a:rPr>
              <a:t>Support search, bookmarks, and category filters seamlessly.</a:t>
            </a:r>
            <a:endParaRPr lang="en-US" sz="1150" dirty="0"/>
          </a:p>
        </p:txBody>
      </p:sp>
      <p:sp>
        <p:nvSpPr>
          <p:cNvPr id="35" name="Text 33"/>
          <p:cNvSpPr/>
          <p:nvPr/>
        </p:nvSpPr>
        <p:spPr>
          <a:xfrm>
            <a:off x="548640" y="6528816"/>
            <a:ext cx="2743200" cy="274320"/>
          </a:xfrm>
          <a:prstGeom prst="rect">
            <a:avLst/>
          </a:prstGeom>
          <a:noFill/>
          <a:ln/>
        </p:spPr>
        <p:txBody>
          <a:bodyPr wrap="square" lIns="0" tIns="0" rIns="0" bIns="0" rtlCol="0" anchor="ctr"/>
          <a:lstStyle/>
          <a:p>
            <a:pPr marL="0" indent="0" algn="l">
              <a:buNone/>
            </a:pPr>
            <a:r>
              <a:rPr lang="en-US" sz="1000" dirty="0">
                <a:solidFill>
                  <a:srgbClr val="6B6480"/>
                </a:solidFill>
                <a:latin typeface="Calibri" pitchFamily="34" charset="0"/>
                <a:ea typeface="Calibri" pitchFamily="34" charset="-122"/>
                <a:cs typeface="Calibri" pitchFamily="34" charset="-120"/>
              </a:rPr>
              <a:t>NewsNest</a:t>
            </a:r>
            <a:endParaRPr lang="en-US" sz="1000" dirty="0"/>
          </a:p>
        </p:txBody>
      </p:sp>
      <p:sp>
        <p:nvSpPr>
          <p:cNvPr id="36" name="Text 34"/>
          <p:cNvSpPr/>
          <p:nvPr/>
        </p:nvSpPr>
        <p:spPr>
          <a:xfrm>
            <a:off x="11183112" y="6528816"/>
            <a:ext cx="457200" cy="274320"/>
          </a:xfrm>
          <a:prstGeom prst="rect">
            <a:avLst/>
          </a:prstGeom>
          <a:noFill/>
          <a:ln/>
        </p:spPr>
        <p:txBody>
          <a:bodyPr wrap="square" lIns="0" tIns="0" rIns="0" bIns="0" rtlCol="0" anchor="ctr"/>
          <a:lstStyle/>
          <a:p>
            <a:pPr marL="0" indent="0" algn="r">
              <a:buNone/>
            </a:pPr>
            <a:r>
              <a:rPr lang="en-US" sz="1000" dirty="0">
                <a:solidFill>
                  <a:srgbClr val="6B6480"/>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91672" cy="685800"/>
          </a:xfrm>
          <a:prstGeom prst="rect">
            <a:avLst/>
          </a:prstGeom>
          <a:noFill/>
          <a:ln/>
        </p:spPr>
        <p:txBody>
          <a:bodyPr wrap="square" lIns="0" tIns="0" rIns="0" bIns="0" rtlCol="0" anchor="ctr"/>
          <a:lstStyle/>
          <a:p>
            <a:pPr marL="0" indent="0" algn="l">
              <a:buNone/>
            </a:pPr>
            <a:r>
              <a:rPr lang="en-US" sz="3200" b="1" dirty="0">
                <a:solidFill>
                  <a:srgbClr val="2A1B5D"/>
                </a:solidFill>
                <a:latin typeface="Cambria" pitchFamily="34" charset="0"/>
                <a:ea typeface="Cambria" pitchFamily="34" charset="-122"/>
                <a:cs typeface="Cambria" pitchFamily="34" charset="-120"/>
              </a:rPr>
              <a:t>Existing System</a:t>
            </a:r>
            <a:endParaRPr lang="en-US" sz="3200" dirty="0"/>
          </a:p>
        </p:txBody>
      </p:sp>
      <p:sp>
        <p:nvSpPr>
          <p:cNvPr id="3" name="Shape 1"/>
          <p:cNvSpPr/>
          <p:nvPr/>
        </p:nvSpPr>
        <p:spPr>
          <a:xfrm>
            <a:off x="548640" y="1042416"/>
            <a:ext cx="502920" cy="41148"/>
          </a:xfrm>
          <a:prstGeom prst="rect">
            <a:avLst/>
          </a:prstGeom>
          <a:solidFill>
            <a:srgbClr val="EC4899"/>
          </a:solidFill>
          <a:ln/>
        </p:spPr>
      </p:sp>
      <p:sp>
        <p:nvSpPr>
          <p:cNvPr id="4" name="Text 2"/>
          <p:cNvSpPr/>
          <p:nvPr/>
        </p:nvSpPr>
        <p:spPr>
          <a:xfrm>
            <a:off x="548640" y="1097280"/>
            <a:ext cx="11091672" cy="365760"/>
          </a:xfrm>
          <a:prstGeom prst="rect">
            <a:avLst/>
          </a:prstGeom>
          <a:noFill/>
          <a:ln/>
        </p:spPr>
        <p:txBody>
          <a:bodyPr wrap="square" lIns="0" tIns="0" rIns="0" bIns="0" rtlCol="0" anchor="ctr"/>
          <a:lstStyle/>
          <a:p>
            <a:pPr marL="0" indent="0" algn="l">
              <a:buNone/>
            </a:pPr>
            <a:r>
              <a:rPr lang="en-US" sz="1400" i="1" dirty="0">
                <a:solidFill>
                  <a:srgbClr val="6B6480"/>
                </a:solidFill>
                <a:latin typeface="Calibri" pitchFamily="34" charset="0"/>
                <a:ea typeface="Calibri" pitchFamily="34" charset="-122"/>
                <a:cs typeface="Calibri" pitchFamily="34" charset="-120"/>
              </a:rPr>
              <a:t>Limitations of current news consumption platforms</a:t>
            </a:r>
            <a:endParaRPr lang="en-US" sz="1400" dirty="0"/>
          </a:p>
        </p:txBody>
      </p:sp>
      <p:sp>
        <p:nvSpPr>
          <p:cNvPr id="5" name="Shape 3"/>
          <p:cNvSpPr/>
          <p:nvPr/>
        </p:nvSpPr>
        <p:spPr>
          <a:xfrm>
            <a:off x="548640" y="1554480"/>
            <a:ext cx="5385816" cy="1920240"/>
          </a:xfrm>
          <a:prstGeom prst="roundRect">
            <a:avLst>
              <a:gd name="adj" fmla="val 4762"/>
            </a:avLst>
          </a:prstGeom>
          <a:solidFill>
            <a:srgbClr val="F6F4FC"/>
          </a:solidFill>
          <a:ln/>
          <a:effectLst>
            <a:outerShdw blurRad="76200" dist="25400" dir="5400000" algn="bl" rotWithShape="0">
              <a:srgbClr val="3A2E6E">
                <a:alpha val="12000"/>
              </a:srgbClr>
            </a:outerShdw>
          </a:effectLst>
        </p:spPr>
      </p:sp>
      <p:sp>
        <p:nvSpPr>
          <p:cNvPr id="6" name="Shape 4"/>
          <p:cNvSpPr/>
          <p:nvPr/>
        </p:nvSpPr>
        <p:spPr>
          <a:xfrm>
            <a:off x="749808" y="1755648"/>
            <a:ext cx="502920" cy="502920"/>
          </a:xfrm>
          <a:prstGeom prst="ellipse">
            <a:avLst/>
          </a:prstGeom>
          <a:solidFill>
            <a:srgbClr val="6C3CE9"/>
          </a:solidFill>
          <a:ln/>
        </p:spPr>
      </p:sp>
      <p:sp>
        <p:nvSpPr>
          <p:cNvPr id="7" name="Text 5"/>
          <p:cNvSpPr/>
          <p:nvPr/>
        </p:nvSpPr>
        <p:spPr>
          <a:xfrm>
            <a:off x="749808" y="1737360"/>
            <a:ext cx="502920" cy="502920"/>
          </a:xfrm>
          <a:prstGeom prst="rect">
            <a:avLst/>
          </a:prstGeom>
          <a:noFill/>
          <a:ln/>
        </p:spPr>
        <p:txBody>
          <a:bodyPr wrap="square" lIns="0" tIns="0" rIns="0" bIns="0" rtlCol="0" anchor="ctr"/>
          <a:lstStyle/>
          <a:p>
            <a:pPr marL="0" indent="0" algn="ctr">
              <a:buNone/>
            </a:pPr>
            <a:r>
              <a:rPr lang="en-US" sz="1400" dirty="0">
                <a:solidFill>
                  <a:srgbClr val="000000"/>
                </a:solidFill>
                <a:latin typeface="Segoe UI Emoji" pitchFamily="34" charset="0"/>
                <a:ea typeface="Segoe UI Emoji" pitchFamily="34" charset="-122"/>
                <a:cs typeface="Segoe UI Emoji" pitchFamily="34" charset="-120"/>
              </a:rPr>
              <a:t>🌐</a:t>
            </a:r>
            <a:endParaRPr lang="en-US" sz="1400" dirty="0"/>
          </a:p>
        </p:txBody>
      </p:sp>
      <p:sp>
        <p:nvSpPr>
          <p:cNvPr id="8" name="Text 6"/>
          <p:cNvSpPr/>
          <p:nvPr/>
        </p:nvSpPr>
        <p:spPr>
          <a:xfrm>
            <a:off x="1417320" y="1700784"/>
            <a:ext cx="4334256" cy="365760"/>
          </a:xfrm>
          <a:prstGeom prst="rect">
            <a:avLst/>
          </a:prstGeom>
          <a:noFill/>
          <a:ln/>
        </p:spPr>
        <p:txBody>
          <a:bodyPr wrap="square" lIns="0" tIns="0" rIns="0" bIns="0" rtlCol="0" anchor="ctr"/>
          <a:lstStyle/>
          <a:p>
            <a:pPr marL="0" indent="0">
              <a:buNone/>
            </a:pPr>
            <a:r>
              <a:rPr lang="en-US" sz="1500" b="1" dirty="0">
                <a:solidFill>
                  <a:srgbClr val="1F1B3A"/>
                </a:solidFill>
                <a:latin typeface="Calibri" pitchFamily="34" charset="0"/>
                <a:ea typeface="Calibri" pitchFamily="34" charset="-122"/>
                <a:cs typeface="Calibri" pitchFamily="34" charset="-120"/>
              </a:rPr>
              <a:t>Too Many Websites</a:t>
            </a:r>
            <a:endParaRPr lang="en-US" sz="1500" dirty="0"/>
          </a:p>
        </p:txBody>
      </p:sp>
      <p:sp>
        <p:nvSpPr>
          <p:cNvPr id="9" name="Text 7"/>
          <p:cNvSpPr/>
          <p:nvPr/>
        </p:nvSpPr>
        <p:spPr>
          <a:xfrm>
            <a:off x="749808" y="2240280"/>
            <a:ext cx="4983480" cy="1097280"/>
          </a:xfrm>
          <a:prstGeom prst="rect">
            <a:avLst/>
          </a:prstGeom>
          <a:noFill/>
          <a:ln/>
        </p:spPr>
        <p:txBody>
          <a:bodyPr wrap="square" lIns="0" tIns="0" rIns="0" bIns="0" rtlCol="0" anchor="t"/>
          <a:lstStyle/>
          <a:p>
            <a:pPr marL="0" indent="0">
              <a:buNone/>
            </a:pPr>
            <a:r>
              <a:rPr lang="en-US" sz="1150" dirty="0">
                <a:solidFill>
                  <a:srgbClr val="6B6480"/>
                </a:solidFill>
                <a:latin typeface="Calibri" pitchFamily="34" charset="0"/>
                <a:ea typeface="Calibri" pitchFamily="34" charset="-122"/>
                <a:cs typeface="Calibri" pitchFamily="34" charset="-120"/>
              </a:rPr>
              <a:t>Readers juggle multiple news portals and apps just to stay informed across topics.</a:t>
            </a:r>
            <a:endParaRPr lang="en-US" sz="1150" dirty="0"/>
          </a:p>
        </p:txBody>
      </p:sp>
      <p:sp>
        <p:nvSpPr>
          <p:cNvPr id="10" name="Shape 8"/>
          <p:cNvSpPr/>
          <p:nvPr/>
        </p:nvSpPr>
        <p:spPr>
          <a:xfrm>
            <a:off x="6254496" y="1554480"/>
            <a:ext cx="5385816" cy="1920240"/>
          </a:xfrm>
          <a:prstGeom prst="roundRect">
            <a:avLst>
              <a:gd name="adj" fmla="val 4762"/>
            </a:avLst>
          </a:prstGeom>
          <a:solidFill>
            <a:srgbClr val="F6F4FC"/>
          </a:solidFill>
          <a:ln/>
          <a:effectLst>
            <a:outerShdw blurRad="76200" dist="25400" dir="5400000" algn="bl" rotWithShape="0">
              <a:srgbClr val="3A2E6E">
                <a:alpha val="12000"/>
              </a:srgbClr>
            </a:outerShdw>
          </a:effectLst>
        </p:spPr>
      </p:sp>
      <p:sp>
        <p:nvSpPr>
          <p:cNvPr id="11" name="Shape 9"/>
          <p:cNvSpPr/>
          <p:nvPr/>
        </p:nvSpPr>
        <p:spPr>
          <a:xfrm>
            <a:off x="6455664" y="1755648"/>
            <a:ext cx="502920" cy="502920"/>
          </a:xfrm>
          <a:prstGeom prst="ellipse">
            <a:avLst/>
          </a:prstGeom>
          <a:solidFill>
            <a:srgbClr val="6C3CE9"/>
          </a:solidFill>
          <a:ln/>
        </p:spPr>
      </p:sp>
      <p:sp>
        <p:nvSpPr>
          <p:cNvPr id="12" name="Text 10"/>
          <p:cNvSpPr/>
          <p:nvPr/>
        </p:nvSpPr>
        <p:spPr>
          <a:xfrm>
            <a:off x="6455664" y="1737360"/>
            <a:ext cx="502920" cy="502920"/>
          </a:xfrm>
          <a:prstGeom prst="rect">
            <a:avLst/>
          </a:prstGeom>
          <a:noFill/>
          <a:ln/>
        </p:spPr>
        <p:txBody>
          <a:bodyPr wrap="square" lIns="0" tIns="0" rIns="0" bIns="0" rtlCol="0" anchor="ctr"/>
          <a:lstStyle/>
          <a:p>
            <a:pPr marL="0" indent="0" algn="ctr">
              <a:buNone/>
            </a:pPr>
            <a:r>
              <a:rPr lang="en-US" sz="1400" dirty="0">
                <a:solidFill>
                  <a:srgbClr val="000000"/>
                </a:solidFill>
                <a:latin typeface="Segoe UI Emoji" pitchFamily="34" charset="0"/>
                <a:ea typeface="Segoe UI Emoji" pitchFamily="34" charset="-122"/>
                <a:cs typeface="Segoe UI Emoji" pitchFamily="34" charset="-120"/>
              </a:rPr>
              <a:t>📚</a:t>
            </a:r>
            <a:endParaRPr lang="en-US" sz="1400" dirty="0"/>
          </a:p>
        </p:txBody>
      </p:sp>
      <p:sp>
        <p:nvSpPr>
          <p:cNvPr id="13" name="Text 11"/>
          <p:cNvSpPr/>
          <p:nvPr/>
        </p:nvSpPr>
        <p:spPr>
          <a:xfrm>
            <a:off x="7123176" y="1700784"/>
            <a:ext cx="4334256" cy="365760"/>
          </a:xfrm>
          <a:prstGeom prst="rect">
            <a:avLst/>
          </a:prstGeom>
          <a:noFill/>
          <a:ln/>
        </p:spPr>
        <p:txBody>
          <a:bodyPr wrap="square" lIns="0" tIns="0" rIns="0" bIns="0" rtlCol="0" anchor="ctr"/>
          <a:lstStyle/>
          <a:p>
            <a:pPr marL="0" indent="0">
              <a:buNone/>
            </a:pPr>
            <a:r>
              <a:rPr lang="en-US" sz="1500" b="1" dirty="0">
                <a:solidFill>
                  <a:srgbClr val="1F1B3A"/>
                </a:solidFill>
                <a:latin typeface="Calibri" pitchFamily="34" charset="0"/>
                <a:ea typeface="Calibri" pitchFamily="34" charset="-122"/>
                <a:cs typeface="Calibri" pitchFamily="34" charset="-120"/>
              </a:rPr>
              <a:t>Information Overload</a:t>
            </a:r>
            <a:endParaRPr lang="en-US" sz="1500" dirty="0"/>
          </a:p>
        </p:txBody>
      </p:sp>
      <p:sp>
        <p:nvSpPr>
          <p:cNvPr id="14" name="Text 12"/>
          <p:cNvSpPr/>
          <p:nvPr/>
        </p:nvSpPr>
        <p:spPr>
          <a:xfrm>
            <a:off x="6455664" y="2240280"/>
            <a:ext cx="4983480" cy="1097280"/>
          </a:xfrm>
          <a:prstGeom prst="rect">
            <a:avLst/>
          </a:prstGeom>
          <a:noFill/>
          <a:ln/>
        </p:spPr>
        <p:txBody>
          <a:bodyPr wrap="square" lIns="0" tIns="0" rIns="0" bIns="0" rtlCol="0" anchor="t"/>
          <a:lstStyle/>
          <a:p>
            <a:pPr marL="0" indent="0">
              <a:buNone/>
            </a:pPr>
            <a:r>
              <a:rPr lang="en-US" sz="1150" dirty="0">
                <a:solidFill>
                  <a:srgbClr val="6B6480"/>
                </a:solidFill>
                <a:latin typeface="Calibri" pitchFamily="34" charset="0"/>
                <a:ea typeface="Calibri" pitchFamily="34" charset="-122"/>
                <a:cs typeface="Calibri" pitchFamily="34" charset="-120"/>
              </a:rPr>
              <a:t>Homepages show a flood of unfiltered stories with no relevance to individual interests.</a:t>
            </a:r>
            <a:endParaRPr lang="en-US" sz="1150" dirty="0"/>
          </a:p>
        </p:txBody>
      </p:sp>
      <p:sp>
        <p:nvSpPr>
          <p:cNvPr id="15" name="Shape 13"/>
          <p:cNvSpPr/>
          <p:nvPr/>
        </p:nvSpPr>
        <p:spPr>
          <a:xfrm>
            <a:off x="548640" y="3730752"/>
            <a:ext cx="5385816" cy="1920240"/>
          </a:xfrm>
          <a:prstGeom prst="roundRect">
            <a:avLst>
              <a:gd name="adj" fmla="val 4762"/>
            </a:avLst>
          </a:prstGeom>
          <a:solidFill>
            <a:srgbClr val="F6F4FC"/>
          </a:solidFill>
          <a:ln/>
          <a:effectLst>
            <a:outerShdw blurRad="76200" dist="25400" dir="5400000" algn="bl" rotWithShape="0">
              <a:srgbClr val="3A2E6E">
                <a:alpha val="12000"/>
              </a:srgbClr>
            </a:outerShdw>
          </a:effectLst>
        </p:spPr>
      </p:sp>
      <p:sp>
        <p:nvSpPr>
          <p:cNvPr id="16" name="Shape 14"/>
          <p:cNvSpPr/>
          <p:nvPr/>
        </p:nvSpPr>
        <p:spPr>
          <a:xfrm>
            <a:off x="749808" y="3931920"/>
            <a:ext cx="502920" cy="502920"/>
          </a:xfrm>
          <a:prstGeom prst="ellipse">
            <a:avLst/>
          </a:prstGeom>
          <a:solidFill>
            <a:srgbClr val="6C3CE9"/>
          </a:solidFill>
          <a:ln/>
        </p:spPr>
      </p:sp>
      <p:sp>
        <p:nvSpPr>
          <p:cNvPr id="17" name="Text 15"/>
          <p:cNvSpPr/>
          <p:nvPr/>
        </p:nvSpPr>
        <p:spPr>
          <a:xfrm>
            <a:off x="749808" y="3913632"/>
            <a:ext cx="502920" cy="502920"/>
          </a:xfrm>
          <a:prstGeom prst="rect">
            <a:avLst/>
          </a:prstGeom>
          <a:noFill/>
          <a:ln/>
        </p:spPr>
        <p:txBody>
          <a:bodyPr wrap="square" lIns="0" tIns="0" rIns="0" bIns="0" rtlCol="0" anchor="ctr"/>
          <a:lstStyle/>
          <a:p>
            <a:pPr marL="0" indent="0" algn="ctr">
              <a:buNone/>
            </a:pPr>
            <a:r>
              <a:rPr lang="en-US" sz="1400" dirty="0">
                <a:solidFill>
                  <a:srgbClr val="000000"/>
                </a:solidFill>
                <a:latin typeface="Segoe UI Emoji" pitchFamily="34" charset="0"/>
                <a:ea typeface="Segoe UI Emoji" pitchFamily="34" charset="-122"/>
                <a:cs typeface="Segoe UI Emoji" pitchFamily="34" charset="-120"/>
              </a:rPr>
              <a:t>🎯</a:t>
            </a:r>
            <a:endParaRPr lang="en-US" sz="1400" dirty="0"/>
          </a:p>
        </p:txBody>
      </p:sp>
      <p:sp>
        <p:nvSpPr>
          <p:cNvPr id="18" name="Text 16"/>
          <p:cNvSpPr/>
          <p:nvPr/>
        </p:nvSpPr>
        <p:spPr>
          <a:xfrm>
            <a:off x="1417320" y="3877056"/>
            <a:ext cx="4334256" cy="365760"/>
          </a:xfrm>
          <a:prstGeom prst="rect">
            <a:avLst/>
          </a:prstGeom>
          <a:noFill/>
          <a:ln/>
        </p:spPr>
        <p:txBody>
          <a:bodyPr wrap="square" lIns="0" tIns="0" rIns="0" bIns="0" rtlCol="0" anchor="ctr"/>
          <a:lstStyle/>
          <a:p>
            <a:pPr marL="0" indent="0">
              <a:buNone/>
            </a:pPr>
            <a:r>
              <a:rPr lang="en-US" sz="1500" b="1" dirty="0">
                <a:solidFill>
                  <a:srgbClr val="1F1B3A"/>
                </a:solidFill>
                <a:latin typeface="Calibri" pitchFamily="34" charset="0"/>
                <a:ea typeface="Calibri" pitchFamily="34" charset="-122"/>
                <a:cs typeface="Calibri" pitchFamily="34" charset="-120"/>
              </a:rPr>
              <a:t>Irrelevant Recommendations</a:t>
            </a:r>
            <a:endParaRPr lang="en-US" sz="1500" dirty="0"/>
          </a:p>
        </p:txBody>
      </p:sp>
      <p:sp>
        <p:nvSpPr>
          <p:cNvPr id="19" name="Text 17"/>
          <p:cNvSpPr/>
          <p:nvPr/>
        </p:nvSpPr>
        <p:spPr>
          <a:xfrm>
            <a:off x="749808" y="4416552"/>
            <a:ext cx="4983480" cy="1097280"/>
          </a:xfrm>
          <a:prstGeom prst="rect">
            <a:avLst/>
          </a:prstGeom>
          <a:noFill/>
          <a:ln/>
        </p:spPr>
        <p:txBody>
          <a:bodyPr wrap="square" lIns="0" tIns="0" rIns="0" bIns="0" rtlCol="0" anchor="t"/>
          <a:lstStyle/>
          <a:p>
            <a:pPr marL="0" indent="0">
              <a:buNone/>
            </a:pPr>
            <a:r>
              <a:rPr lang="en-US" sz="1150" dirty="0">
                <a:solidFill>
                  <a:srgbClr val="6B6480"/>
                </a:solidFill>
                <a:latin typeface="Calibri" pitchFamily="34" charset="0"/>
                <a:ea typeface="Calibri" pitchFamily="34" charset="-122"/>
                <a:cs typeface="Calibri" pitchFamily="34" charset="-120"/>
              </a:rPr>
              <a:t>Generic algorithms push trending stories rather than what a specific user actually cares about.</a:t>
            </a:r>
            <a:endParaRPr lang="en-US" sz="1150" dirty="0"/>
          </a:p>
        </p:txBody>
      </p:sp>
      <p:sp>
        <p:nvSpPr>
          <p:cNvPr id="20" name="Shape 18"/>
          <p:cNvSpPr/>
          <p:nvPr/>
        </p:nvSpPr>
        <p:spPr>
          <a:xfrm>
            <a:off x="6254496" y="3730752"/>
            <a:ext cx="5385816" cy="1920240"/>
          </a:xfrm>
          <a:prstGeom prst="roundRect">
            <a:avLst>
              <a:gd name="adj" fmla="val 4762"/>
            </a:avLst>
          </a:prstGeom>
          <a:solidFill>
            <a:srgbClr val="F6F4FC"/>
          </a:solidFill>
          <a:ln/>
          <a:effectLst>
            <a:outerShdw blurRad="76200" dist="25400" dir="5400000" algn="bl" rotWithShape="0">
              <a:srgbClr val="3A2E6E">
                <a:alpha val="12000"/>
              </a:srgbClr>
            </a:outerShdw>
          </a:effectLst>
        </p:spPr>
      </p:sp>
      <p:sp>
        <p:nvSpPr>
          <p:cNvPr id="21" name="Shape 19"/>
          <p:cNvSpPr/>
          <p:nvPr/>
        </p:nvSpPr>
        <p:spPr>
          <a:xfrm>
            <a:off x="6455664" y="3931920"/>
            <a:ext cx="502920" cy="502920"/>
          </a:xfrm>
          <a:prstGeom prst="ellipse">
            <a:avLst/>
          </a:prstGeom>
          <a:solidFill>
            <a:srgbClr val="6C3CE9"/>
          </a:solidFill>
          <a:ln/>
        </p:spPr>
      </p:sp>
      <p:sp>
        <p:nvSpPr>
          <p:cNvPr id="22" name="Text 20"/>
          <p:cNvSpPr/>
          <p:nvPr/>
        </p:nvSpPr>
        <p:spPr>
          <a:xfrm>
            <a:off x="6455664" y="3913632"/>
            <a:ext cx="502920" cy="502920"/>
          </a:xfrm>
          <a:prstGeom prst="rect">
            <a:avLst/>
          </a:prstGeom>
          <a:noFill/>
          <a:ln/>
        </p:spPr>
        <p:txBody>
          <a:bodyPr wrap="square" lIns="0" tIns="0" rIns="0" bIns="0" rtlCol="0" anchor="ctr"/>
          <a:lstStyle/>
          <a:p>
            <a:pPr marL="0" indent="0" algn="ctr">
              <a:buNone/>
            </a:pPr>
            <a:r>
              <a:rPr lang="en-US" sz="1400" dirty="0">
                <a:solidFill>
                  <a:srgbClr val="000000"/>
                </a:solidFill>
                <a:latin typeface="Segoe UI Emoji" pitchFamily="34" charset="0"/>
                <a:ea typeface="Segoe UI Emoji" pitchFamily="34" charset="-122"/>
                <a:cs typeface="Segoe UI Emoji" pitchFamily="34" charset="-120"/>
              </a:rPr>
              <a:t>⏳</a:t>
            </a:r>
            <a:endParaRPr lang="en-US" sz="1400" dirty="0"/>
          </a:p>
        </p:txBody>
      </p:sp>
      <p:sp>
        <p:nvSpPr>
          <p:cNvPr id="23" name="Text 21"/>
          <p:cNvSpPr/>
          <p:nvPr/>
        </p:nvSpPr>
        <p:spPr>
          <a:xfrm>
            <a:off x="7123176" y="3877056"/>
            <a:ext cx="4334256" cy="365760"/>
          </a:xfrm>
          <a:prstGeom prst="rect">
            <a:avLst/>
          </a:prstGeom>
          <a:noFill/>
          <a:ln/>
        </p:spPr>
        <p:txBody>
          <a:bodyPr wrap="square" lIns="0" tIns="0" rIns="0" bIns="0" rtlCol="0" anchor="ctr"/>
          <a:lstStyle/>
          <a:p>
            <a:pPr marL="0" indent="0">
              <a:buNone/>
            </a:pPr>
            <a:r>
              <a:rPr lang="en-US" sz="1500" b="1" dirty="0">
                <a:solidFill>
                  <a:srgbClr val="1F1B3A"/>
                </a:solidFill>
                <a:latin typeface="Calibri" pitchFamily="34" charset="0"/>
                <a:ea typeface="Calibri" pitchFamily="34" charset="-122"/>
                <a:cs typeface="Calibri" pitchFamily="34" charset="-120"/>
              </a:rPr>
              <a:t>Time-Consuming</a:t>
            </a:r>
            <a:endParaRPr lang="en-US" sz="1500" dirty="0"/>
          </a:p>
        </p:txBody>
      </p:sp>
      <p:sp>
        <p:nvSpPr>
          <p:cNvPr id="24" name="Text 22"/>
          <p:cNvSpPr/>
          <p:nvPr/>
        </p:nvSpPr>
        <p:spPr>
          <a:xfrm>
            <a:off x="6455664" y="4416552"/>
            <a:ext cx="4983480" cy="1097280"/>
          </a:xfrm>
          <a:prstGeom prst="rect">
            <a:avLst/>
          </a:prstGeom>
          <a:noFill/>
          <a:ln/>
        </p:spPr>
        <p:txBody>
          <a:bodyPr wrap="square" lIns="0" tIns="0" rIns="0" bIns="0" rtlCol="0" anchor="t"/>
          <a:lstStyle/>
          <a:p>
            <a:pPr marL="0" indent="0">
              <a:buNone/>
            </a:pPr>
            <a:r>
              <a:rPr lang="en-US" sz="1150" dirty="0">
                <a:solidFill>
                  <a:srgbClr val="6B6480"/>
                </a:solidFill>
                <a:latin typeface="Calibri" pitchFamily="34" charset="0"/>
                <a:ea typeface="Calibri" pitchFamily="34" charset="-122"/>
                <a:cs typeface="Calibri" pitchFamily="34" charset="-120"/>
              </a:rPr>
              <a:t>Manually searching and cross-checking sources eats into users' daily routine.</a:t>
            </a:r>
            <a:endParaRPr lang="en-US" sz="1150" dirty="0"/>
          </a:p>
        </p:txBody>
      </p:sp>
      <p:sp>
        <p:nvSpPr>
          <p:cNvPr id="25" name="Text 23"/>
          <p:cNvSpPr/>
          <p:nvPr/>
        </p:nvSpPr>
        <p:spPr>
          <a:xfrm>
            <a:off x="548640" y="6528816"/>
            <a:ext cx="2743200" cy="274320"/>
          </a:xfrm>
          <a:prstGeom prst="rect">
            <a:avLst/>
          </a:prstGeom>
          <a:noFill/>
          <a:ln/>
        </p:spPr>
        <p:txBody>
          <a:bodyPr wrap="square" lIns="0" tIns="0" rIns="0" bIns="0" rtlCol="0" anchor="ctr"/>
          <a:lstStyle/>
          <a:p>
            <a:pPr marL="0" indent="0" algn="l">
              <a:buNone/>
            </a:pPr>
            <a:r>
              <a:rPr lang="en-US" sz="1000" dirty="0">
                <a:solidFill>
                  <a:srgbClr val="6B6480"/>
                </a:solidFill>
                <a:latin typeface="Calibri" pitchFamily="34" charset="0"/>
                <a:ea typeface="Calibri" pitchFamily="34" charset="-122"/>
                <a:cs typeface="Calibri" pitchFamily="34" charset="-120"/>
              </a:rPr>
              <a:t>NewsNest</a:t>
            </a:r>
            <a:endParaRPr lang="en-US" sz="1000" dirty="0"/>
          </a:p>
        </p:txBody>
      </p:sp>
      <p:sp>
        <p:nvSpPr>
          <p:cNvPr id="26" name="Text 24"/>
          <p:cNvSpPr/>
          <p:nvPr/>
        </p:nvSpPr>
        <p:spPr>
          <a:xfrm>
            <a:off x="11183112" y="6528816"/>
            <a:ext cx="457200" cy="274320"/>
          </a:xfrm>
          <a:prstGeom prst="rect">
            <a:avLst/>
          </a:prstGeom>
          <a:noFill/>
          <a:ln/>
        </p:spPr>
        <p:txBody>
          <a:bodyPr wrap="square" lIns="0" tIns="0" rIns="0" bIns="0" rtlCol="0" anchor="ctr"/>
          <a:lstStyle/>
          <a:p>
            <a:pPr marL="0" indent="0" algn="r">
              <a:buNone/>
            </a:pPr>
            <a:r>
              <a:rPr lang="en-US" sz="1000" dirty="0">
                <a:solidFill>
                  <a:srgbClr val="6B6480"/>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91672" cy="685800"/>
          </a:xfrm>
          <a:prstGeom prst="rect">
            <a:avLst/>
          </a:prstGeom>
          <a:noFill/>
          <a:ln/>
        </p:spPr>
        <p:txBody>
          <a:bodyPr wrap="square" lIns="0" tIns="0" rIns="0" bIns="0" rtlCol="0" anchor="ctr"/>
          <a:lstStyle/>
          <a:p>
            <a:pPr marL="0" indent="0" algn="l">
              <a:buNone/>
            </a:pPr>
            <a:r>
              <a:rPr lang="en-US" sz="3200" b="1" dirty="0">
                <a:solidFill>
                  <a:srgbClr val="2A1B5D"/>
                </a:solidFill>
                <a:latin typeface="Cambria" pitchFamily="34" charset="0"/>
                <a:ea typeface="Cambria" pitchFamily="34" charset="-122"/>
                <a:cs typeface="Cambria" pitchFamily="34" charset="-120"/>
              </a:rPr>
              <a:t>Proposed System</a:t>
            </a:r>
            <a:endParaRPr lang="en-US" sz="3200" dirty="0"/>
          </a:p>
        </p:txBody>
      </p:sp>
      <p:sp>
        <p:nvSpPr>
          <p:cNvPr id="3" name="Shape 1"/>
          <p:cNvSpPr/>
          <p:nvPr/>
        </p:nvSpPr>
        <p:spPr>
          <a:xfrm>
            <a:off x="548640" y="1042416"/>
            <a:ext cx="502920" cy="41148"/>
          </a:xfrm>
          <a:prstGeom prst="rect">
            <a:avLst/>
          </a:prstGeom>
          <a:solidFill>
            <a:srgbClr val="EC4899"/>
          </a:solidFill>
          <a:ln/>
        </p:spPr>
      </p:sp>
      <p:sp>
        <p:nvSpPr>
          <p:cNvPr id="4" name="Text 2"/>
          <p:cNvSpPr/>
          <p:nvPr/>
        </p:nvSpPr>
        <p:spPr>
          <a:xfrm>
            <a:off x="548640" y="1097280"/>
            <a:ext cx="11091672" cy="365760"/>
          </a:xfrm>
          <a:prstGeom prst="rect">
            <a:avLst/>
          </a:prstGeom>
          <a:noFill/>
          <a:ln/>
        </p:spPr>
        <p:txBody>
          <a:bodyPr wrap="square" lIns="0" tIns="0" rIns="0" bIns="0" rtlCol="0" anchor="ctr"/>
          <a:lstStyle/>
          <a:p>
            <a:pPr marL="0" indent="0" algn="l">
              <a:buNone/>
            </a:pPr>
            <a:r>
              <a:rPr lang="en-US" sz="1400" i="1" dirty="0">
                <a:solidFill>
                  <a:srgbClr val="6B6480"/>
                </a:solidFill>
                <a:latin typeface="Calibri" pitchFamily="34" charset="0"/>
                <a:ea typeface="Calibri" pitchFamily="34" charset="-122"/>
                <a:cs typeface="Calibri" pitchFamily="34" charset="-120"/>
              </a:rPr>
              <a:t>How NewsNest directly solves some existing problem</a:t>
            </a:r>
            <a:endParaRPr lang="en-US" sz="1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1672" cy="4343400"/>
        </p:xfrm>
        <a:graphic>
          <a:graphicData uri="http://schemas.openxmlformats.org/drawingml/2006/table">
            <a:tbl>
              <a:tblPr/>
              <a:tblGrid>
                <a:gridCol w="5541264">
                  <a:extLst>
                    <a:ext uri="{9D8B030D-6E8A-4147-A177-3AD203B41FA5}">
                      <a16:colId xmlns:a16="http://schemas.microsoft.com/office/drawing/2014/main" val="20000"/>
                    </a:ext>
                  </a:extLst>
                </a:gridCol>
                <a:gridCol w="5550408">
                  <a:extLst>
                    <a:ext uri="{9D8B030D-6E8A-4147-A177-3AD203B41FA5}">
                      <a16:colId xmlns:a16="http://schemas.microsoft.com/office/drawing/2014/main" val="20001"/>
                    </a:ext>
                  </a:extLst>
                </a:gridCol>
              </a:tblGrid>
              <a:tr h="502920">
                <a:tc>
                  <a:txBody>
                    <a:bodyPr/>
                    <a:lstStyle/>
                    <a:p>
                      <a:pPr marL="0" indent="0" algn="l">
                        <a:buNone/>
                      </a:pPr>
                      <a:r>
                        <a:rPr lang="en-US" sz="1350" b="1" dirty="0">
                          <a:solidFill>
                            <a:srgbClr val="FFFFFF"/>
                          </a:solidFill>
                          <a:latin typeface="Calibri" pitchFamily="34" charset="0"/>
                          <a:ea typeface="Calibri" pitchFamily="34" charset="-122"/>
                          <a:cs typeface="Calibri" pitchFamily="34" charset="-120"/>
                        </a:rPr>
                        <a:t>Existing System</a:t>
                      </a:r>
                      <a:endParaRPr lang="en-US" sz="1350" dirty="0">
                        <a:latin typeface="Calibri" charset="0"/>
                        <a:ea typeface="Calibri" charset="0"/>
                        <a:cs typeface="Calibri" charset="0"/>
                      </a:endParaRPr>
                    </a:p>
                  </a:txBody>
                  <a:tcPr anchor="ctr">
                    <a:lnL w="9525" cap="flat" cmpd="sng" algn="ctr">
                      <a:solidFill>
                        <a:srgbClr val="E5DFF5"/>
                      </a:solidFill>
                      <a:prstDash val="solid"/>
                      <a:round/>
                      <a:headEnd type="none" w="med" len="med"/>
                      <a:tailEnd type="none" w="med" len="med"/>
                    </a:lnL>
                    <a:lnR w="9525" cap="flat" cmpd="sng" algn="ctr">
                      <a:solidFill>
                        <a:srgbClr val="E5DFF5"/>
                      </a:solidFill>
                      <a:prstDash val="solid"/>
                      <a:round/>
                      <a:headEnd type="none" w="med" len="med"/>
                      <a:tailEnd type="none" w="med" len="med"/>
                    </a:lnR>
                    <a:lnT w="9525" cap="flat" cmpd="sng" algn="ctr">
                      <a:solidFill>
                        <a:srgbClr val="E5DFF5"/>
                      </a:solidFill>
                      <a:prstDash val="solid"/>
                      <a:round/>
                      <a:headEnd type="none" w="med" len="med"/>
                      <a:tailEnd type="none" w="med" len="med"/>
                    </a:lnT>
                    <a:lnB w="9525" cap="flat" cmpd="sng" algn="ctr">
                      <a:solidFill>
                        <a:srgbClr val="E5DFF5"/>
                      </a:solidFill>
                      <a:prstDash val="solid"/>
                      <a:round/>
                      <a:headEnd type="none" w="med" len="med"/>
                      <a:tailEnd type="none" w="med" len="med"/>
                    </a:lnB>
                    <a:solidFill>
                      <a:srgbClr val="6C3CE9"/>
                    </a:solidFill>
                  </a:tcPr>
                </a:tc>
                <a:tc>
                  <a:txBody>
                    <a:bodyPr/>
                    <a:lstStyle/>
                    <a:p>
                      <a:pPr marL="0" indent="0" algn="l">
                        <a:buNone/>
                      </a:pPr>
                      <a:r>
                        <a:rPr lang="en-US" sz="1350" b="1" dirty="0">
                          <a:solidFill>
                            <a:srgbClr val="FFFFFF"/>
                          </a:solidFill>
                          <a:latin typeface="Calibri" pitchFamily="34" charset="0"/>
                          <a:ea typeface="Calibri" pitchFamily="34" charset="-122"/>
                          <a:cs typeface="Calibri" pitchFamily="34" charset="-120"/>
                        </a:rPr>
                        <a:t>NewsNest (Proposed)</a:t>
                      </a:r>
                      <a:endParaRPr lang="en-US" sz="1350" dirty="0">
                        <a:latin typeface="Calibri" charset="0"/>
                        <a:ea typeface="Calibri" charset="0"/>
                        <a:cs typeface="Calibri" charset="0"/>
                      </a:endParaRPr>
                    </a:p>
                  </a:txBody>
                  <a:tcPr anchor="ctr">
                    <a:lnL w="9525" cap="flat" cmpd="sng" algn="ctr">
                      <a:solidFill>
                        <a:srgbClr val="E5DFF5"/>
                      </a:solidFill>
                      <a:prstDash val="solid"/>
                      <a:round/>
                      <a:headEnd type="none" w="med" len="med"/>
                      <a:tailEnd type="none" w="med" len="med"/>
                    </a:lnL>
                    <a:lnR w="9525" cap="flat" cmpd="sng" algn="ctr">
                      <a:solidFill>
                        <a:srgbClr val="E5DFF5"/>
                      </a:solidFill>
                      <a:prstDash val="solid"/>
                      <a:round/>
                      <a:headEnd type="none" w="med" len="med"/>
                      <a:tailEnd type="none" w="med" len="med"/>
                    </a:lnR>
                    <a:lnT w="9525" cap="flat" cmpd="sng" algn="ctr">
                      <a:solidFill>
                        <a:srgbClr val="E5DFF5"/>
                      </a:solidFill>
                      <a:prstDash val="solid"/>
                      <a:round/>
                      <a:headEnd type="none" w="med" len="med"/>
                      <a:tailEnd type="none" w="med" len="med"/>
                    </a:lnT>
                    <a:lnB w="9525" cap="flat" cmpd="sng" algn="ctr">
                      <a:solidFill>
                        <a:srgbClr val="E5DFF5"/>
                      </a:solidFill>
                      <a:prstDash val="solid"/>
                      <a:round/>
                      <a:headEnd type="none" w="med" len="med"/>
                      <a:tailEnd type="none" w="med" len="med"/>
                    </a:lnB>
                    <a:solidFill>
                      <a:srgbClr val="6C3CE9"/>
                    </a:solidFill>
                  </a:tcPr>
                </a:tc>
                <a:extLst>
                  <a:ext uri="{0D108BD9-81ED-4DB2-BD59-A6C34878D82A}">
                    <a16:rowId xmlns:a16="http://schemas.microsoft.com/office/drawing/2014/main" val="10000"/>
                  </a:ext>
                </a:extLst>
              </a:tr>
              <a:tr h="640080">
                <a:tc>
                  <a:txBody>
                    <a:bodyPr/>
                    <a:lstStyle/>
                    <a:p>
                      <a:pPr marL="0" indent="0" algn="l">
                        <a:buNone/>
                      </a:pPr>
                      <a:r>
                        <a:rPr lang="en-US" sz="1200" dirty="0">
                          <a:solidFill>
                            <a:srgbClr val="6B6480"/>
                          </a:solidFill>
                          <a:latin typeface="Calibri" pitchFamily="34" charset="0"/>
                          <a:ea typeface="Calibri" pitchFamily="34" charset="-122"/>
                          <a:cs typeface="Calibri" pitchFamily="34" charset="-120"/>
                        </a:rPr>
                        <a:t>Multiple scattered news websites</a:t>
                      </a:r>
                      <a:endParaRPr lang="en-US" sz="1200" dirty="0">
                        <a:latin typeface="Calibri" charset="0"/>
                        <a:ea typeface="Calibri" charset="0"/>
                        <a:cs typeface="Calibri" charset="0"/>
                      </a:endParaRPr>
                    </a:p>
                  </a:txBody>
                  <a:tcPr anchor="ctr">
                    <a:lnL w="9525" cap="flat" cmpd="sng" algn="ctr">
                      <a:solidFill>
                        <a:srgbClr val="E5DFF5"/>
                      </a:solidFill>
                      <a:prstDash val="solid"/>
                      <a:round/>
                      <a:headEnd type="none" w="med" len="med"/>
                      <a:tailEnd type="none" w="med" len="med"/>
                    </a:lnL>
                    <a:lnR w="9525" cap="flat" cmpd="sng" algn="ctr">
                      <a:solidFill>
                        <a:srgbClr val="E5DFF5"/>
                      </a:solidFill>
                      <a:prstDash val="solid"/>
                      <a:round/>
                      <a:headEnd type="none" w="med" len="med"/>
                      <a:tailEnd type="none" w="med" len="med"/>
                    </a:lnR>
                    <a:lnT w="9525" cap="flat" cmpd="sng" algn="ctr">
                      <a:solidFill>
                        <a:srgbClr val="E5DFF5"/>
                      </a:solidFill>
                      <a:prstDash val="solid"/>
                      <a:round/>
                      <a:headEnd type="none" w="med" len="med"/>
                      <a:tailEnd type="none" w="med" len="med"/>
                    </a:lnT>
                    <a:lnB w="9525" cap="flat" cmpd="sng" algn="ctr">
                      <a:solidFill>
                        <a:srgbClr val="E5DFF5"/>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F1B3A"/>
                          </a:solidFill>
                          <a:latin typeface="Calibri" pitchFamily="34" charset="0"/>
                          <a:ea typeface="Calibri" pitchFamily="34" charset="-122"/>
                          <a:cs typeface="Calibri" pitchFamily="34" charset="-120"/>
                        </a:rPr>
                        <a:t>Single unified platform, one News API</a:t>
                      </a:r>
                      <a:endParaRPr lang="en-US" sz="1200" dirty="0">
                        <a:latin typeface="Calibri" charset="0"/>
                        <a:ea typeface="Calibri" charset="0"/>
                        <a:cs typeface="Calibri" charset="0"/>
                      </a:endParaRPr>
                    </a:p>
                  </a:txBody>
                  <a:tcPr anchor="ctr">
                    <a:lnL w="9525" cap="flat" cmpd="sng" algn="ctr">
                      <a:solidFill>
                        <a:srgbClr val="E5DFF5"/>
                      </a:solidFill>
                      <a:prstDash val="solid"/>
                      <a:round/>
                      <a:headEnd type="none" w="med" len="med"/>
                      <a:tailEnd type="none" w="med" len="med"/>
                    </a:lnL>
                    <a:lnR w="9525" cap="flat" cmpd="sng" algn="ctr">
                      <a:solidFill>
                        <a:srgbClr val="E5DFF5"/>
                      </a:solidFill>
                      <a:prstDash val="solid"/>
                      <a:round/>
                      <a:headEnd type="none" w="med" len="med"/>
                      <a:tailEnd type="none" w="med" len="med"/>
                    </a:lnR>
                    <a:lnT w="9525" cap="flat" cmpd="sng" algn="ctr">
                      <a:solidFill>
                        <a:srgbClr val="E5DFF5"/>
                      </a:solidFill>
                      <a:prstDash val="solid"/>
                      <a:round/>
                      <a:headEnd type="none" w="med" len="med"/>
                      <a:tailEnd type="none" w="med" len="med"/>
                    </a:lnT>
                    <a:lnB w="9525" cap="flat" cmpd="sng" algn="ctr">
                      <a:solidFill>
                        <a:srgbClr val="E5DFF5"/>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40080">
                <a:tc>
                  <a:txBody>
                    <a:bodyPr/>
                    <a:lstStyle/>
                    <a:p>
                      <a:pPr marL="0" indent="0" algn="l">
                        <a:buNone/>
                      </a:pPr>
                      <a:r>
                        <a:rPr lang="en-US" sz="1200" dirty="0">
                          <a:solidFill>
                            <a:srgbClr val="6B6480"/>
                          </a:solidFill>
                          <a:latin typeface="Calibri" pitchFamily="34" charset="0"/>
                          <a:ea typeface="Calibri" pitchFamily="34" charset="-122"/>
                          <a:cs typeface="Calibri" pitchFamily="34" charset="-120"/>
                        </a:rPr>
                        <a:t>Generic, one-size-fits-all homepage</a:t>
                      </a:r>
                      <a:endParaRPr lang="en-US" sz="1200" dirty="0">
                        <a:latin typeface="Calibri" charset="0"/>
                        <a:ea typeface="Calibri" charset="0"/>
                        <a:cs typeface="Calibri" charset="0"/>
                      </a:endParaRPr>
                    </a:p>
                  </a:txBody>
                  <a:tcPr anchor="ctr">
                    <a:lnL w="9525" cap="flat" cmpd="sng" algn="ctr">
                      <a:solidFill>
                        <a:srgbClr val="E5DFF5"/>
                      </a:solidFill>
                      <a:prstDash val="solid"/>
                      <a:round/>
                      <a:headEnd type="none" w="med" len="med"/>
                      <a:tailEnd type="none" w="med" len="med"/>
                    </a:lnL>
                    <a:lnR w="9525" cap="flat" cmpd="sng" algn="ctr">
                      <a:solidFill>
                        <a:srgbClr val="E5DFF5"/>
                      </a:solidFill>
                      <a:prstDash val="solid"/>
                      <a:round/>
                      <a:headEnd type="none" w="med" len="med"/>
                      <a:tailEnd type="none" w="med" len="med"/>
                    </a:lnR>
                    <a:lnT w="9525" cap="flat" cmpd="sng" algn="ctr">
                      <a:solidFill>
                        <a:srgbClr val="E5DFF5"/>
                      </a:solidFill>
                      <a:prstDash val="solid"/>
                      <a:round/>
                      <a:headEnd type="none" w="med" len="med"/>
                      <a:tailEnd type="none" w="med" len="med"/>
                    </a:lnT>
                    <a:lnB w="9525" cap="flat" cmpd="sng" algn="ctr">
                      <a:solidFill>
                        <a:srgbClr val="E5DFF5"/>
                      </a:solidFill>
                      <a:prstDash val="solid"/>
                      <a:round/>
                      <a:headEnd type="none" w="med" len="med"/>
                      <a:tailEnd type="none" w="med" len="med"/>
                    </a:lnB>
                    <a:solidFill>
                      <a:srgbClr val="F6F4FC"/>
                    </a:solidFill>
                  </a:tcPr>
                </a:tc>
                <a:tc>
                  <a:txBody>
                    <a:bodyPr/>
                    <a:lstStyle/>
                    <a:p>
                      <a:pPr marL="0" indent="0" algn="l">
                        <a:buNone/>
                      </a:pPr>
                      <a:r>
                        <a:rPr lang="en-US" sz="1200" dirty="0">
                          <a:solidFill>
                            <a:srgbClr val="1F1B3A"/>
                          </a:solidFill>
                          <a:latin typeface="Calibri" pitchFamily="34" charset="0"/>
                          <a:ea typeface="Calibri" pitchFamily="34" charset="-122"/>
                          <a:cs typeface="Calibri" pitchFamily="34" charset="-120"/>
                        </a:rPr>
                        <a:t>Homepage personalized to selected interests</a:t>
                      </a:r>
                      <a:endParaRPr lang="en-US" sz="1200" dirty="0">
                        <a:latin typeface="Calibri" charset="0"/>
                        <a:ea typeface="Calibri" charset="0"/>
                        <a:cs typeface="Calibri" charset="0"/>
                      </a:endParaRPr>
                    </a:p>
                  </a:txBody>
                  <a:tcPr anchor="ctr">
                    <a:lnL w="9525" cap="flat" cmpd="sng" algn="ctr">
                      <a:solidFill>
                        <a:srgbClr val="E5DFF5"/>
                      </a:solidFill>
                      <a:prstDash val="solid"/>
                      <a:round/>
                      <a:headEnd type="none" w="med" len="med"/>
                      <a:tailEnd type="none" w="med" len="med"/>
                    </a:lnL>
                    <a:lnR w="9525" cap="flat" cmpd="sng" algn="ctr">
                      <a:solidFill>
                        <a:srgbClr val="E5DFF5"/>
                      </a:solidFill>
                      <a:prstDash val="solid"/>
                      <a:round/>
                      <a:headEnd type="none" w="med" len="med"/>
                      <a:tailEnd type="none" w="med" len="med"/>
                    </a:lnR>
                    <a:lnT w="9525" cap="flat" cmpd="sng" algn="ctr">
                      <a:solidFill>
                        <a:srgbClr val="E5DFF5"/>
                      </a:solidFill>
                      <a:prstDash val="solid"/>
                      <a:round/>
                      <a:headEnd type="none" w="med" len="med"/>
                      <a:tailEnd type="none" w="med" len="med"/>
                    </a:lnT>
                    <a:lnB w="9525" cap="flat" cmpd="sng" algn="ctr">
                      <a:solidFill>
                        <a:srgbClr val="E5DFF5"/>
                      </a:solidFill>
                      <a:prstDash val="solid"/>
                      <a:round/>
                      <a:headEnd type="none" w="med" len="med"/>
                      <a:tailEnd type="none" w="med" len="med"/>
                    </a:lnB>
                    <a:solidFill>
                      <a:srgbClr val="F6F4FC"/>
                    </a:solidFill>
                  </a:tcPr>
                </a:tc>
                <a:extLst>
                  <a:ext uri="{0D108BD9-81ED-4DB2-BD59-A6C34878D82A}">
                    <a16:rowId xmlns:a16="http://schemas.microsoft.com/office/drawing/2014/main" val="10002"/>
                  </a:ext>
                </a:extLst>
              </a:tr>
              <a:tr h="640080">
                <a:tc>
                  <a:txBody>
                    <a:bodyPr/>
                    <a:lstStyle/>
                    <a:p>
                      <a:pPr marL="0" indent="0" algn="l">
                        <a:buNone/>
                      </a:pPr>
                      <a:r>
                        <a:rPr lang="en-US" sz="1200" dirty="0">
                          <a:solidFill>
                            <a:srgbClr val="6B6480"/>
                          </a:solidFill>
                          <a:latin typeface="Calibri" pitchFamily="34" charset="0"/>
                          <a:ea typeface="Calibri" pitchFamily="34" charset="-122"/>
                          <a:cs typeface="Calibri" pitchFamily="34" charset="-120"/>
                        </a:rPr>
                        <a:t>No category-based filtering</a:t>
                      </a:r>
                      <a:endParaRPr lang="en-US" sz="1200" dirty="0">
                        <a:latin typeface="Calibri" charset="0"/>
                        <a:ea typeface="Calibri" charset="0"/>
                        <a:cs typeface="Calibri" charset="0"/>
                      </a:endParaRPr>
                    </a:p>
                  </a:txBody>
                  <a:tcPr anchor="ctr">
                    <a:lnL w="9525" cap="flat" cmpd="sng" algn="ctr">
                      <a:solidFill>
                        <a:srgbClr val="E5DFF5"/>
                      </a:solidFill>
                      <a:prstDash val="solid"/>
                      <a:round/>
                      <a:headEnd type="none" w="med" len="med"/>
                      <a:tailEnd type="none" w="med" len="med"/>
                    </a:lnL>
                    <a:lnR w="9525" cap="flat" cmpd="sng" algn="ctr">
                      <a:solidFill>
                        <a:srgbClr val="E5DFF5"/>
                      </a:solidFill>
                      <a:prstDash val="solid"/>
                      <a:round/>
                      <a:headEnd type="none" w="med" len="med"/>
                      <a:tailEnd type="none" w="med" len="med"/>
                    </a:lnR>
                    <a:lnT w="9525" cap="flat" cmpd="sng" algn="ctr">
                      <a:solidFill>
                        <a:srgbClr val="E5DFF5"/>
                      </a:solidFill>
                      <a:prstDash val="solid"/>
                      <a:round/>
                      <a:headEnd type="none" w="med" len="med"/>
                      <a:tailEnd type="none" w="med" len="med"/>
                    </a:lnT>
                    <a:lnB w="9525" cap="flat" cmpd="sng" algn="ctr">
                      <a:solidFill>
                        <a:srgbClr val="E5DFF5"/>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F1B3A"/>
                          </a:solidFill>
                          <a:latin typeface="Calibri" pitchFamily="34" charset="0"/>
                          <a:ea typeface="Calibri" pitchFamily="34" charset="-122"/>
                          <a:cs typeface="Calibri" pitchFamily="34" charset="-120"/>
                        </a:rPr>
                        <a:t>22+ interest categories with keyword mapping</a:t>
                      </a:r>
                      <a:endParaRPr lang="en-US" sz="1200" dirty="0">
                        <a:latin typeface="Calibri" charset="0"/>
                        <a:ea typeface="Calibri" charset="0"/>
                        <a:cs typeface="Calibri" charset="0"/>
                      </a:endParaRPr>
                    </a:p>
                  </a:txBody>
                  <a:tcPr anchor="ctr">
                    <a:lnL w="9525" cap="flat" cmpd="sng" algn="ctr">
                      <a:solidFill>
                        <a:srgbClr val="E5DFF5"/>
                      </a:solidFill>
                      <a:prstDash val="solid"/>
                      <a:round/>
                      <a:headEnd type="none" w="med" len="med"/>
                      <a:tailEnd type="none" w="med" len="med"/>
                    </a:lnL>
                    <a:lnR w="9525" cap="flat" cmpd="sng" algn="ctr">
                      <a:solidFill>
                        <a:srgbClr val="E5DFF5"/>
                      </a:solidFill>
                      <a:prstDash val="solid"/>
                      <a:round/>
                      <a:headEnd type="none" w="med" len="med"/>
                      <a:tailEnd type="none" w="med" len="med"/>
                    </a:lnR>
                    <a:lnT w="9525" cap="flat" cmpd="sng" algn="ctr">
                      <a:solidFill>
                        <a:srgbClr val="E5DFF5"/>
                      </a:solidFill>
                      <a:prstDash val="solid"/>
                      <a:round/>
                      <a:headEnd type="none" w="med" len="med"/>
                      <a:tailEnd type="none" w="med" len="med"/>
                    </a:lnT>
                    <a:lnB w="9525" cap="flat" cmpd="sng" algn="ctr">
                      <a:solidFill>
                        <a:srgbClr val="E5DFF5"/>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40080">
                <a:tc>
                  <a:txBody>
                    <a:bodyPr/>
                    <a:lstStyle/>
                    <a:p>
                      <a:pPr marL="0" indent="0" algn="l">
                        <a:buNone/>
                      </a:pPr>
                      <a:r>
                        <a:rPr lang="en-US" sz="1200" dirty="0">
                          <a:solidFill>
                            <a:srgbClr val="6B6480"/>
                          </a:solidFill>
                          <a:latin typeface="Calibri" pitchFamily="34" charset="0"/>
                          <a:ea typeface="Calibri" pitchFamily="34" charset="-122"/>
                          <a:cs typeface="Calibri" pitchFamily="34" charset="-120"/>
                        </a:rPr>
                        <a:t>Manual searching across sources</a:t>
                      </a:r>
                      <a:endParaRPr lang="en-US" sz="1200" dirty="0">
                        <a:latin typeface="Calibri" charset="0"/>
                        <a:ea typeface="Calibri" charset="0"/>
                        <a:cs typeface="Calibri" charset="0"/>
                      </a:endParaRPr>
                    </a:p>
                  </a:txBody>
                  <a:tcPr anchor="ctr">
                    <a:lnL w="9525" cap="flat" cmpd="sng" algn="ctr">
                      <a:solidFill>
                        <a:srgbClr val="E5DFF5"/>
                      </a:solidFill>
                      <a:prstDash val="solid"/>
                      <a:round/>
                      <a:headEnd type="none" w="med" len="med"/>
                      <a:tailEnd type="none" w="med" len="med"/>
                    </a:lnL>
                    <a:lnR w="9525" cap="flat" cmpd="sng" algn="ctr">
                      <a:solidFill>
                        <a:srgbClr val="E5DFF5"/>
                      </a:solidFill>
                      <a:prstDash val="solid"/>
                      <a:round/>
                      <a:headEnd type="none" w="med" len="med"/>
                      <a:tailEnd type="none" w="med" len="med"/>
                    </a:lnR>
                    <a:lnT w="9525" cap="flat" cmpd="sng" algn="ctr">
                      <a:solidFill>
                        <a:srgbClr val="E5DFF5"/>
                      </a:solidFill>
                      <a:prstDash val="solid"/>
                      <a:round/>
                      <a:headEnd type="none" w="med" len="med"/>
                      <a:tailEnd type="none" w="med" len="med"/>
                    </a:lnT>
                    <a:lnB w="9525" cap="flat" cmpd="sng" algn="ctr">
                      <a:solidFill>
                        <a:srgbClr val="E5DFF5"/>
                      </a:solidFill>
                      <a:prstDash val="solid"/>
                      <a:round/>
                      <a:headEnd type="none" w="med" len="med"/>
                      <a:tailEnd type="none" w="med" len="med"/>
                    </a:lnB>
                    <a:solidFill>
                      <a:srgbClr val="F6F4FC"/>
                    </a:solidFill>
                  </a:tcPr>
                </a:tc>
                <a:tc>
                  <a:txBody>
                    <a:bodyPr/>
                    <a:lstStyle/>
                    <a:p>
                      <a:pPr marL="0" indent="0" algn="l">
                        <a:buNone/>
                      </a:pPr>
                      <a:r>
                        <a:rPr lang="en-US" sz="1200" dirty="0">
                          <a:solidFill>
                            <a:srgbClr val="1F1B3A"/>
                          </a:solidFill>
                          <a:latin typeface="Calibri" pitchFamily="34" charset="0"/>
                          <a:ea typeface="Calibri" pitchFamily="34" charset="-122"/>
                          <a:cs typeface="Calibri" pitchFamily="34" charset="-120"/>
                        </a:rPr>
                        <a:t>Automatic personalized feed on login</a:t>
                      </a:r>
                      <a:endParaRPr lang="en-US" sz="1200" dirty="0">
                        <a:latin typeface="Calibri" charset="0"/>
                        <a:ea typeface="Calibri" charset="0"/>
                        <a:cs typeface="Calibri" charset="0"/>
                      </a:endParaRPr>
                    </a:p>
                  </a:txBody>
                  <a:tcPr anchor="ctr">
                    <a:lnL w="9525" cap="flat" cmpd="sng" algn="ctr">
                      <a:solidFill>
                        <a:srgbClr val="E5DFF5"/>
                      </a:solidFill>
                      <a:prstDash val="solid"/>
                      <a:round/>
                      <a:headEnd type="none" w="med" len="med"/>
                      <a:tailEnd type="none" w="med" len="med"/>
                    </a:lnL>
                    <a:lnR w="9525" cap="flat" cmpd="sng" algn="ctr">
                      <a:solidFill>
                        <a:srgbClr val="E5DFF5"/>
                      </a:solidFill>
                      <a:prstDash val="solid"/>
                      <a:round/>
                      <a:headEnd type="none" w="med" len="med"/>
                      <a:tailEnd type="none" w="med" len="med"/>
                    </a:lnR>
                    <a:lnT w="9525" cap="flat" cmpd="sng" algn="ctr">
                      <a:solidFill>
                        <a:srgbClr val="E5DFF5"/>
                      </a:solidFill>
                      <a:prstDash val="solid"/>
                      <a:round/>
                      <a:headEnd type="none" w="med" len="med"/>
                      <a:tailEnd type="none" w="med" len="med"/>
                    </a:lnT>
                    <a:lnB w="9525" cap="flat" cmpd="sng" algn="ctr">
                      <a:solidFill>
                        <a:srgbClr val="E5DFF5"/>
                      </a:solidFill>
                      <a:prstDash val="solid"/>
                      <a:round/>
                      <a:headEnd type="none" w="med" len="med"/>
                      <a:tailEnd type="none" w="med" len="med"/>
                    </a:lnB>
                    <a:solidFill>
                      <a:srgbClr val="F6F4FC"/>
                    </a:solidFill>
                  </a:tcPr>
                </a:tc>
                <a:extLst>
                  <a:ext uri="{0D108BD9-81ED-4DB2-BD59-A6C34878D82A}">
                    <a16:rowId xmlns:a16="http://schemas.microsoft.com/office/drawing/2014/main" val="10004"/>
                  </a:ext>
                </a:extLst>
              </a:tr>
              <a:tr h="640080">
                <a:tc>
                  <a:txBody>
                    <a:bodyPr/>
                    <a:lstStyle/>
                    <a:p>
                      <a:pPr marL="0" indent="0" algn="l">
                        <a:buNone/>
                      </a:pPr>
                      <a:r>
                        <a:rPr lang="en-US" sz="1200" dirty="0">
                          <a:solidFill>
                            <a:srgbClr val="6B6480"/>
                          </a:solidFill>
                          <a:latin typeface="Calibri" pitchFamily="34" charset="0"/>
                          <a:ea typeface="Calibri" pitchFamily="34" charset="-122"/>
                          <a:cs typeface="Calibri" pitchFamily="34" charset="-120"/>
                        </a:rPr>
                        <a:t>Desktop-only or poorly responsive UI</a:t>
                      </a:r>
                      <a:endParaRPr lang="en-US" sz="1200" dirty="0">
                        <a:latin typeface="Calibri" charset="0"/>
                        <a:ea typeface="Calibri" charset="0"/>
                        <a:cs typeface="Calibri" charset="0"/>
                      </a:endParaRPr>
                    </a:p>
                  </a:txBody>
                  <a:tcPr anchor="ctr">
                    <a:lnL w="9525" cap="flat" cmpd="sng" algn="ctr">
                      <a:solidFill>
                        <a:srgbClr val="E5DFF5"/>
                      </a:solidFill>
                      <a:prstDash val="solid"/>
                      <a:round/>
                      <a:headEnd type="none" w="med" len="med"/>
                      <a:tailEnd type="none" w="med" len="med"/>
                    </a:lnL>
                    <a:lnR w="9525" cap="flat" cmpd="sng" algn="ctr">
                      <a:solidFill>
                        <a:srgbClr val="E5DFF5"/>
                      </a:solidFill>
                      <a:prstDash val="solid"/>
                      <a:round/>
                      <a:headEnd type="none" w="med" len="med"/>
                      <a:tailEnd type="none" w="med" len="med"/>
                    </a:lnR>
                    <a:lnT w="9525" cap="flat" cmpd="sng" algn="ctr">
                      <a:solidFill>
                        <a:srgbClr val="E5DFF5"/>
                      </a:solidFill>
                      <a:prstDash val="solid"/>
                      <a:round/>
                      <a:headEnd type="none" w="med" len="med"/>
                      <a:tailEnd type="none" w="med" len="med"/>
                    </a:lnT>
                    <a:lnB w="9525" cap="flat" cmpd="sng" algn="ctr">
                      <a:solidFill>
                        <a:srgbClr val="E5DFF5"/>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F1B3A"/>
                          </a:solidFill>
                          <a:latin typeface="Calibri" pitchFamily="34" charset="0"/>
                          <a:ea typeface="Calibri" pitchFamily="34" charset="-122"/>
                          <a:cs typeface="Calibri" pitchFamily="34" charset="-120"/>
                        </a:rPr>
                        <a:t>Fully responsive, modern glassmorphic UI</a:t>
                      </a:r>
                      <a:endParaRPr lang="en-US" sz="1200" dirty="0">
                        <a:latin typeface="Calibri" charset="0"/>
                        <a:ea typeface="Calibri" charset="0"/>
                        <a:cs typeface="Calibri" charset="0"/>
                      </a:endParaRPr>
                    </a:p>
                  </a:txBody>
                  <a:tcPr anchor="ctr">
                    <a:lnL w="9525" cap="flat" cmpd="sng" algn="ctr">
                      <a:solidFill>
                        <a:srgbClr val="E5DFF5"/>
                      </a:solidFill>
                      <a:prstDash val="solid"/>
                      <a:round/>
                      <a:headEnd type="none" w="med" len="med"/>
                      <a:tailEnd type="none" w="med" len="med"/>
                    </a:lnL>
                    <a:lnR w="9525" cap="flat" cmpd="sng" algn="ctr">
                      <a:solidFill>
                        <a:srgbClr val="E5DFF5"/>
                      </a:solidFill>
                      <a:prstDash val="solid"/>
                      <a:round/>
                      <a:headEnd type="none" w="med" len="med"/>
                      <a:tailEnd type="none" w="med" len="med"/>
                    </a:lnR>
                    <a:lnT w="9525" cap="flat" cmpd="sng" algn="ctr">
                      <a:solidFill>
                        <a:srgbClr val="E5DFF5"/>
                      </a:solidFill>
                      <a:prstDash val="solid"/>
                      <a:round/>
                      <a:headEnd type="none" w="med" len="med"/>
                      <a:tailEnd type="none" w="med" len="med"/>
                    </a:lnT>
                    <a:lnB w="9525" cap="flat" cmpd="sng" algn="ctr">
                      <a:solidFill>
                        <a:srgbClr val="E5DFF5"/>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640080">
                <a:tc>
                  <a:txBody>
                    <a:bodyPr/>
                    <a:lstStyle/>
                    <a:p>
                      <a:pPr marL="0" indent="0" algn="l">
                        <a:buNone/>
                      </a:pPr>
                      <a:r>
                        <a:rPr lang="en-US" sz="1200" dirty="0">
                          <a:solidFill>
                            <a:srgbClr val="6B6480"/>
                          </a:solidFill>
                          <a:latin typeface="Calibri" pitchFamily="34" charset="0"/>
                          <a:ea typeface="Calibri" pitchFamily="34" charset="-122"/>
                          <a:cs typeface="Calibri" pitchFamily="34" charset="-120"/>
                        </a:rPr>
                        <a:t>Not portable across environments</a:t>
                      </a:r>
                      <a:endParaRPr lang="en-US" sz="1200" dirty="0">
                        <a:latin typeface="Calibri" charset="0"/>
                        <a:ea typeface="Calibri" charset="0"/>
                        <a:cs typeface="Calibri" charset="0"/>
                      </a:endParaRPr>
                    </a:p>
                  </a:txBody>
                  <a:tcPr anchor="ctr">
                    <a:lnL w="9525" cap="flat" cmpd="sng" algn="ctr">
                      <a:solidFill>
                        <a:srgbClr val="E5DFF5"/>
                      </a:solidFill>
                      <a:prstDash val="solid"/>
                      <a:round/>
                      <a:headEnd type="none" w="med" len="med"/>
                      <a:tailEnd type="none" w="med" len="med"/>
                    </a:lnL>
                    <a:lnR w="9525" cap="flat" cmpd="sng" algn="ctr">
                      <a:solidFill>
                        <a:srgbClr val="E5DFF5"/>
                      </a:solidFill>
                      <a:prstDash val="solid"/>
                      <a:round/>
                      <a:headEnd type="none" w="med" len="med"/>
                      <a:tailEnd type="none" w="med" len="med"/>
                    </a:lnR>
                    <a:lnT w="9525" cap="flat" cmpd="sng" algn="ctr">
                      <a:solidFill>
                        <a:srgbClr val="E5DFF5"/>
                      </a:solidFill>
                      <a:prstDash val="solid"/>
                      <a:round/>
                      <a:headEnd type="none" w="med" len="med"/>
                      <a:tailEnd type="none" w="med" len="med"/>
                    </a:lnT>
                    <a:lnB w="9525" cap="flat" cmpd="sng" algn="ctr">
                      <a:solidFill>
                        <a:srgbClr val="E5DFF5"/>
                      </a:solidFill>
                      <a:prstDash val="solid"/>
                      <a:round/>
                      <a:headEnd type="none" w="med" len="med"/>
                      <a:tailEnd type="none" w="med" len="med"/>
                    </a:lnB>
                    <a:solidFill>
                      <a:srgbClr val="F6F4FC"/>
                    </a:solidFill>
                  </a:tcPr>
                </a:tc>
                <a:tc>
                  <a:txBody>
                    <a:bodyPr/>
                    <a:lstStyle/>
                    <a:p>
                      <a:pPr marL="0" indent="0" algn="l">
                        <a:buNone/>
                      </a:pPr>
                      <a:r>
                        <a:rPr lang="en-US" sz="1200" dirty="0">
                          <a:solidFill>
                            <a:srgbClr val="1F1B3A"/>
                          </a:solidFill>
                          <a:latin typeface="Calibri" pitchFamily="34" charset="0"/>
                          <a:ea typeface="Calibri" pitchFamily="34" charset="-122"/>
                          <a:cs typeface="Calibri" pitchFamily="34" charset="-120"/>
                        </a:rPr>
                        <a:t>Dockerized and Kubernetes-ready for any cloud</a:t>
                      </a:r>
                      <a:endParaRPr lang="en-US" sz="1200" dirty="0">
                        <a:latin typeface="Calibri" charset="0"/>
                        <a:ea typeface="Calibri" charset="0"/>
                        <a:cs typeface="Calibri" charset="0"/>
                      </a:endParaRPr>
                    </a:p>
                  </a:txBody>
                  <a:tcPr anchor="ctr">
                    <a:lnL w="9525" cap="flat" cmpd="sng" algn="ctr">
                      <a:solidFill>
                        <a:srgbClr val="E5DFF5"/>
                      </a:solidFill>
                      <a:prstDash val="solid"/>
                      <a:round/>
                      <a:headEnd type="none" w="med" len="med"/>
                      <a:tailEnd type="none" w="med" len="med"/>
                    </a:lnL>
                    <a:lnR w="9525" cap="flat" cmpd="sng" algn="ctr">
                      <a:solidFill>
                        <a:srgbClr val="E5DFF5"/>
                      </a:solidFill>
                      <a:prstDash val="solid"/>
                      <a:round/>
                      <a:headEnd type="none" w="med" len="med"/>
                      <a:tailEnd type="none" w="med" len="med"/>
                    </a:lnR>
                    <a:lnT w="9525" cap="flat" cmpd="sng" algn="ctr">
                      <a:solidFill>
                        <a:srgbClr val="E5DFF5"/>
                      </a:solidFill>
                      <a:prstDash val="solid"/>
                      <a:round/>
                      <a:headEnd type="none" w="med" len="med"/>
                      <a:tailEnd type="none" w="med" len="med"/>
                    </a:lnT>
                    <a:lnB w="9525" cap="flat" cmpd="sng" algn="ctr">
                      <a:solidFill>
                        <a:srgbClr val="E5DFF5"/>
                      </a:solidFill>
                      <a:prstDash val="solid"/>
                      <a:round/>
                      <a:headEnd type="none" w="med" len="med"/>
                      <a:tailEnd type="none" w="med" len="med"/>
                    </a:lnB>
                    <a:solidFill>
                      <a:srgbClr val="F6F4FC"/>
                    </a:solidFill>
                  </a:tcPr>
                </a:tc>
                <a:extLst>
                  <a:ext uri="{0D108BD9-81ED-4DB2-BD59-A6C34878D82A}">
                    <a16:rowId xmlns:a16="http://schemas.microsoft.com/office/drawing/2014/main" val="10006"/>
                  </a:ext>
                </a:extLst>
              </a:tr>
            </a:tbl>
          </a:graphicData>
        </a:graphic>
      </p:graphicFrame>
      <p:sp>
        <p:nvSpPr>
          <p:cNvPr id="6" name="Text 3"/>
          <p:cNvSpPr/>
          <p:nvPr/>
        </p:nvSpPr>
        <p:spPr>
          <a:xfrm>
            <a:off x="548640" y="6528816"/>
            <a:ext cx="2743200" cy="274320"/>
          </a:xfrm>
          <a:prstGeom prst="rect">
            <a:avLst/>
          </a:prstGeom>
          <a:noFill/>
          <a:ln/>
        </p:spPr>
        <p:txBody>
          <a:bodyPr wrap="square" lIns="0" tIns="0" rIns="0" bIns="0" rtlCol="0" anchor="ctr"/>
          <a:lstStyle/>
          <a:p>
            <a:pPr marL="0" indent="0" algn="l">
              <a:buNone/>
            </a:pPr>
            <a:r>
              <a:rPr lang="en-US" sz="1000" dirty="0">
                <a:solidFill>
                  <a:srgbClr val="6B6480"/>
                </a:solidFill>
                <a:latin typeface="Calibri" pitchFamily="34" charset="0"/>
                <a:ea typeface="Calibri" pitchFamily="34" charset="-122"/>
                <a:cs typeface="Calibri" pitchFamily="34" charset="-120"/>
              </a:rPr>
              <a:t>NewsNest</a:t>
            </a:r>
            <a:endParaRPr lang="en-US" sz="1000" dirty="0"/>
          </a:p>
        </p:txBody>
      </p:sp>
      <p:sp>
        <p:nvSpPr>
          <p:cNvPr id="5" name="Text 4"/>
          <p:cNvSpPr/>
          <p:nvPr/>
        </p:nvSpPr>
        <p:spPr>
          <a:xfrm>
            <a:off x="11183112" y="6528816"/>
            <a:ext cx="457200" cy="274320"/>
          </a:xfrm>
          <a:prstGeom prst="rect">
            <a:avLst/>
          </a:prstGeom>
          <a:noFill/>
          <a:ln/>
        </p:spPr>
        <p:txBody>
          <a:bodyPr wrap="square" lIns="0" tIns="0" rIns="0" bIns="0" rtlCol="0" anchor="ctr"/>
          <a:lstStyle/>
          <a:p>
            <a:pPr marL="0" indent="0" algn="r">
              <a:buNone/>
            </a:pPr>
            <a:r>
              <a:rPr lang="en-US" sz="1000" dirty="0">
                <a:solidFill>
                  <a:srgbClr val="6B6480"/>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91672" cy="685800"/>
          </a:xfrm>
          <a:prstGeom prst="rect">
            <a:avLst/>
          </a:prstGeom>
          <a:noFill/>
          <a:ln/>
        </p:spPr>
        <p:txBody>
          <a:bodyPr wrap="square" lIns="0" tIns="0" rIns="0" bIns="0" rtlCol="0" anchor="ctr"/>
          <a:lstStyle/>
          <a:p>
            <a:pPr marL="0" indent="0" algn="l">
              <a:buNone/>
            </a:pPr>
            <a:r>
              <a:rPr lang="en-US" sz="3200" b="1" dirty="0">
                <a:solidFill>
                  <a:srgbClr val="2A1B5D"/>
                </a:solidFill>
                <a:latin typeface="Cambria" pitchFamily="34" charset="0"/>
                <a:ea typeface="Cambria" pitchFamily="34" charset="-122"/>
                <a:cs typeface="Cambria" pitchFamily="34" charset="-120"/>
              </a:rPr>
              <a:t>Project Architecture</a:t>
            </a:r>
            <a:endParaRPr lang="en-US" sz="3200" dirty="0"/>
          </a:p>
        </p:txBody>
      </p:sp>
      <p:sp>
        <p:nvSpPr>
          <p:cNvPr id="3" name="Shape 1"/>
          <p:cNvSpPr/>
          <p:nvPr/>
        </p:nvSpPr>
        <p:spPr>
          <a:xfrm>
            <a:off x="548640" y="1042416"/>
            <a:ext cx="502920" cy="41148"/>
          </a:xfrm>
          <a:prstGeom prst="rect">
            <a:avLst/>
          </a:prstGeom>
          <a:solidFill>
            <a:srgbClr val="EC4899"/>
          </a:solidFill>
          <a:ln/>
        </p:spPr>
      </p:sp>
      <p:sp>
        <p:nvSpPr>
          <p:cNvPr id="4" name="Text 2"/>
          <p:cNvSpPr/>
          <p:nvPr/>
        </p:nvSpPr>
        <p:spPr>
          <a:xfrm>
            <a:off x="548640" y="1097280"/>
            <a:ext cx="11091672" cy="365760"/>
          </a:xfrm>
          <a:prstGeom prst="rect">
            <a:avLst/>
          </a:prstGeom>
          <a:noFill/>
          <a:ln/>
        </p:spPr>
        <p:txBody>
          <a:bodyPr wrap="square" lIns="0" tIns="0" rIns="0" bIns="0" rtlCol="0" anchor="ctr"/>
          <a:lstStyle/>
          <a:p>
            <a:pPr marL="0" indent="0" algn="l">
              <a:buNone/>
            </a:pPr>
            <a:r>
              <a:rPr lang="en-US" sz="1400" i="1" dirty="0">
                <a:solidFill>
                  <a:srgbClr val="6B6480"/>
                </a:solidFill>
                <a:latin typeface="Calibri" pitchFamily="34" charset="0"/>
                <a:ea typeface="Calibri" pitchFamily="34" charset="-122"/>
                <a:cs typeface="Calibri" pitchFamily="34" charset="-120"/>
              </a:rPr>
              <a:t>Request flow from browser to external News API</a:t>
            </a:r>
            <a:endParaRPr lang="en-US" sz="1400" dirty="0"/>
          </a:p>
        </p:txBody>
      </p:sp>
      <p:sp>
        <p:nvSpPr>
          <p:cNvPr id="5" name="Shape 3"/>
          <p:cNvSpPr/>
          <p:nvPr/>
        </p:nvSpPr>
        <p:spPr>
          <a:xfrm>
            <a:off x="4480560" y="1645920"/>
            <a:ext cx="4206240" cy="685800"/>
          </a:xfrm>
          <a:prstGeom prst="roundRect">
            <a:avLst>
              <a:gd name="adj" fmla="val 13333"/>
            </a:avLst>
          </a:prstGeom>
          <a:solidFill>
            <a:srgbClr val="6C3CE9"/>
          </a:solidFill>
          <a:ln/>
        </p:spPr>
      </p:sp>
      <p:sp>
        <p:nvSpPr>
          <p:cNvPr id="6" name="Text 4"/>
          <p:cNvSpPr/>
          <p:nvPr/>
        </p:nvSpPr>
        <p:spPr>
          <a:xfrm>
            <a:off x="4480560" y="1719072"/>
            <a:ext cx="4206240" cy="384048"/>
          </a:xfrm>
          <a:prstGeom prst="rect">
            <a:avLst/>
          </a:prstGeom>
          <a:noFill/>
          <a:ln/>
        </p:spPr>
        <p:txBody>
          <a:bodyPr wrap="square" lIns="0" tIns="0" rIns="0" bIns="0" rtlCol="0" anchor="t"/>
          <a:lstStyle/>
          <a:p>
            <a:pPr marL="0" indent="0" algn="ctr">
              <a:buNone/>
            </a:pPr>
            <a:r>
              <a:rPr lang="en-US" sz="1400" b="1" dirty="0">
                <a:solidFill>
                  <a:srgbClr val="FFFFFF"/>
                </a:solidFill>
                <a:latin typeface="Calibri" pitchFamily="34" charset="0"/>
                <a:ea typeface="Calibri" pitchFamily="34" charset="-122"/>
                <a:cs typeface="Calibri" pitchFamily="34" charset="-120"/>
              </a:rPr>
              <a:t>🖥  Frontend</a:t>
            </a:r>
            <a:endParaRPr lang="en-US" sz="1400" dirty="0"/>
          </a:p>
        </p:txBody>
      </p:sp>
      <p:sp>
        <p:nvSpPr>
          <p:cNvPr id="7" name="Text 5"/>
          <p:cNvSpPr/>
          <p:nvPr/>
        </p:nvSpPr>
        <p:spPr>
          <a:xfrm>
            <a:off x="4572000" y="2084832"/>
            <a:ext cx="4023360" cy="182880"/>
          </a:xfrm>
          <a:prstGeom prst="rect">
            <a:avLst/>
          </a:prstGeom>
          <a:noFill/>
          <a:ln/>
        </p:spPr>
        <p:txBody>
          <a:bodyPr wrap="square" lIns="0" tIns="0" rIns="0" bIns="0" rtlCol="0" anchor="t"/>
          <a:lstStyle/>
          <a:p>
            <a:pPr marL="0" indent="0" algn="ctr">
              <a:buNone/>
            </a:pPr>
            <a:r>
              <a:rPr lang="en-US" sz="950" dirty="0">
                <a:solidFill>
                  <a:srgbClr val="FFFFFF">
                    <a:alpha val="85000"/>
                  </a:srgbClr>
                </a:solidFill>
                <a:latin typeface="Calibri" pitchFamily="34" charset="0"/>
                <a:ea typeface="Calibri" pitchFamily="34" charset="-122"/>
                <a:cs typeface="Calibri" pitchFamily="34" charset="-120"/>
              </a:rPr>
              <a:t>HTML5 · CSS3 · Vanilla JS</a:t>
            </a:r>
            <a:endParaRPr lang="en-US" sz="950" dirty="0"/>
          </a:p>
        </p:txBody>
      </p:sp>
      <p:sp>
        <p:nvSpPr>
          <p:cNvPr id="8" name="Text 6"/>
          <p:cNvSpPr/>
          <p:nvPr/>
        </p:nvSpPr>
        <p:spPr>
          <a:xfrm>
            <a:off x="6355080" y="2359152"/>
            <a:ext cx="457200" cy="365760"/>
          </a:xfrm>
          <a:prstGeom prst="rect">
            <a:avLst/>
          </a:prstGeom>
          <a:noFill/>
          <a:ln/>
        </p:spPr>
        <p:txBody>
          <a:bodyPr wrap="square" lIns="0" tIns="0" rIns="0" bIns="0" rtlCol="0" anchor="ctr"/>
          <a:lstStyle/>
          <a:p>
            <a:pPr marL="0" indent="0" algn="ctr">
              <a:buNone/>
            </a:pPr>
            <a:r>
              <a:rPr lang="en-US" sz="1600" dirty="0">
                <a:solidFill>
                  <a:srgbClr val="6C3CE9"/>
                </a:solidFill>
              </a:rPr>
              <a:t>▼</a:t>
            </a:r>
            <a:endParaRPr lang="en-US" sz="1600" dirty="0"/>
          </a:p>
        </p:txBody>
      </p:sp>
      <p:sp>
        <p:nvSpPr>
          <p:cNvPr id="9" name="Shape 7"/>
          <p:cNvSpPr/>
          <p:nvPr/>
        </p:nvSpPr>
        <p:spPr>
          <a:xfrm>
            <a:off x="4480560" y="2743200"/>
            <a:ext cx="4206240" cy="685800"/>
          </a:xfrm>
          <a:prstGeom prst="roundRect">
            <a:avLst>
              <a:gd name="adj" fmla="val 13333"/>
            </a:avLst>
          </a:prstGeom>
          <a:solidFill>
            <a:srgbClr val="2A1B5D"/>
          </a:solidFill>
          <a:ln/>
        </p:spPr>
      </p:sp>
      <p:sp>
        <p:nvSpPr>
          <p:cNvPr id="10" name="Text 8"/>
          <p:cNvSpPr/>
          <p:nvPr/>
        </p:nvSpPr>
        <p:spPr>
          <a:xfrm>
            <a:off x="4480560" y="2816352"/>
            <a:ext cx="4206240" cy="384048"/>
          </a:xfrm>
          <a:prstGeom prst="rect">
            <a:avLst/>
          </a:prstGeom>
          <a:noFill/>
          <a:ln/>
        </p:spPr>
        <p:txBody>
          <a:bodyPr wrap="square" lIns="0" tIns="0" rIns="0" bIns="0" rtlCol="0" anchor="t"/>
          <a:lstStyle/>
          <a:p>
            <a:pPr marL="0" indent="0" algn="ctr">
              <a:buNone/>
            </a:pPr>
            <a:r>
              <a:rPr lang="en-US" sz="1400" b="1" dirty="0">
                <a:solidFill>
                  <a:srgbClr val="FFFFFF"/>
                </a:solidFill>
                <a:latin typeface="Calibri" pitchFamily="34" charset="0"/>
                <a:ea typeface="Calibri" pitchFamily="34" charset="-122"/>
                <a:cs typeface="Calibri" pitchFamily="34" charset="-120"/>
              </a:rPr>
              <a:t>🚪  API Gateway</a:t>
            </a:r>
            <a:endParaRPr lang="en-US" sz="1400" dirty="0"/>
          </a:p>
        </p:txBody>
      </p:sp>
      <p:sp>
        <p:nvSpPr>
          <p:cNvPr id="11" name="Text 9"/>
          <p:cNvSpPr/>
          <p:nvPr/>
        </p:nvSpPr>
        <p:spPr>
          <a:xfrm>
            <a:off x="4572000" y="3182112"/>
            <a:ext cx="4023360" cy="182880"/>
          </a:xfrm>
          <a:prstGeom prst="rect">
            <a:avLst/>
          </a:prstGeom>
          <a:noFill/>
          <a:ln/>
        </p:spPr>
        <p:txBody>
          <a:bodyPr wrap="square" lIns="0" tIns="0" rIns="0" bIns="0" rtlCol="0" anchor="t"/>
          <a:lstStyle/>
          <a:p>
            <a:pPr marL="0" indent="0" algn="ctr">
              <a:buNone/>
            </a:pPr>
            <a:r>
              <a:rPr lang="en-US" sz="950" dirty="0">
                <a:solidFill>
                  <a:srgbClr val="FFFFFF">
                    <a:alpha val="85000"/>
                  </a:srgbClr>
                </a:solidFill>
                <a:latin typeface="Calibri" pitchFamily="34" charset="0"/>
                <a:ea typeface="Calibri" pitchFamily="34" charset="-122"/>
                <a:cs typeface="Calibri" pitchFamily="34" charset="-120"/>
              </a:rPr>
              <a:t>Routing · CORS · Rate Limiting</a:t>
            </a:r>
            <a:endParaRPr lang="en-US" sz="950" dirty="0"/>
          </a:p>
        </p:txBody>
      </p:sp>
      <p:sp>
        <p:nvSpPr>
          <p:cNvPr id="12" name="Text 10"/>
          <p:cNvSpPr/>
          <p:nvPr/>
        </p:nvSpPr>
        <p:spPr>
          <a:xfrm>
            <a:off x="6355080" y="3456432"/>
            <a:ext cx="457200" cy="365760"/>
          </a:xfrm>
          <a:prstGeom prst="rect">
            <a:avLst/>
          </a:prstGeom>
          <a:noFill/>
          <a:ln/>
        </p:spPr>
        <p:txBody>
          <a:bodyPr wrap="square" lIns="0" tIns="0" rIns="0" bIns="0" rtlCol="0" anchor="ctr"/>
          <a:lstStyle/>
          <a:p>
            <a:pPr marL="0" indent="0" algn="ctr">
              <a:buNone/>
            </a:pPr>
            <a:r>
              <a:rPr lang="en-US" sz="1600" dirty="0">
                <a:solidFill>
                  <a:srgbClr val="6C3CE9"/>
                </a:solidFill>
              </a:rPr>
              <a:t>▼</a:t>
            </a:r>
            <a:endParaRPr lang="en-US" sz="1600" dirty="0"/>
          </a:p>
        </p:txBody>
      </p:sp>
      <p:sp>
        <p:nvSpPr>
          <p:cNvPr id="13" name="Shape 11"/>
          <p:cNvSpPr/>
          <p:nvPr/>
        </p:nvSpPr>
        <p:spPr>
          <a:xfrm>
            <a:off x="2651760" y="3840480"/>
            <a:ext cx="3108960" cy="822960"/>
          </a:xfrm>
          <a:prstGeom prst="roundRect">
            <a:avLst>
              <a:gd name="adj" fmla="val 11111"/>
            </a:avLst>
          </a:prstGeom>
          <a:solidFill>
            <a:srgbClr val="F6F4FC"/>
          </a:solidFill>
          <a:ln/>
        </p:spPr>
      </p:sp>
      <p:sp>
        <p:nvSpPr>
          <p:cNvPr id="14" name="Text 12"/>
          <p:cNvSpPr/>
          <p:nvPr/>
        </p:nvSpPr>
        <p:spPr>
          <a:xfrm>
            <a:off x="2651760" y="3913632"/>
            <a:ext cx="3108960" cy="384048"/>
          </a:xfrm>
          <a:prstGeom prst="rect">
            <a:avLst/>
          </a:prstGeom>
          <a:noFill/>
          <a:ln/>
        </p:spPr>
        <p:txBody>
          <a:bodyPr wrap="square" lIns="0" tIns="0" rIns="0" bIns="0" rtlCol="0" anchor="t"/>
          <a:lstStyle/>
          <a:p>
            <a:pPr marL="0" indent="0" algn="ctr">
              <a:buNone/>
            </a:pPr>
            <a:r>
              <a:rPr lang="en-US" sz="1400" b="1" dirty="0">
                <a:solidFill>
                  <a:srgbClr val="1F1B3A"/>
                </a:solidFill>
                <a:latin typeface="Calibri" pitchFamily="34" charset="0"/>
                <a:ea typeface="Calibri" pitchFamily="34" charset="-122"/>
                <a:cs typeface="Calibri" pitchFamily="34" charset="-120"/>
              </a:rPr>
              <a:t>📡  News Service</a:t>
            </a:r>
            <a:endParaRPr lang="en-US" sz="1400" dirty="0"/>
          </a:p>
        </p:txBody>
      </p:sp>
      <p:sp>
        <p:nvSpPr>
          <p:cNvPr id="15" name="Text 13"/>
          <p:cNvSpPr/>
          <p:nvPr/>
        </p:nvSpPr>
        <p:spPr>
          <a:xfrm>
            <a:off x="2743200" y="4279392"/>
            <a:ext cx="2926080" cy="320040"/>
          </a:xfrm>
          <a:prstGeom prst="rect">
            <a:avLst/>
          </a:prstGeom>
          <a:noFill/>
          <a:ln/>
        </p:spPr>
        <p:txBody>
          <a:bodyPr wrap="square" lIns="0" tIns="0" rIns="0" bIns="0" rtlCol="0" anchor="t"/>
          <a:lstStyle/>
          <a:p>
            <a:pPr marL="0" indent="0" algn="ctr">
              <a:buNone/>
            </a:pPr>
            <a:r>
              <a:rPr lang="en-US" sz="950" dirty="0">
                <a:solidFill>
                  <a:srgbClr val="1F1B3A">
                    <a:alpha val="85000"/>
                  </a:srgbClr>
                </a:solidFill>
                <a:latin typeface="Calibri" pitchFamily="34" charset="0"/>
                <a:ea typeface="Calibri" pitchFamily="34" charset="-122"/>
                <a:cs typeface="Calibri" pitchFamily="34" charset="-120"/>
              </a:rPr>
              <a:t>Fetch · Cache · Normalize</a:t>
            </a:r>
            <a:endParaRPr lang="en-US" sz="950" dirty="0"/>
          </a:p>
        </p:txBody>
      </p:sp>
      <p:sp>
        <p:nvSpPr>
          <p:cNvPr id="16" name="Shape 14"/>
          <p:cNvSpPr/>
          <p:nvPr/>
        </p:nvSpPr>
        <p:spPr>
          <a:xfrm>
            <a:off x="6400800" y="3840480"/>
            <a:ext cx="3108960" cy="822960"/>
          </a:xfrm>
          <a:prstGeom prst="roundRect">
            <a:avLst>
              <a:gd name="adj" fmla="val 11111"/>
            </a:avLst>
          </a:prstGeom>
          <a:solidFill>
            <a:srgbClr val="F6F4FC"/>
          </a:solidFill>
          <a:ln/>
        </p:spPr>
      </p:sp>
      <p:sp>
        <p:nvSpPr>
          <p:cNvPr id="17" name="Text 15"/>
          <p:cNvSpPr/>
          <p:nvPr/>
        </p:nvSpPr>
        <p:spPr>
          <a:xfrm>
            <a:off x="6400800" y="3913632"/>
            <a:ext cx="3108960" cy="384048"/>
          </a:xfrm>
          <a:prstGeom prst="rect">
            <a:avLst/>
          </a:prstGeom>
          <a:noFill/>
          <a:ln/>
        </p:spPr>
        <p:txBody>
          <a:bodyPr wrap="square" lIns="0" tIns="0" rIns="0" bIns="0" rtlCol="0" anchor="t"/>
          <a:lstStyle/>
          <a:p>
            <a:pPr marL="0" indent="0" algn="ctr">
              <a:buNone/>
            </a:pPr>
            <a:r>
              <a:rPr lang="en-US" sz="1400" b="1" dirty="0">
                <a:solidFill>
                  <a:srgbClr val="1F1B3A"/>
                </a:solidFill>
                <a:latin typeface="Calibri" pitchFamily="34" charset="0"/>
                <a:ea typeface="Calibri" pitchFamily="34" charset="-122"/>
                <a:cs typeface="Calibri" pitchFamily="34" charset="-120"/>
              </a:rPr>
              <a:t>🗂  Category Service</a:t>
            </a:r>
            <a:endParaRPr lang="en-US" sz="1400" dirty="0"/>
          </a:p>
        </p:txBody>
      </p:sp>
      <p:sp>
        <p:nvSpPr>
          <p:cNvPr id="18" name="Text 16"/>
          <p:cNvSpPr/>
          <p:nvPr/>
        </p:nvSpPr>
        <p:spPr>
          <a:xfrm>
            <a:off x="6492240" y="4279392"/>
            <a:ext cx="2926080" cy="320040"/>
          </a:xfrm>
          <a:prstGeom prst="rect">
            <a:avLst/>
          </a:prstGeom>
          <a:noFill/>
          <a:ln/>
        </p:spPr>
        <p:txBody>
          <a:bodyPr wrap="square" lIns="0" tIns="0" rIns="0" bIns="0" rtlCol="0" anchor="t"/>
          <a:lstStyle/>
          <a:p>
            <a:pPr marL="0" indent="0" algn="ctr">
              <a:buNone/>
            </a:pPr>
            <a:r>
              <a:rPr lang="en-US" sz="950" dirty="0">
                <a:solidFill>
                  <a:srgbClr val="1F1B3A">
                    <a:alpha val="85000"/>
                  </a:srgbClr>
                </a:solidFill>
                <a:latin typeface="Calibri" pitchFamily="34" charset="0"/>
                <a:ea typeface="Calibri" pitchFamily="34" charset="-122"/>
                <a:cs typeface="Calibri" pitchFamily="34" charset="-120"/>
              </a:rPr>
              <a:t>Interest → Keyword Mapping</a:t>
            </a:r>
            <a:endParaRPr lang="en-US" sz="950" dirty="0"/>
          </a:p>
        </p:txBody>
      </p:sp>
      <p:sp>
        <p:nvSpPr>
          <p:cNvPr id="19" name="Text 17"/>
          <p:cNvSpPr/>
          <p:nvPr/>
        </p:nvSpPr>
        <p:spPr>
          <a:xfrm>
            <a:off x="4434840" y="3566160"/>
            <a:ext cx="457200" cy="320040"/>
          </a:xfrm>
          <a:prstGeom prst="rect">
            <a:avLst/>
          </a:prstGeom>
          <a:noFill/>
          <a:ln/>
        </p:spPr>
        <p:txBody>
          <a:bodyPr wrap="square" lIns="0" tIns="0" rIns="0" bIns="0" rtlCol="0" anchor="ctr"/>
          <a:lstStyle/>
          <a:p>
            <a:pPr marL="0" indent="0" algn="ctr">
              <a:buNone/>
            </a:pPr>
            <a:r>
              <a:rPr lang="en-US" sz="1400" dirty="0">
                <a:solidFill>
                  <a:srgbClr val="6C3CE9"/>
                </a:solidFill>
              </a:rPr>
              <a:t>▼</a:t>
            </a:r>
            <a:endParaRPr lang="en-US" sz="1400" dirty="0"/>
          </a:p>
        </p:txBody>
      </p:sp>
      <p:sp>
        <p:nvSpPr>
          <p:cNvPr id="20" name="Text 18"/>
          <p:cNvSpPr/>
          <p:nvPr/>
        </p:nvSpPr>
        <p:spPr>
          <a:xfrm>
            <a:off x="8275320" y="3566160"/>
            <a:ext cx="457200" cy="320040"/>
          </a:xfrm>
          <a:prstGeom prst="rect">
            <a:avLst/>
          </a:prstGeom>
          <a:noFill/>
          <a:ln/>
        </p:spPr>
        <p:txBody>
          <a:bodyPr wrap="square" lIns="0" tIns="0" rIns="0" bIns="0" rtlCol="0" anchor="ctr"/>
          <a:lstStyle/>
          <a:p>
            <a:pPr marL="0" indent="0" algn="ctr">
              <a:buNone/>
            </a:pPr>
            <a:r>
              <a:rPr lang="en-US" sz="1400" dirty="0">
                <a:solidFill>
                  <a:srgbClr val="6C3CE9"/>
                </a:solidFill>
              </a:rPr>
              <a:t>▼</a:t>
            </a:r>
            <a:endParaRPr lang="en-US" sz="1400" dirty="0"/>
          </a:p>
        </p:txBody>
      </p:sp>
      <p:sp>
        <p:nvSpPr>
          <p:cNvPr id="21" name="Text 19"/>
          <p:cNvSpPr/>
          <p:nvPr/>
        </p:nvSpPr>
        <p:spPr>
          <a:xfrm>
            <a:off x="3977640" y="4709160"/>
            <a:ext cx="457200" cy="320040"/>
          </a:xfrm>
          <a:prstGeom prst="rect">
            <a:avLst/>
          </a:prstGeom>
          <a:noFill/>
          <a:ln/>
        </p:spPr>
        <p:txBody>
          <a:bodyPr wrap="square" lIns="0" tIns="0" rIns="0" bIns="0" rtlCol="0" anchor="ctr"/>
          <a:lstStyle/>
          <a:p>
            <a:pPr marL="0" indent="0" algn="ctr">
              <a:buNone/>
            </a:pPr>
            <a:r>
              <a:rPr lang="en-US" sz="1600" dirty="0">
                <a:solidFill>
                  <a:srgbClr val="6C3CE9"/>
                </a:solidFill>
              </a:rPr>
              <a:t>▼</a:t>
            </a:r>
            <a:endParaRPr lang="en-US" sz="1600" dirty="0"/>
          </a:p>
        </p:txBody>
      </p:sp>
      <p:sp>
        <p:nvSpPr>
          <p:cNvPr id="22" name="Shape 20"/>
          <p:cNvSpPr/>
          <p:nvPr/>
        </p:nvSpPr>
        <p:spPr>
          <a:xfrm>
            <a:off x="2651760" y="5074920"/>
            <a:ext cx="3108960" cy="658368"/>
          </a:xfrm>
          <a:prstGeom prst="roundRect">
            <a:avLst>
              <a:gd name="adj" fmla="val 13889"/>
            </a:avLst>
          </a:prstGeom>
          <a:solidFill>
            <a:srgbClr val="1F1444"/>
          </a:solidFill>
          <a:ln/>
        </p:spPr>
      </p:sp>
      <p:sp>
        <p:nvSpPr>
          <p:cNvPr id="23" name="Text 21"/>
          <p:cNvSpPr/>
          <p:nvPr/>
        </p:nvSpPr>
        <p:spPr>
          <a:xfrm>
            <a:off x="2651760" y="5074920"/>
            <a:ext cx="3108960" cy="65836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  News API (External)</a:t>
            </a:r>
            <a:endParaRPr lang="en-US" sz="1400" dirty="0"/>
          </a:p>
        </p:txBody>
      </p:sp>
      <p:sp>
        <p:nvSpPr>
          <p:cNvPr id="24" name="Shape 22"/>
          <p:cNvSpPr/>
          <p:nvPr/>
        </p:nvSpPr>
        <p:spPr>
          <a:xfrm>
            <a:off x="9784080" y="1645920"/>
            <a:ext cx="1874520" cy="4087368"/>
          </a:xfrm>
          <a:prstGeom prst="roundRect">
            <a:avLst>
              <a:gd name="adj" fmla="val 4878"/>
            </a:avLst>
          </a:prstGeom>
          <a:solidFill>
            <a:srgbClr val="FDF2F8"/>
          </a:solidFill>
          <a:ln w="15875">
            <a:solidFill>
              <a:srgbClr val="EC4899"/>
            </a:solidFill>
            <a:prstDash val="dash"/>
          </a:ln>
        </p:spPr>
      </p:sp>
      <p:sp>
        <p:nvSpPr>
          <p:cNvPr id="25" name="Text 23"/>
          <p:cNvSpPr/>
          <p:nvPr/>
        </p:nvSpPr>
        <p:spPr>
          <a:xfrm>
            <a:off x="9784080" y="1810512"/>
            <a:ext cx="1874520" cy="457200"/>
          </a:xfrm>
          <a:prstGeom prst="rect">
            <a:avLst/>
          </a:prstGeom>
          <a:noFill/>
          <a:ln/>
        </p:spPr>
        <p:txBody>
          <a:bodyPr wrap="square" lIns="0" tIns="0" rIns="0" bIns="0" rtlCol="0" anchor="ctr"/>
          <a:lstStyle/>
          <a:p>
            <a:pPr marL="0" indent="0" algn="ctr">
              <a:buNone/>
            </a:pPr>
            <a:r>
              <a:rPr lang="en-US" sz="2400" dirty="0">
                <a:solidFill>
                  <a:srgbClr val="000000"/>
                </a:solidFill>
                <a:latin typeface="Segoe UI Emoji" pitchFamily="34" charset="0"/>
                <a:ea typeface="Segoe UI Emoji" pitchFamily="34" charset="-122"/>
                <a:cs typeface="Segoe UI Emoji" pitchFamily="34" charset="-120"/>
              </a:rPr>
              <a:t>💾</a:t>
            </a:r>
            <a:endParaRPr lang="en-US" sz="2400" dirty="0"/>
          </a:p>
        </p:txBody>
      </p:sp>
      <p:sp>
        <p:nvSpPr>
          <p:cNvPr id="26" name="Text 24"/>
          <p:cNvSpPr/>
          <p:nvPr/>
        </p:nvSpPr>
        <p:spPr>
          <a:xfrm>
            <a:off x="9829800" y="2286000"/>
            <a:ext cx="1783080" cy="320040"/>
          </a:xfrm>
          <a:prstGeom prst="rect">
            <a:avLst/>
          </a:prstGeom>
          <a:noFill/>
          <a:ln/>
        </p:spPr>
        <p:txBody>
          <a:bodyPr wrap="square" lIns="0" tIns="0" rIns="0" bIns="0" rtlCol="0" anchor="ctr"/>
          <a:lstStyle/>
          <a:p>
            <a:pPr marL="0" indent="0" algn="ctr">
              <a:buNone/>
            </a:pPr>
            <a:r>
              <a:rPr lang="en-US" sz="1250" b="1" dirty="0">
                <a:solidFill>
                  <a:srgbClr val="2A1B5D"/>
                </a:solidFill>
                <a:latin typeface="Calibri" pitchFamily="34" charset="0"/>
                <a:ea typeface="Calibri" pitchFamily="34" charset="-122"/>
                <a:cs typeface="Calibri" pitchFamily="34" charset="-120"/>
              </a:rPr>
              <a:t>localStorage</a:t>
            </a:r>
            <a:endParaRPr lang="en-US" sz="1250" dirty="0"/>
          </a:p>
        </p:txBody>
      </p:sp>
      <p:sp>
        <p:nvSpPr>
          <p:cNvPr id="27" name="Text 25"/>
          <p:cNvSpPr/>
          <p:nvPr/>
        </p:nvSpPr>
        <p:spPr>
          <a:xfrm>
            <a:off x="9893808" y="2651760"/>
            <a:ext cx="1691640" cy="1463040"/>
          </a:xfrm>
          <a:prstGeom prst="rect">
            <a:avLst/>
          </a:prstGeom>
          <a:noFill/>
          <a:ln/>
        </p:spPr>
        <p:txBody>
          <a:bodyPr wrap="square" lIns="0" tIns="0" rIns="0" bIns="0" rtlCol="0" anchor="t"/>
          <a:lstStyle/>
          <a:p>
            <a:pPr marL="0" indent="0">
              <a:buNone/>
            </a:pPr>
            <a:r>
              <a:rPr lang="en-US" sz="1000" dirty="0">
                <a:solidFill>
                  <a:srgbClr val="6B6480"/>
                </a:solidFill>
                <a:latin typeface="Calibri" pitchFamily="34" charset="0"/>
                <a:ea typeface="Calibri" pitchFamily="34" charset="-122"/>
                <a:cs typeface="Calibri" pitchFamily="34" charset="-120"/>
              </a:rPr>
              <a:t>Stores on the browser:</a:t>
            </a:r>
            <a:endParaRPr lang="en-US" sz="1000" dirty="0"/>
          </a:p>
          <a:p>
            <a:pPr marL="0" indent="0">
              <a:buNone/>
            </a:pPr>
            <a:r>
              <a:rPr lang="en-US" sz="1000" dirty="0">
                <a:solidFill>
                  <a:srgbClr val="6B6480"/>
                </a:solidFill>
                <a:latin typeface="Calibri" pitchFamily="34" charset="0"/>
                <a:ea typeface="Calibri" pitchFamily="34" charset="-122"/>
                <a:cs typeface="Calibri" pitchFamily="34" charset="-120"/>
              </a:rPr>
              <a:t>• Name</a:t>
            </a:r>
            <a:endParaRPr lang="en-US" sz="1000" dirty="0"/>
          </a:p>
          <a:p>
            <a:pPr marL="0" indent="0">
              <a:buNone/>
            </a:pPr>
            <a:r>
              <a:rPr lang="en-US" sz="1000" dirty="0">
                <a:solidFill>
                  <a:srgbClr val="6B6480"/>
                </a:solidFill>
                <a:latin typeface="Calibri" pitchFamily="34" charset="0"/>
                <a:ea typeface="Calibri" pitchFamily="34" charset="-122"/>
                <a:cs typeface="Calibri" pitchFamily="34" charset="-120"/>
              </a:rPr>
              <a:t>• Theme</a:t>
            </a:r>
            <a:endParaRPr lang="en-US" sz="1000" dirty="0"/>
          </a:p>
          <a:p>
            <a:pPr marL="0" indent="0">
              <a:buNone/>
            </a:pPr>
            <a:r>
              <a:rPr lang="en-US" sz="1000" dirty="0">
                <a:solidFill>
                  <a:srgbClr val="6B6480"/>
                </a:solidFill>
                <a:latin typeface="Calibri" pitchFamily="34" charset="0"/>
                <a:ea typeface="Calibri" pitchFamily="34" charset="-122"/>
                <a:cs typeface="Calibri" pitchFamily="34" charset="-120"/>
              </a:rPr>
              <a:t>• Interests</a:t>
            </a:r>
            <a:endParaRPr lang="en-US" sz="1000" dirty="0"/>
          </a:p>
          <a:p>
            <a:pPr marL="0" indent="0">
              <a:buNone/>
            </a:pPr>
            <a:r>
              <a:rPr lang="en-US" sz="1000" dirty="0">
                <a:solidFill>
                  <a:srgbClr val="6B6480"/>
                </a:solidFill>
                <a:latin typeface="Calibri" pitchFamily="34" charset="0"/>
                <a:ea typeface="Calibri" pitchFamily="34" charset="-122"/>
                <a:cs typeface="Calibri" pitchFamily="34" charset="-120"/>
              </a:rPr>
              <a:t>• Bookmarks</a:t>
            </a:r>
            <a:endParaRPr lang="en-US" sz="1000" dirty="0"/>
          </a:p>
        </p:txBody>
      </p:sp>
      <p:sp>
        <p:nvSpPr>
          <p:cNvPr id="28" name="Text 26"/>
          <p:cNvSpPr/>
          <p:nvPr/>
        </p:nvSpPr>
        <p:spPr>
          <a:xfrm>
            <a:off x="9829800" y="4892040"/>
            <a:ext cx="1783080" cy="685800"/>
          </a:xfrm>
          <a:prstGeom prst="rect">
            <a:avLst/>
          </a:prstGeom>
          <a:noFill/>
          <a:ln/>
        </p:spPr>
        <p:txBody>
          <a:bodyPr wrap="square" lIns="0" tIns="0" rIns="0" bIns="0" rtlCol="0" anchor="ctr"/>
          <a:lstStyle/>
          <a:p>
            <a:pPr marL="0" indent="0" algn="ctr">
              <a:buNone/>
            </a:pPr>
            <a:r>
              <a:rPr lang="en-US" sz="950" i="1" dirty="0">
                <a:solidFill>
                  <a:srgbClr val="EC4899"/>
                </a:solidFill>
                <a:latin typeface="Calibri" pitchFamily="34" charset="0"/>
                <a:ea typeface="Calibri" pitchFamily="34" charset="-122"/>
                <a:cs typeface="Calibri" pitchFamily="34" charset="-120"/>
              </a:rPr>
              <a:t>No database</a:t>
            </a:r>
            <a:endParaRPr lang="en-US" sz="950" dirty="0"/>
          </a:p>
          <a:p>
            <a:pPr marL="0" indent="0" algn="ctr">
              <a:buNone/>
            </a:pPr>
            <a:r>
              <a:rPr lang="en-US" sz="950" i="1" dirty="0">
                <a:solidFill>
                  <a:srgbClr val="EC4899"/>
                </a:solidFill>
                <a:latin typeface="Calibri" pitchFamily="34" charset="0"/>
                <a:ea typeface="Calibri" pitchFamily="34" charset="-122"/>
                <a:cs typeface="Calibri" pitchFamily="34" charset="-120"/>
              </a:rPr>
              <a:t>is used anywhere</a:t>
            </a:r>
            <a:endParaRPr lang="en-US" sz="950" dirty="0"/>
          </a:p>
        </p:txBody>
      </p:sp>
      <p:sp>
        <p:nvSpPr>
          <p:cNvPr id="29" name="Text 27"/>
          <p:cNvSpPr/>
          <p:nvPr/>
        </p:nvSpPr>
        <p:spPr>
          <a:xfrm>
            <a:off x="548640" y="6528816"/>
            <a:ext cx="2743200" cy="274320"/>
          </a:xfrm>
          <a:prstGeom prst="rect">
            <a:avLst/>
          </a:prstGeom>
          <a:noFill/>
          <a:ln/>
        </p:spPr>
        <p:txBody>
          <a:bodyPr wrap="square" lIns="0" tIns="0" rIns="0" bIns="0" rtlCol="0" anchor="ctr"/>
          <a:lstStyle/>
          <a:p>
            <a:pPr marL="0" indent="0" algn="l">
              <a:buNone/>
            </a:pPr>
            <a:r>
              <a:rPr lang="en-US" sz="1000" dirty="0">
                <a:solidFill>
                  <a:srgbClr val="6B6480"/>
                </a:solidFill>
                <a:latin typeface="Calibri" pitchFamily="34" charset="0"/>
                <a:ea typeface="Calibri" pitchFamily="34" charset="-122"/>
                <a:cs typeface="Calibri" pitchFamily="34" charset="-120"/>
              </a:rPr>
              <a:t>NewsNest</a:t>
            </a:r>
            <a:endParaRPr lang="en-US" sz="1000" dirty="0"/>
          </a:p>
        </p:txBody>
      </p:sp>
      <p:sp>
        <p:nvSpPr>
          <p:cNvPr id="30" name="Text 28"/>
          <p:cNvSpPr/>
          <p:nvPr/>
        </p:nvSpPr>
        <p:spPr>
          <a:xfrm>
            <a:off x="11183112" y="6528816"/>
            <a:ext cx="457200" cy="274320"/>
          </a:xfrm>
          <a:prstGeom prst="rect">
            <a:avLst/>
          </a:prstGeom>
          <a:noFill/>
          <a:ln/>
        </p:spPr>
        <p:txBody>
          <a:bodyPr wrap="square" lIns="0" tIns="0" rIns="0" bIns="0" rtlCol="0" anchor="ctr"/>
          <a:lstStyle/>
          <a:p>
            <a:pPr marL="0" indent="0" algn="r">
              <a:buNone/>
            </a:pPr>
            <a:r>
              <a:rPr lang="en-US" sz="1000" dirty="0">
                <a:solidFill>
                  <a:srgbClr val="6B6480"/>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91672" cy="685800"/>
          </a:xfrm>
          <a:prstGeom prst="rect">
            <a:avLst/>
          </a:prstGeom>
          <a:noFill/>
          <a:ln/>
        </p:spPr>
        <p:txBody>
          <a:bodyPr wrap="square" lIns="0" tIns="0" rIns="0" bIns="0" rtlCol="0" anchor="ctr"/>
          <a:lstStyle/>
          <a:p>
            <a:pPr marL="0" indent="0" algn="l">
              <a:buNone/>
            </a:pPr>
            <a:r>
              <a:rPr lang="en-US" sz="3200" b="1" dirty="0">
                <a:solidFill>
                  <a:srgbClr val="2A1B5D"/>
                </a:solidFill>
                <a:latin typeface="Cambria" pitchFamily="34" charset="0"/>
                <a:ea typeface="Cambria" pitchFamily="34" charset="-122"/>
                <a:cs typeface="Cambria" pitchFamily="34" charset="-120"/>
              </a:rPr>
              <a:t>Microservices Architecture</a:t>
            </a:r>
            <a:endParaRPr lang="en-US" sz="3200" dirty="0"/>
          </a:p>
        </p:txBody>
      </p:sp>
      <p:sp>
        <p:nvSpPr>
          <p:cNvPr id="3" name="Shape 1"/>
          <p:cNvSpPr/>
          <p:nvPr/>
        </p:nvSpPr>
        <p:spPr>
          <a:xfrm>
            <a:off x="548640" y="1042416"/>
            <a:ext cx="502920" cy="41148"/>
          </a:xfrm>
          <a:prstGeom prst="rect">
            <a:avLst/>
          </a:prstGeom>
          <a:solidFill>
            <a:srgbClr val="EC4899"/>
          </a:solidFill>
          <a:ln/>
        </p:spPr>
      </p:sp>
      <p:sp>
        <p:nvSpPr>
          <p:cNvPr id="4" name="Text 2"/>
          <p:cNvSpPr/>
          <p:nvPr/>
        </p:nvSpPr>
        <p:spPr>
          <a:xfrm>
            <a:off x="548640" y="1097280"/>
            <a:ext cx="11091672" cy="365760"/>
          </a:xfrm>
          <a:prstGeom prst="rect">
            <a:avLst/>
          </a:prstGeom>
          <a:noFill/>
          <a:ln/>
        </p:spPr>
        <p:txBody>
          <a:bodyPr wrap="square" lIns="0" tIns="0" rIns="0" bIns="0" rtlCol="0" anchor="ctr"/>
          <a:lstStyle/>
          <a:p>
            <a:pPr marL="0" indent="0" algn="l">
              <a:buNone/>
            </a:pPr>
            <a:r>
              <a:rPr lang="en-US" sz="1400" i="1" dirty="0">
                <a:solidFill>
                  <a:srgbClr val="6B6480"/>
                </a:solidFill>
                <a:latin typeface="Calibri" pitchFamily="34" charset="0"/>
                <a:ea typeface="Calibri" pitchFamily="34" charset="-122"/>
                <a:cs typeface="Calibri" pitchFamily="34" charset="-120"/>
              </a:rPr>
              <a:t>Four independent services, each with a single responsibility</a:t>
            </a:r>
            <a:endParaRPr lang="en-US" sz="1400" dirty="0"/>
          </a:p>
        </p:txBody>
      </p:sp>
      <p:sp>
        <p:nvSpPr>
          <p:cNvPr id="5" name="Shape 3"/>
          <p:cNvSpPr/>
          <p:nvPr/>
        </p:nvSpPr>
        <p:spPr>
          <a:xfrm>
            <a:off x="548640" y="1600200"/>
            <a:ext cx="2624328" cy="2880360"/>
          </a:xfrm>
          <a:prstGeom prst="roundRect">
            <a:avLst>
              <a:gd name="adj" fmla="val 3484"/>
            </a:avLst>
          </a:prstGeom>
          <a:solidFill>
            <a:srgbClr val="F6F4FC"/>
          </a:solidFill>
          <a:ln/>
        </p:spPr>
      </p:sp>
      <p:sp>
        <p:nvSpPr>
          <p:cNvPr id="6" name="Shape 4"/>
          <p:cNvSpPr/>
          <p:nvPr/>
        </p:nvSpPr>
        <p:spPr>
          <a:xfrm>
            <a:off x="1540764" y="1828800"/>
            <a:ext cx="640080" cy="640080"/>
          </a:xfrm>
          <a:prstGeom prst="ellipse">
            <a:avLst/>
          </a:prstGeom>
          <a:solidFill>
            <a:srgbClr val="6C3CE9"/>
          </a:solidFill>
          <a:ln/>
        </p:spPr>
      </p:sp>
      <p:sp>
        <p:nvSpPr>
          <p:cNvPr id="7" name="Text 5"/>
          <p:cNvSpPr/>
          <p:nvPr/>
        </p:nvSpPr>
        <p:spPr>
          <a:xfrm>
            <a:off x="1540764" y="1810512"/>
            <a:ext cx="640080" cy="640080"/>
          </a:xfrm>
          <a:prstGeom prst="rect">
            <a:avLst/>
          </a:prstGeom>
          <a:noFill/>
          <a:ln/>
        </p:spPr>
        <p:txBody>
          <a:bodyPr wrap="square" lIns="0" tIns="0" rIns="0" bIns="0" rtlCol="0" anchor="ctr"/>
          <a:lstStyle/>
          <a:p>
            <a:pPr marL="0" indent="0" algn="ctr">
              <a:buNone/>
            </a:pPr>
            <a:r>
              <a:rPr lang="en-US" sz="2800" dirty="0">
                <a:solidFill>
                  <a:srgbClr val="000000"/>
                </a:solidFill>
                <a:latin typeface="Segoe UI Emoji" pitchFamily="34" charset="0"/>
                <a:ea typeface="Segoe UI Emoji" pitchFamily="34" charset="-122"/>
                <a:cs typeface="Segoe UI Emoji" pitchFamily="34" charset="-120"/>
              </a:rPr>
              <a:t>🖥</a:t>
            </a:r>
            <a:endParaRPr lang="en-US" sz="2800" dirty="0"/>
          </a:p>
        </p:txBody>
      </p:sp>
      <p:sp>
        <p:nvSpPr>
          <p:cNvPr id="8" name="Text 6"/>
          <p:cNvSpPr/>
          <p:nvPr/>
        </p:nvSpPr>
        <p:spPr>
          <a:xfrm>
            <a:off x="548640" y="2606040"/>
            <a:ext cx="2624328" cy="365760"/>
          </a:xfrm>
          <a:prstGeom prst="rect">
            <a:avLst/>
          </a:prstGeom>
          <a:noFill/>
          <a:ln/>
        </p:spPr>
        <p:txBody>
          <a:bodyPr wrap="square" lIns="0" tIns="0" rIns="0" bIns="0" rtlCol="0" anchor="ctr"/>
          <a:lstStyle/>
          <a:p>
            <a:pPr marL="0" indent="0" algn="ctr">
              <a:buNone/>
            </a:pPr>
            <a:r>
              <a:rPr lang="en-US" sz="1500" b="1" dirty="0">
                <a:solidFill>
                  <a:srgbClr val="1F1B3A"/>
                </a:solidFill>
                <a:latin typeface="Calibri" pitchFamily="34" charset="0"/>
                <a:ea typeface="Calibri" pitchFamily="34" charset="-122"/>
                <a:cs typeface="Calibri" pitchFamily="34" charset="-120"/>
              </a:rPr>
              <a:t>Frontend</a:t>
            </a:r>
            <a:endParaRPr lang="en-US" sz="1500" dirty="0"/>
          </a:p>
        </p:txBody>
      </p:sp>
      <p:sp>
        <p:nvSpPr>
          <p:cNvPr id="9" name="Text 7"/>
          <p:cNvSpPr/>
          <p:nvPr/>
        </p:nvSpPr>
        <p:spPr>
          <a:xfrm>
            <a:off x="749808" y="3063240"/>
            <a:ext cx="2221992" cy="1280160"/>
          </a:xfrm>
          <a:prstGeom prst="rect">
            <a:avLst/>
          </a:prstGeom>
          <a:noFill/>
          <a:ln/>
        </p:spPr>
        <p:txBody>
          <a:bodyPr wrap="square" lIns="0" tIns="0" rIns="0" bIns="0" rtlCol="0" anchor="t"/>
          <a:lstStyle/>
          <a:p>
            <a:pPr marL="342900" indent="-342900">
              <a:lnSpc>
                <a:spcPts val="1600"/>
              </a:lnSpc>
              <a:buSzPct val="100000"/>
              <a:buChar char="•"/>
            </a:pPr>
            <a:r>
              <a:rPr lang="en-US" sz="1050" dirty="0">
                <a:solidFill>
                  <a:srgbClr val="6B6480"/>
                </a:solidFill>
                <a:latin typeface="Calibri" pitchFamily="34" charset="0"/>
                <a:ea typeface="Calibri" pitchFamily="34" charset="-122"/>
                <a:cs typeface="Calibri" pitchFamily="34" charset="-120"/>
              </a:rPr>
              <a:t>Static HTML/CSS/JS</a:t>
            </a:r>
            <a:endParaRPr lang="en-US" sz="1050" dirty="0"/>
          </a:p>
          <a:p>
            <a:pPr marL="342900" indent="-342900">
              <a:lnSpc>
                <a:spcPts val="1600"/>
              </a:lnSpc>
              <a:buSzPct val="100000"/>
              <a:buChar char="•"/>
            </a:pPr>
            <a:r>
              <a:rPr lang="en-US" sz="1050" dirty="0">
                <a:solidFill>
                  <a:srgbClr val="6B6480"/>
                </a:solidFill>
                <a:latin typeface="Calibri" pitchFamily="34" charset="0"/>
                <a:ea typeface="Calibri" pitchFamily="34" charset="-122"/>
                <a:cs typeface="Calibri" pitchFamily="34" charset="-120"/>
              </a:rPr>
              <a:t>Talks only to API Gateway</a:t>
            </a:r>
            <a:endParaRPr lang="en-US" sz="1050" dirty="0"/>
          </a:p>
          <a:p>
            <a:pPr marL="342900" indent="-342900">
              <a:lnSpc>
                <a:spcPts val="1600"/>
              </a:lnSpc>
              <a:buSzPct val="100000"/>
              <a:buChar char="•"/>
            </a:pPr>
            <a:r>
              <a:rPr lang="en-US" sz="1050" dirty="0">
                <a:solidFill>
                  <a:srgbClr val="6B6480"/>
                </a:solidFill>
                <a:latin typeface="Calibri" pitchFamily="34" charset="0"/>
                <a:ea typeface="Calibri" pitchFamily="34" charset="-122"/>
                <a:cs typeface="Calibri" pitchFamily="34" charset="-120"/>
              </a:rPr>
              <a:t>Renders personalized UI</a:t>
            </a:r>
            <a:endParaRPr lang="en-US" sz="1050" dirty="0"/>
          </a:p>
        </p:txBody>
      </p:sp>
      <p:sp>
        <p:nvSpPr>
          <p:cNvPr id="10" name="Text 8"/>
          <p:cNvSpPr/>
          <p:nvPr/>
        </p:nvSpPr>
        <p:spPr>
          <a:xfrm>
            <a:off x="3172968" y="2834640"/>
            <a:ext cx="201168" cy="457200"/>
          </a:xfrm>
          <a:prstGeom prst="rect">
            <a:avLst/>
          </a:prstGeom>
          <a:noFill/>
          <a:ln/>
        </p:spPr>
        <p:txBody>
          <a:bodyPr wrap="square" lIns="0" tIns="0" rIns="0" bIns="0" rtlCol="0" anchor="ctr"/>
          <a:lstStyle/>
          <a:p>
            <a:pPr marL="0" indent="0" algn="ctr">
              <a:buNone/>
            </a:pPr>
            <a:r>
              <a:rPr lang="en-US" sz="1600" dirty="0">
                <a:solidFill>
                  <a:srgbClr val="6C3CE9"/>
                </a:solidFill>
              </a:rPr>
              <a:t>→</a:t>
            </a:r>
            <a:endParaRPr lang="en-US" sz="1600" dirty="0"/>
          </a:p>
        </p:txBody>
      </p:sp>
      <p:sp>
        <p:nvSpPr>
          <p:cNvPr id="11" name="Shape 9"/>
          <p:cNvSpPr/>
          <p:nvPr/>
        </p:nvSpPr>
        <p:spPr>
          <a:xfrm>
            <a:off x="3374136" y="1600200"/>
            <a:ext cx="2624328" cy="2880360"/>
          </a:xfrm>
          <a:prstGeom prst="roundRect">
            <a:avLst>
              <a:gd name="adj" fmla="val 3484"/>
            </a:avLst>
          </a:prstGeom>
          <a:solidFill>
            <a:srgbClr val="F6F4FC"/>
          </a:solidFill>
          <a:ln/>
        </p:spPr>
      </p:sp>
      <p:sp>
        <p:nvSpPr>
          <p:cNvPr id="12" name="Shape 10"/>
          <p:cNvSpPr/>
          <p:nvPr/>
        </p:nvSpPr>
        <p:spPr>
          <a:xfrm>
            <a:off x="4366260" y="1828800"/>
            <a:ext cx="640080" cy="640080"/>
          </a:xfrm>
          <a:prstGeom prst="ellipse">
            <a:avLst/>
          </a:prstGeom>
          <a:solidFill>
            <a:srgbClr val="2A1B5D"/>
          </a:solidFill>
          <a:ln/>
        </p:spPr>
      </p:sp>
      <p:sp>
        <p:nvSpPr>
          <p:cNvPr id="13" name="Text 11"/>
          <p:cNvSpPr/>
          <p:nvPr/>
        </p:nvSpPr>
        <p:spPr>
          <a:xfrm>
            <a:off x="4366260" y="1810512"/>
            <a:ext cx="640080" cy="640080"/>
          </a:xfrm>
          <a:prstGeom prst="rect">
            <a:avLst/>
          </a:prstGeom>
          <a:noFill/>
          <a:ln/>
        </p:spPr>
        <p:txBody>
          <a:bodyPr wrap="square" lIns="0" tIns="0" rIns="0" bIns="0" rtlCol="0" anchor="ctr"/>
          <a:lstStyle/>
          <a:p>
            <a:pPr marL="0" indent="0" algn="ctr">
              <a:buNone/>
            </a:pPr>
            <a:r>
              <a:rPr lang="en-US" sz="2800" dirty="0">
                <a:solidFill>
                  <a:srgbClr val="000000"/>
                </a:solidFill>
                <a:latin typeface="Segoe UI Emoji" pitchFamily="34" charset="0"/>
                <a:ea typeface="Segoe UI Emoji" pitchFamily="34" charset="-122"/>
                <a:cs typeface="Segoe UI Emoji" pitchFamily="34" charset="-120"/>
              </a:rPr>
              <a:t>🚪</a:t>
            </a:r>
            <a:endParaRPr lang="en-US" sz="2800" dirty="0"/>
          </a:p>
        </p:txBody>
      </p:sp>
      <p:sp>
        <p:nvSpPr>
          <p:cNvPr id="14" name="Text 12"/>
          <p:cNvSpPr/>
          <p:nvPr/>
        </p:nvSpPr>
        <p:spPr>
          <a:xfrm>
            <a:off x="3374136" y="2606040"/>
            <a:ext cx="2624328" cy="365760"/>
          </a:xfrm>
          <a:prstGeom prst="rect">
            <a:avLst/>
          </a:prstGeom>
          <a:noFill/>
          <a:ln/>
        </p:spPr>
        <p:txBody>
          <a:bodyPr wrap="square" lIns="0" tIns="0" rIns="0" bIns="0" rtlCol="0" anchor="ctr"/>
          <a:lstStyle/>
          <a:p>
            <a:pPr marL="0" indent="0" algn="ctr">
              <a:buNone/>
            </a:pPr>
            <a:r>
              <a:rPr lang="en-US" sz="1500" b="1" dirty="0">
                <a:solidFill>
                  <a:srgbClr val="1F1B3A"/>
                </a:solidFill>
                <a:latin typeface="Calibri" pitchFamily="34" charset="0"/>
                <a:ea typeface="Calibri" pitchFamily="34" charset="-122"/>
                <a:cs typeface="Calibri" pitchFamily="34" charset="-120"/>
              </a:rPr>
              <a:t>API Gateway</a:t>
            </a:r>
            <a:endParaRPr lang="en-US" sz="1500" dirty="0"/>
          </a:p>
        </p:txBody>
      </p:sp>
      <p:sp>
        <p:nvSpPr>
          <p:cNvPr id="15" name="Text 13"/>
          <p:cNvSpPr/>
          <p:nvPr/>
        </p:nvSpPr>
        <p:spPr>
          <a:xfrm>
            <a:off x="3575304" y="3063240"/>
            <a:ext cx="2221992" cy="1280160"/>
          </a:xfrm>
          <a:prstGeom prst="rect">
            <a:avLst/>
          </a:prstGeom>
          <a:noFill/>
          <a:ln/>
        </p:spPr>
        <p:txBody>
          <a:bodyPr wrap="square" lIns="0" tIns="0" rIns="0" bIns="0" rtlCol="0" anchor="t"/>
          <a:lstStyle/>
          <a:p>
            <a:pPr marL="342900" indent="-342900">
              <a:lnSpc>
                <a:spcPts val="1600"/>
              </a:lnSpc>
              <a:buSzPct val="100000"/>
              <a:buChar char="•"/>
            </a:pPr>
            <a:r>
              <a:rPr lang="en-US" sz="1050" dirty="0">
                <a:solidFill>
                  <a:srgbClr val="6B6480"/>
                </a:solidFill>
                <a:latin typeface="Calibri" pitchFamily="34" charset="0"/>
                <a:ea typeface="Calibri" pitchFamily="34" charset="-122"/>
                <a:cs typeface="Calibri" pitchFamily="34" charset="-120"/>
              </a:rPr>
              <a:t>Single entry point</a:t>
            </a:r>
            <a:endParaRPr lang="en-US" sz="1050" dirty="0"/>
          </a:p>
          <a:p>
            <a:pPr marL="342900" indent="-342900">
              <a:lnSpc>
                <a:spcPts val="1600"/>
              </a:lnSpc>
              <a:buSzPct val="100000"/>
              <a:buChar char="•"/>
            </a:pPr>
            <a:r>
              <a:rPr lang="en-US" sz="1050" dirty="0">
                <a:solidFill>
                  <a:srgbClr val="6B6480"/>
                </a:solidFill>
                <a:latin typeface="Calibri" pitchFamily="34" charset="0"/>
                <a:ea typeface="Calibri" pitchFamily="34" charset="-122"/>
                <a:cs typeface="Calibri" pitchFamily="34" charset="-120"/>
              </a:rPr>
              <a:t>CORS &amp; rate limiting</a:t>
            </a:r>
            <a:endParaRPr lang="en-US" sz="1050" dirty="0"/>
          </a:p>
          <a:p>
            <a:pPr marL="342900" indent="-342900">
              <a:lnSpc>
                <a:spcPts val="1600"/>
              </a:lnSpc>
              <a:buSzPct val="100000"/>
              <a:buChar char="•"/>
            </a:pPr>
            <a:r>
              <a:rPr lang="en-US" sz="1050" dirty="0">
                <a:solidFill>
                  <a:srgbClr val="6B6480"/>
                </a:solidFill>
                <a:latin typeface="Calibri" pitchFamily="34" charset="0"/>
                <a:ea typeface="Calibri" pitchFamily="34" charset="-122"/>
                <a:cs typeface="Calibri" pitchFamily="34" charset="-120"/>
              </a:rPr>
              <a:t>Routes to backend services</a:t>
            </a:r>
            <a:endParaRPr lang="en-US" sz="1050" dirty="0"/>
          </a:p>
        </p:txBody>
      </p:sp>
      <p:sp>
        <p:nvSpPr>
          <p:cNvPr id="16" name="Text 14"/>
          <p:cNvSpPr/>
          <p:nvPr/>
        </p:nvSpPr>
        <p:spPr>
          <a:xfrm>
            <a:off x="5998464" y="2834640"/>
            <a:ext cx="201168" cy="457200"/>
          </a:xfrm>
          <a:prstGeom prst="rect">
            <a:avLst/>
          </a:prstGeom>
          <a:noFill/>
          <a:ln/>
        </p:spPr>
        <p:txBody>
          <a:bodyPr wrap="square" lIns="0" tIns="0" rIns="0" bIns="0" rtlCol="0" anchor="ctr"/>
          <a:lstStyle/>
          <a:p>
            <a:pPr marL="0" indent="0" algn="ctr">
              <a:buNone/>
            </a:pPr>
            <a:r>
              <a:rPr lang="en-US" sz="1600" dirty="0">
                <a:solidFill>
                  <a:srgbClr val="6C3CE9"/>
                </a:solidFill>
              </a:rPr>
              <a:t>→</a:t>
            </a:r>
            <a:endParaRPr lang="en-US" sz="1600" dirty="0"/>
          </a:p>
        </p:txBody>
      </p:sp>
      <p:sp>
        <p:nvSpPr>
          <p:cNvPr id="17" name="Shape 15"/>
          <p:cNvSpPr/>
          <p:nvPr/>
        </p:nvSpPr>
        <p:spPr>
          <a:xfrm>
            <a:off x="6199632" y="1600200"/>
            <a:ext cx="2624328" cy="2880360"/>
          </a:xfrm>
          <a:prstGeom prst="roundRect">
            <a:avLst>
              <a:gd name="adj" fmla="val 3484"/>
            </a:avLst>
          </a:prstGeom>
          <a:solidFill>
            <a:srgbClr val="F6F4FC"/>
          </a:solidFill>
          <a:ln/>
        </p:spPr>
      </p:sp>
      <p:sp>
        <p:nvSpPr>
          <p:cNvPr id="18" name="Shape 16"/>
          <p:cNvSpPr/>
          <p:nvPr/>
        </p:nvSpPr>
        <p:spPr>
          <a:xfrm>
            <a:off x="7191756" y="1828800"/>
            <a:ext cx="640080" cy="640080"/>
          </a:xfrm>
          <a:prstGeom prst="ellipse">
            <a:avLst/>
          </a:prstGeom>
          <a:solidFill>
            <a:srgbClr val="6C3CE9"/>
          </a:solidFill>
          <a:ln/>
        </p:spPr>
      </p:sp>
      <p:sp>
        <p:nvSpPr>
          <p:cNvPr id="19" name="Text 17"/>
          <p:cNvSpPr/>
          <p:nvPr/>
        </p:nvSpPr>
        <p:spPr>
          <a:xfrm>
            <a:off x="7191756" y="1810512"/>
            <a:ext cx="640080" cy="640080"/>
          </a:xfrm>
          <a:prstGeom prst="rect">
            <a:avLst/>
          </a:prstGeom>
          <a:noFill/>
          <a:ln/>
        </p:spPr>
        <p:txBody>
          <a:bodyPr wrap="square" lIns="0" tIns="0" rIns="0" bIns="0" rtlCol="0" anchor="ctr"/>
          <a:lstStyle/>
          <a:p>
            <a:pPr marL="0" indent="0" algn="ctr">
              <a:buNone/>
            </a:pPr>
            <a:r>
              <a:rPr lang="en-US" sz="2800" dirty="0">
                <a:solidFill>
                  <a:srgbClr val="000000"/>
                </a:solidFill>
                <a:latin typeface="Segoe UI Emoji" pitchFamily="34" charset="0"/>
                <a:ea typeface="Segoe UI Emoji" pitchFamily="34" charset="-122"/>
                <a:cs typeface="Segoe UI Emoji" pitchFamily="34" charset="-120"/>
              </a:rPr>
              <a:t>📡</a:t>
            </a:r>
            <a:endParaRPr lang="en-US" sz="2800" dirty="0"/>
          </a:p>
        </p:txBody>
      </p:sp>
      <p:sp>
        <p:nvSpPr>
          <p:cNvPr id="20" name="Text 18"/>
          <p:cNvSpPr/>
          <p:nvPr/>
        </p:nvSpPr>
        <p:spPr>
          <a:xfrm>
            <a:off x="6199632" y="2606040"/>
            <a:ext cx="2624328" cy="365760"/>
          </a:xfrm>
          <a:prstGeom prst="rect">
            <a:avLst/>
          </a:prstGeom>
          <a:noFill/>
          <a:ln/>
        </p:spPr>
        <p:txBody>
          <a:bodyPr wrap="square" lIns="0" tIns="0" rIns="0" bIns="0" rtlCol="0" anchor="ctr"/>
          <a:lstStyle/>
          <a:p>
            <a:pPr marL="0" indent="0" algn="ctr">
              <a:buNone/>
            </a:pPr>
            <a:r>
              <a:rPr lang="en-US" sz="1500" b="1" dirty="0">
                <a:solidFill>
                  <a:srgbClr val="1F1B3A"/>
                </a:solidFill>
                <a:latin typeface="Calibri" pitchFamily="34" charset="0"/>
                <a:ea typeface="Calibri" pitchFamily="34" charset="-122"/>
                <a:cs typeface="Calibri" pitchFamily="34" charset="-120"/>
              </a:rPr>
              <a:t>News Service</a:t>
            </a:r>
            <a:endParaRPr lang="en-US" sz="1500" dirty="0"/>
          </a:p>
        </p:txBody>
      </p:sp>
      <p:sp>
        <p:nvSpPr>
          <p:cNvPr id="21" name="Text 19"/>
          <p:cNvSpPr/>
          <p:nvPr/>
        </p:nvSpPr>
        <p:spPr>
          <a:xfrm>
            <a:off x="6400800" y="3063240"/>
            <a:ext cx="2221992" cy="1280160"/>
          </a:xfrm>
          <a:prstGeom prst="rect">
            <a:avLst/>
          </a:prstGeom>
          <a:noFill/>
          <a:ln/>
        </p:spPr>
        <p:txBody>
          <a:bodyPr wrap="square" lIns="0" tIns="0" rIns="0" bIns="0" rtlCol="0" anchor="t"/>
          <a:lstStyle/>
          <a:p>
            <a:pPr marL="342900" indent="-342900">
              <a:lnSpc>
                <a:spcPts val="1600"/>
              </a:lnSpc>
              <a:buSzPct val="100000"/>
              <a:buChar char="•"/>
            </a:pPr>
            <a:r>
              <a:rPr lang="en-US" sz="1050" dirty="0">
                <a:solidFill>
                  <a:srgbClr val="6B6480"/>
                </a:solidFill>
                <a:latin typeface="Calibri" pitchFamily="34" charset="0"/>
                <a:ea typeface="Calibri" pitchFamily="34" charset="-122"/>
                <a:cs typeface="Calibri" pitchFamily="34" charset="-120"/>
              </a:rPr>
              <a:t>Fetches from News API</a:t>
            </a:r>
            <a:endParaRPr lang="en-US" sz="1050" dirty="0"/>
          </a:p>
          <a:p>
            <a:pPr marL="342900" indent="-342900">
              <a:lnSpc>
                <a:spcPts val="1600"/>
              </a:lnSpc>
              <a:buSzPct val="100000"/>
              <a:buChar char="•"/>
            </a:pPr>
            <a:r>
              <a:rPr lang="en-US" sz="1050" dirty="0">
                <a:solidFill>
                  <a:srgbClr val="6B6480"/>
                </a:solidFill>
                <a:latin typeface="Calibri" pitchFamily="34" charset="0"/>
                <a:ea typeface="Calibri" pitchFamily="34" charset="-122"/>
                <a:cs typeface="Calibri" pitchFamily="34" charset="-120"/>
              </a:rPr>
              <a:t>5-min in-memory cache</a:t>
            </a:r>
            <a:endParaRPr lang="en-US" sz="1050" dirty="0"/>
          </a:p>
          <a:p>
            <a:pPr marL="342900" indent="-342900">
              <a:lnSpc>
                <a:spcPts val="1600"/>
              </a:lnSpc>
              <a:buSzPct val="100000"/>
              <a:buChar char="•"/>
            </a:pPr>
            <a:r>
              <a:rPr lang="en-US" sz="1050" dirty="0">
                <a:solidFill>
                  <a:srgbClr val="6B6480"/>
                </a:solidFill>
                <a:latin typeface="Calibri" pitchFamily="34" charset="0"/>
                <a:ea typeface="Calibri" pitchFamily="34" charset="-122"/>
                <a:cs typeface="Calibri" pitchFamily="34" charset="-120"/>
              </a:rPr>
              <a:t>Hides the API key</a:t>
            </a:r>
            <a:endParaRPr lang="en-US" sz="1050" dirty="0"/>
          </a:p>
        </p:txBody>
      </p:sp>
      <p:sp>
        <p:nvSpPr>
          <p:cNvPr id="22" name="Text 20"/>
          <p:cNvSpPr/>
          <p:nvPr/>
        </p:nvSpPr>
        <p:spPr>
          <a:xfrm>
            <a:off x="8823960" y="2834640"/>
            <a:ext cx="201168" cy="457200"/>
          </a:xfrm>
          <a:prstGeom prst="rect">
            <a:avLst/>
          </a:prstGeom>
          <a:noFill/>
          <a:ln/>
        </p:spPr>
        <p:txBody>
          <a:bodyPr wrap="square" lIns="0" tIns="0" rIns="0" bIns="0" rtlCol="0" anchor="ctr"/>
          <a:lstStyle/>
          <a:p>
            <a:pPr marL="0" indent="0" algn="ctr">
              <a:buNone/>
            </a:pPr>
            <a:r>
              <a:rPr lang="en-US" sz="1600" dirty="0">
                <a:solidFill>
                  <a:srgbClr val="6C3CE9"/>
                </a:solidFill>
              </a:rPr>
              <a:t>→</a:t>
            </a:r>
            <a:endParaRPr lang="en-US" sz="1600" dirty="0"/>
          </a:p>
        </p:txBody>
      </p:sp>
      <p:sp>
        <p:nvSpPr>
          <p:cNvPr id="23" name="Shape 21"/>
          <p:cNvSpPr/>
          <p:nvPr/>
        </p:nvSpPr>
        <p:spPr>
          <a:xfrm>
            <a:off x="9025128" y="1600200"/>
            <a:ext cx="2624328" cy="2880360"/>
          </a:xfrm>
          <a:prstGeom prst="roundRect">
            <a:avLst>
              <a:gd name="adj" fmla="val 3484"/>
            </a:avLst>
          </a:prstGeom>
          <a:solidFill>
            <a:srgbClr val="F6F4FC"/>
          </a:solidFill>
          <a:ln/>
        </p:spPr>
      </p:sp>
      <p:sp>
        <p:nvSpPr>
          <p:cNvPr id="24" name="Shape 22"/>
          <p:cNvSpPr/>
          <p:nvPr/>
        </p:nvSpPr>
        <p:spPr>
          <a:xfrm>
            <a:off x="10017252" y="1828800"/>
            <a:ext cx="640080" cy="640080"/>
          </a:xfrm>
          <a:prstGeom prst="ellipse">
            <a:avLst/>
          </a:prstGeom>
          <a:solidFill>
            <a:srgbClr val="6C3CE9"/>
          </a:solidFill>
          <a:ln/>
        </p:spPr>
      </p:sp>
      <p:sp>
        <p:nvSpPr>
          <p:cNvPr id="25" name="Text 23"/>
          <p:cNvSpPr/>
          <p:nvPr/>
        </p:nvSpPr>
        <p:spPr>
          <a:xfrm>
            <a:off x="10017252" y="1810512"/>
            <a:ext cx="640080" cy="640080"/>
          </a:xfrm>
          <a:prstGeom prst="rect">
            <a:avLst/>
          </a:prstGeom>
          <a:noFill/>
          <a:ln/>
        </p:spPr>
        <p:txBody>
          <a:bodyPr wrap="square" lIns="0" tIns="0" rIns="0" bIns="0" rtlCol="0" anchor="ctr"/>
          <a:lstStyle/>
          <a:p>
            <a:pPr marL="0" indent="0" algn="ctr">
              <a:buNone/>
            </a:pPr>
            <a:r>
              <a:rPr lang="en-US" sz="2800" dirty="0">
                <a:solidFill>
                  <a:srgbClr val="000000"/>
                </a:solidFill>
                <a:latin typeface="Segoe UI Emoji" pitchFamily="34" charset="0"/>
                <a:ea typeface="Segoe UI Emoji" pitchFamily="34" charset="-122"/>
                <a:cs typeface="Segoe UI Emoji" pitchFamily="34" charset="-120"/>
              </a:rPr>
              <a:t>🗂</a:t>
            </a:r>
            <a:endParaRPr lang="en-US" sz="2800" dirty="0"/>
          </a:p>
        </p:txBody>
      </p:sp>
      <p:sp>
        <p:nvSpPr>
          <p:cNvPr id="26" name="Text 24"/>
          <p:cNvSpPr/>
          <p:nvPr/>
        </p:nvSpPr>
        <p:spPr>
          <a:xfrm>
            <a:off x="9025128" y="2606040"/>
            <a:ext cx="2624328" cy="365760"/>
          </a:xfrm>
          <a:prstGeom prst="rect">
            <a:avLst/>
          </a:prstGeom>
          <a:noFill/>
          <a:ln/>
        </p:spPr>
        <p:txBody>
          <a:bodyPr wrap="square" lIns="0" tIns="0" rIns="0" bIns="0" rtlCol="0" anchor="ctr"/>
          <a:lstStyle/>
          <a:p>
            <a:pPr marL="0" indent="0" algn="ctr">
              <a:buNone/>
            </a:pPr>
            <a:r>
              <a:rPr lang="en-US" sz="1500" b="1" dirty="0">
                <a:solidFill>
                  <a:srgbClr val="1F1B3A"/>
                </a:solidFill>
                <a:latin typeface="Calibri" pitchFamily="34" charset="0"/>
                <a:ea typeface="Calibri" pitchFamily="34" charset="-122"/>
                <a:cs typeface="Calibri" pitchFamily="34" charset="-120"/>
              </a:rPr>
              <a:t>Category Service</a:t>
            </a:r>
            <a:endParaRPr lang="en-US" sz="1500" dirty="0"/>
          </a:p>
        </p:txBody>
      </p:sp>
      <p:sp>
        <p:nvSpPr>
          <p:cNvPr id="27" name="Text 25"/>
          <p:cNvSpPr/>
          <p:nvPr/>
        </p:nvSpPr>
        <p:spPr>
          <a:xfrm>
            <a:off x="9226296" y="3063240"/>
            <a:ext cx="2221992" cy="1280160"/>
          </a:xfrm>
          <a:prstGeom prst="rect">
            <a:avLst/>
          </a:prstGeom>
          <a:noFill/>
          <a:ln/>
        </p:spPr>
        <p:txBody>
          <a:bodyPr wrap="square" lIns="0" tIns="0" rIns="0" bIns="0" rtlCol="0" anchor="t"/>
          <a:lstStyle/>
          <a:p>
            <a:pPr marL="342900" indent="-342900">
              <a:lnSpc>
                <a:spcPts val="1600"/>
              </a:lnSpc>
              <a:buSzPct val="100000"/>
              <a:buChar char="•"/>
            </a:pPr>
            <a:r>
              <a:rPr lang="en-US" sz="1050" dirty="0">
                <a:solidFill>
                  <a:srgbClr val="6B6480"/>
                </a:solidFill>
                <a:latin typeface="Calibri" pitchFamily="34" charset="0"/>
                <a:ea typeface="Calibri" pitchFamily="34" charset="-122"/>
                <a:cs typeface="Calibri" pitchFamily="34" charset="-120"/>
              </a:rPr>
              <a:t>22 interest categories</a:t>
            </a:r>
            <a:endParaRPr lang="en-US" sz="1050" dirty="0"/>
          </a:p>
          <a:p>
            <a:pPr marL="342900" indent="-342900">
              <a:lnSpc>
                <a:spcPts val="1600"/>
              </a:lnSpc>
              <a:buSzPct val="100000"/>
              <a:buChar char="•"/>
            </a:pPr>
            <a:r>
              <a:rPr lang="en-US" sz="1050" dirty="0">
                <a:solidFill>
                  <a:srgbClr val="6B6480"/>
                </a:solidFill>
                <a:latin typeface="Calibri" pitchFamily="34" charset="0"/>
                <a:ea typeface="Calibri" pitchFamily="34" charset="-122"/>
                <a:cs typeface="Calibri" pitchFamily="34" charset="-120"/>
              </a:rPr>
              <a:t>Keyword mapping (JSON)</a:t>
            </a:r>
            <a:endParaRPr lang="en-US" sz="1050" dirty="0"/>
          </a:p>
          <a:p>
            <a:pPr marL="342900" indent="-342900">
              <a:lnSpc>
                <a:spcPts val="1600"/>
              </a:lnSpc>
              <a:buSzPct val="100000"/>
              <a:buChar char="•"/>
            </a:pPr>
            <a:r>
              <a:rPr lang="en-US" sz="1050" dirty="0">
                <a:solidFill>
                  <a:srgbClr val="6B6480"/>
                </a:solidFill>
                <a:latin typeface="Calibri" pitchFamily="34" charset="0"/>
                <a:ea typeface="Calibri" pitchFamily="34" charset="-122"/>
                <a:cs typeface="Calibri" pitchFamily="34" charset="-120"/>
              </a:rPr>
              <a:t>No external calls</a:t>
            </a:r>
            <a:endParaRPr lang="en-US" sz="1050" dirty="0"/>
          </a:p>
        </p:txBody>
      </p:sp>
      <p:sp>
        <p:nvSpPr>
          <p:cNvPr id="28" name="Text 26"/>
          <p:cNvSpPr/>
          <p:nvPr/>
        </p:nvSpPr>
        <p:spPr>
          <a:xfrm>
            <a:off x="548640" y="4709160"/>
            <a:ext cx="5486400" cy="320040"/>
          </a:xfrm>
          <a:prstGeom prst="rect">
            <a:avLst/>
          </a:prstGeom>
          <a:noFill/>
          <a:ln/>
        </p:spPr>
        <p:txBody>
          <a:bodyPr wrap="square" lIns="0" tIns="0" rIns="0" bIns="0" rtlCol="0" anchor="ctr"/>
          <a:lstStyle/>
          <a:p>
            <a:pPr marL="0" indent="0">
              <a:buNone/>
            </a:pPr>
            <a:r>
              <a:rPr lang="en-US" sz="1400" b="1" dirty="0">
                <a:solidFill>
                  <a:srgbClr val="2A1B5D"/>
                </a:solidFill>
                <a:latin typeface="Calibri" pitchFamily="34" charset="0"/>
                <a:ea typeface="Calibri" pitchFamily="34" charset="-122"/>
                <a:cs typeface="Calibri" pitchFamily="34" charset="-120"/>
              </a:rPr>
              <a:t>Advantages of Microservices</a:t>
            </a:r>
            <a:endParaRPr lang="en-US" sz="1400" dirty="0"/>
          </a:p>
        </p:txBody>
      </p:sp>
      <p:sp>
        <p:nvSpPr>
          <p:cNvPr id="29" name="Shape 27"/>
          <p:cNvSpPr/>
          <p:nvPr/>
        </p:nvSpPr>
        <p:spPr>
          <a:xfrm>
            <a:off x="548640" y="5120640"/>
            <a:ext cx="2560320" cy="365760"/>
          </a:xfrm>
          <a:prstGeom prst="roundRect">
            <a:avLst>
              <a:gd name="adj" fmla="val 50000"/>
            </a:avLst>
          </a:prstGeom>
          <a:solidFill>
            <a:srgbClr val="6C3CE9"/>
          </a:solidFill>
          <a:ln/>
        </p:spPr>
      </p:sp>
      <p:sp>
        <p:nvSpPr>
          <p:cNvPr id="30" name="Text 28"/>
          <p:cNvSpPr/>
          <p:nvPr/>
        </p:nvSpPr>
        <p:spPr>
          <a:xfrm>
            <a:off x="548640" y="5120640"/>
            <a:ext cx="256032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Independent Scaling</a:t>
            </a:r>
            <a:endParaRPr lang="en-US" sz="1200" dirty="0"/>
          </a:p>
        </p:txBody>
      </p:sp>
      <p:sp>
        <p:nvSpPr>
          <p:cNvPr id="31" name="Shape 29"/>
          <p:cNvSpPr/>
          <p:nvPr/>
        </p:nvSpPr>
        <p:spPr>
          <a:xfrm>
            <a:off x="3291840" y="5120640"/>
            <a:ext cx="2560320" cy="365760"/>
          </a:xfrm>
          <a:prstGeom prst="roundRect">
            <a:avLst>
              <a:gd name="adj" fmla="val 50000"/>
            </a:avLst>
          </a:prstGeom>
          <a:solidFill>
            <a:srgbClr val="EC4899"/>
          </a:solidFill>
          <a:ln/>
        </p:spPr>
      </p:sp>
      <p:sp>
        <p:nvSpPr>
          <p:cNvPr id="32" name="Text 30"/>
          <p:cNvSpPr/>
          <p:nvPr/>
        </p:nvSpPr>
        <p:spPr>
          <a:xfrm>
            <a:off x="3291840" y="5120640"/>
            <a:ext cx="256032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Fault Isolation</a:t>
            </a:r>
            <a:endParaRPr lang="en-US" sz="1200" dirty="0"/>
          </a:p>
        </p:txBody>
      </p:sp>
      <p:sp>
        <p:nvSpPr>
          <p:cNvPr id="33" name="Shape 31"/>
          <p:cNvSpPr/>
          <p:nvPr/>
        </p:nvSpPr>
        <p:spPr>
          <a:xfrm>
            <a:off x="6035040" y="5120640"/>
            <a:ext cx="2560320" cy="365760"/>
          </a:xfrm>
          <a:prstGeom prst="roundRect">
            <a:avLst>
              <a:gd name="adj" fmla="val 50000"/>
            </a:avLst>
          </a:prstGeom>
          <a:solidFill>
            <a:srgbClr val="6C3CE9"/>
          </a:solidFill>
          <a:ln/>
        </p:spPr>
      </p:sp>
      <p:sp>
        <p:nvSpPr>
          <p:cNvPr id="34" name="Text 32"/>
          <p:cNvSpPr/>
          <p:nvPr/>
        </p:nvSpPr>
        <p:spPr>
          <a:xfrm>
            <a:off x="6035040" y="5120640"/>
            <a:ext cx="256032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Easier Maintenance</a:t>
            </a:r>
            <a:endParaRPr lang="en-US" sz="1200" dirty="0"/>
          </a:p>
        </p:txBody>
      </p:sp>
      <p:sp>
        <p:nvSpPr>
          <p:cNvPr id="35" name="Shape 33"/>
          <p:cNvSpPr/>
          <p:nvPr/>
        </p:nvSpPr>
        <p:spPr>
          <a:xfrm>
            <a:off x="8778240" y="5120640"/>
            <a:ext cx="2560320" cy="365760"/>
          </a:xfrm>
          <a:prstGeom prst="roundRect">
            <a:avLst>
              <a:gd name="adj" fmla="val 50000"/>
            </a:avLst>
          </a:prstGeom>
          <a:solidFill>
            <a:srgbClr val="EC4899"/>
          </a:solidFill>
          <a:ln/>
        </p:spPr>
      </p:sp>
      <p:sp>
        <p:nvSpPr>
          <p:cNvPr id="36" name="Text 34"/>
          <p:cNvSpPr/>
          <p:nvPr/>
        </p:nvSpPr>
        <p:spPr>
          <a:xfrm>
            <a:off x="8778240" y="5120640"/>
            <a:ext cx="256032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Independent Deployment</a:t>
            </a:r>
            <a:endParaRPr lang="en-US" sz="1200" dirty="0"/>
          </a:p>
        </p:txBody>
      </p:sp>
      <p:sp>
        <p:nvSpPr>
          <p:cNvPr id="37" name="Text 35"/>
          <p:cNvSpPr/>
          <p:nvPr/>
        </p:nvSpPr>
        <p:spPr>
          <a:xfrm>
            <a:off x="548640" y="6528816"/>
            <a:ext cx="2743200" cy="274320"/>
          </a:xfrm>
          <a:prstGeom prst="rect">
            <a:avLst/>
          </a:prstGeom>
          <a:noFill/>
          <a:ln/>
        </p:spPr>
        <p:txBody>
          <a:bodyPr wrap="square" lIns="0" tIns="0" rIns="0" bIns="0" rtlCol="0" anchor="ctr"/>
          <a:lstStyle/>
          <a:p>
            <a:pPr marL="0" indent="0" algn="l">
              <a:buNone/>
            </a:pPr>
            <a:r>
              <a:rPr lang="en-US" sz="1000" dirty="0">
                <a:solidFill>
                  <a:srgbClr val="6B6480"/>
                </a:solidFill>
                <a:latin typeface="Calibri" pitchFamily="34" charset="0"/>
                <a:ea typeface="Calibri" pitchFamily="34" charset="-122"/>
                <a:cs typeface="Calibri" pitchFamily="34" charset="-120"/>
              </a:rPr>
              <a:t>NewsNest</a:t>
            </a:r>
            <a:endParaRPr lang="en-US" sz="1000" dirty="0"/>
          </a:p>
        </p:txBody>
      </p:sp>
      <p:sp>
        <p:nvSpPr>
          <p:cNvPr id="38" name="Text 36"/>
          <p:cNvSpPr/>
          <p:nvPr/>
        </p:nvSpPr>
        <p:spPr>
          <a:xfrm>
            <a:off x="11183112" y="6528816"/>
            <a:ext cx="457200" cy="274320"/>
          </a:xfrm>
          <a:prstGeom prst="rect">
            <a:avLst/>
          </a:prstGeom>
          <a:noFill/>
          <a:ln/>
        </p:spPr>
        <p:txBody>
          <a:bodyPr wrap="square" lIns="0" tIns="0" rIns="0" bIns="0" rtlCol="0" anchor="ctr"/>
          <a:lstStyle/>
          <a:p>
            <a:pPr marL="0" indent="0" algn="r">
              <a:buNone/>
            </a:pPr>
            <a:r>
              <a:rPr lang="en-US" sz="1000" dirty="0">
                <a:solidFill>
                  <a:srgbClr val="6B6480"/>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91672" cy="685800"/>
          </a:xfrm>
          <a:prstGeom prst="rect">
            <a:avLst/>
          </a:prstGeom>
          <a:noFill/>
          <a:ln/>
        </p:spPr>
        <p:txBody>
          <a:bodyPr wrap="square" lIns="0" tIns="0" rIns="0" bIns="0" rtlCol="0" anchor="ctr"/>
          <a:lstStyle/>
          <a:p>
            <a:pPr marL="0" indent="0" algn="l">
              <a:buNone/>
            </a:pPr>
            <a:r>
              <a:rPr lang="en-US" sz="3200" b="1" dirty="0">
                <a:solidFill>
                  <a:srgbClr val="2A1B5D"/>
                </a:solidFill>
                <a:latin typeface="Cambria" pitchFamily="34" charset="0"/>
                <a:ea typeface="Cambria" pitchFamily="34" charset="-122"/>
                <a:cs typeface="Cambria" pitchFamily="34" charset="-120"/>
              </a:rPr>
              <a:t>Workflow</a:t>
            </a:r>
            <a:endParaRPr lang="en-US" sz="3200" dirty="0"/>
          </a:p>
        </p:txBody>
      </p:sp>
      <p:sp>
        <p:nvSpPr>
          <p:cNvPr id="3" name="Shape 1"/>
          <p:cNvSpPr/>
          <p:nvPr/>
        </p:nvSpPr>
        <p:spPr>
          <a:xfrm>
            <a:off x="548640" y="1042416"/>
            <a:ext cx="502920" cy="41148"/>
          </a:xfrm>
          <a:prstGeom prst="rect">
            <a:avLst/>
          </a:prstGeom>
          <a:solidFill>
            <a:srgbClr val="EC4899"/>
          </a:solidFill>
          <a:ln/>
        </p:spPr>
      </p:sp>
      <p:sp>
        <p:nvSpPr>
          <p:cNvPr id="4" name="Text 2"/>
          <p:cNvSpPr/>
          <p:nvPr/>
        </p:nvSpPr>
        <p:spPr>
          <a:xfrm>
            <a:off x="548640" y="1097280"/>
            <a:ext cx="11091672" cy="365760"/>
          </a:xfrm>
          <a:prstGeom prst="rect">
            <a:avLst/>
          </a:prstGeom>
          <a:noFill/>
          <a:ln/>
        </p:spPr>
        <p:txBody>
          <a:bodyPr wrap="square" lIns="0" tIns="0" rIns="0" bIns="0" rtlCol="0" anchor="ctr"/>
          <a:lstStyle/>
          <a:p>
            <a:pPr marL="0" indent="0" algn="l">
              <a:buNone/>
            </a:pPr>
            <a:r>
              <a:rPr lang="en-US" sz="1400" i="1" dirty="0">
                <a:solidFill>
                  <a:srgbClr val="6B6480"/>
                </a:solidFill>
                <a:latin typeface="Calibri" pitchFamily="34" charset="0"/>
                <a:ea typeface="Calibri" pitchFamily="34" charset="-122"/>
                <a:cs typeface="Calibri" pitchFamily="34" charset="-120"/>
              </a:rPr>
              <a:t>Step-by-step execution flow, from first visit to bookmarking</a:t>
            </a:r>
            <a:endParaRPr lang="en-US" sz="1400" dirty="0"/>
          </a:p>
        </p:txBody>
      </p:sp>
      <p:sp>
        <p:nvSpPr>
          <p:cNvPr id="5" name="Shape 3"/>
          <p:cNvSpPr/>
          <p:nvPr/>
        </p:nvSpPr>
        <p:spPr>
          <a:xfrm>
            <a:off x="1234440" y="1645920"/>
            <a:ext cx="4709160" cy="566928"/>
          </a:xfrm>
          <a:prstGeom prst="roundRect">
            <a:avLst>
              <a:gd name="adj" fmla="val 16129"/>
            </a:avLst>
          </a:prstGeom>
          <a:solidFill>
            <a:srgbClr val="6C3CE9"/>
          </a:solidFill>
          <a:ln w="12700">
            <a:solidFill>
              <a:srgbClr val="6C3CE9"/>
            </a:solidFill>
            <a:prstDash val="solid"/>
          </a:ln>
        </p:spPr>
      </p:sp>
      <p:sp>
        <p:nvSpPr>
          <p:cNvPr id="6" name="Shape 4"/>
          <p:cNvSpPr/>
          <p:nvPr/>
        </p:nvSpPr>
        <p:spPr>
          <a:xfrm>
            <a:off x="777240" y="1737360"/>
            <a:ext cx="384048" cy="384048"/>
          </a:xfrm>
          <a:prstGeom prst="ellipse">
            <a:avLst/>
          </a:prstGeom>
          <a:solidFill>
            <a:srgbClr val="EC4899"/>
          </a:solidFill>
          <a:ln/>
        </p:spPr>
      </p:sp>
      <p:sp>
        <p:nvSpPr>
          <p:cNvPr id="7" name="Text 5"/>
          <p:cNvSpPr/>
          <p:nvPr/>
        </p:nvSpPr>
        <p:spPr>
          <a:xfrm>
            <a:off x="777240" y="1719072"/>
            <a:ext cx="384048" cy="384048"/>
          </a:xfrm>
          <a:prstGeom prst="rect">
            <a:avLst/>
          </a:prstGeom>
          <a:noFill/>
          <a:ln/>
        </p:spPr>
        <p:txBody>
          <a:bodyPr wrap="square" lIns="0" tIns="0" rIns="0" bIns="0" rtlCol="0" anchor="ctr"/>
          <a:lstStyle/>
          <a:p>
            <a:pPr marL="0" indent="0" algn="ctr">
              <a:buNone/>
            </a:pPr>
            <a:r>
              <a:rPr lang="en-US" sz="1500" dirty="0">
                <a:solidFill>
                  <a:srgbClr val="000000"/>
                </a:solidFill>
                <a:latin typeface="Segoe UI Emoji" pitchFamily="34" charset="0"/>
                <a:ea typeface="Segoe UI Emoji" pitchFamily="34" charset="-122"/>
                <a:cs typeface="Segoe UI Emoji" pitchFamily="34" charset="-120"/>
              </a:rPr>
              <a:t>1</a:t>
            </a:r>
            <a:endParaRPr lang="en-US" sz="1500" dirty="0"/>
          </a:p>
        </p:txBody>
      </p:sp>
      <p:sp>
        <p:nvSpPr>
          <p:cNvPr id="8" name="Text 6"/>
          <p:cNvSpPr/>
          <p:nvPr/>
        </p:nvSpPr>
        <p:spPr>
          <a:xfrm>
            <a:off x="1399032" y="1645920"/>
            <a:ext cx="4434840" cy="566928"/>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User opens the website</a:t>
            </a:r>
            <a:endParaRPr lang="en-US" sz="1250" dirty="0"/>
          </a:p>
        </p:txBody>
      </p:sp>
      <p:sp>
        <p:nvSpPr>
          <p:cNvPr id="9" name="Text 7"/>
          <p:cNvSpPr/>
          <p:nvPr/>
        </p:nvSpPr>
        <p:spPr>
          <a:xfrm>
            <a:off x="3246120" y="2212848"/>
            <a:ext cx="731520" cy="146304"/>
          </a:xfrm>
          <a:prstGeom prst="rect">
            <a:avLst/>
          </a:prstGeom>
          <a:noFill/>
          <a:ln/>
        </p:spPr>
        <p:txBody>
          <a:bodyPr wrap="square" lIns="0" tIns="0" rIns="0" bIns="0" rtlCol="0" anchor="ctr"/>
          <a:lstStyle/>
          <a:p>
            <a:pPr marL="0" indent="0" algn="ctr">
              <a:buNone/>
            </a:pPr>
            <a:r>
              <a:rPr lang="en-US" sz="1100" dirty="0">
                <a:solidFill>
                  <a:srgbClr val="6C3CE9"/>
                </a:solidFill>
              </a:rPr>
              <a:t>▼</a:t>
            </a:r>
            <a:endParaRPr lang="en-US" sz="1100" dirty="0"/>
          </a:p>
        </p:txBody>
      </p:sp>
      <p:sp>
        <p:nvSpPr>
          <p:cNvPr id="10" name="Shape 8"/>
          <p:cNvSpPr/>
          <p:nvPr/>
        </p:nvSpPr>
        <p:spPr>
          <a:xfrm>
            <a:off x="1234440" y="2359152"/>
            <a:ext cx="4709160" cy="566928"/>
          </a:xfrm>
          <a:prstGeom prst="roundRect">
            <a:avLst>
              <a:gd name="adj" fmla="val 16129"/>
            </a:avLst>
          </a:prstGeom>
          <a:solidFill>
            <a:srgbClr val="F6F4FC"/>
          </a:solidFill>
          <a:ln w="12700">
            <a:solidFill>
              <a:srgbClr val="DED6F5"/>
            </a:solidFill>
            <a:prstDash val="solid"/>
          </a:ln>
        </p:spPr>
      </p:sp>
      <p:sp>
        <p:nvSpPr>
          <p:cNvPr id="11" name="Shape 9"/>
          <p:cNvSpPr/>
          <p:nvPr/>
        </p:nvSpPr>
        <p:spPr>
          <a:xfrm>
            <a:off x="777240" y="2450592"/>
            <a:ext cx="384048" cy="384048"/>
          </a:xfrm>
          <a:prstGeom prst="ellipse">
            <a:avLst/>
          </a:prstGeom>
          <a:solidFill>
            <a:srgbClr val="EC4899"/>
          </a:solidFill>
          <a:ln/>
        </p:spPr>
      </p:sp>
      <p:sp>
        <p:nvSpPr>
          <p:cNvPr id="12" name="Text 10"/>
          <p:cNvSpPr/>
          <p:nvPr/>
        </p:nvSpPr>
        <p:spPr>
          <a:xfrm>
            <a:off x="777240" y="2432304"/>
            <a:ext cx="384048" cy="384048"/>
          </a:xfrm>
          <a:prstGeom prst="rect">
            <a:avLst/>
          </a:prstGeom>
          <a:noFill/>
          <a:ln/>
        </p:spPr>
        <p:txBody>
          <a:bodyPr wrap="square" lIns="0" tIns="0" rIns="0" bIns="0" rtlCol="0" anchor="ctr"/>
          <a:lstStyle/>
          <a:p>
            <a:pPr marL="0" indent="0" algn="ctr">
              <a:buNone/>
            </a:pPr>
            <a:r>
              <a:rPr lang="en-US" sz="1500" dirty="0">
                <a:solidFill>
                  <a:srgbClr val="000000"/>
                </a:solidFill>
                <a:latin typeface="Segoe UI Emoji" pitchFamily="34" charset="0"/>
                <a:ea typeface="Segoe UI Emoji" pitchFamily="34" charset="-122"/>
                <a:cs typeface="Segoe UI Emoji" pitchFamily="34" charset="-120"/>
              </a:rPr>
              <a:t>2</a:t>
            </a:r>
            <a:endParaRPr lang="en-US" sz="1500" dirty="0"/>
          </a:p>
        </p:txBody>
      </p:sp>
      <p:sp>
        <p:nvSpPr>
          <p:cNvPr id="13" name="Text 11"/>
          <p:cNvSpPr/>
          <p:nvPr/>
        </p:nvSpPr>
        <p:spPr>
          <a:xfrm>
            <a:off x="1399032" y="2359152"/>
            <a:ext cx="4434840" cy="566928"/>
          </a:xfrm>
          <a:prstGeom prst="rect">
            <a:avLst/>
          </a:prstGeom>
          <a:noFill/>
          <a:ln/>
        </p:spPr>
        <p:txBody>
          <a:bodyPr wrap="square" lIns="0" tIns="0" rIns="0" bIns="0" rtlCol="0" anchor="ctr"/>
          <a:lstStyle/>
          <a:p>
            <a:pPr marL="0" indent="0">
              <a:buNone/>
            </a:pPr>
            <a:r>
              <a:rPr lang="en-US" sz="1250" dirty="0">
                <a:solidFill>
                  <a:srgbClr val="1F1B3A"/>
                </a:solidFill>
                <a:latin typeface="Calibri" pitchFamily="34" charset="0"/>
                <a:ea typeface="Calibri" pitchFamily="34" charset="-122"/>
                <a:cs typeface="Calibri" pitchFamily="34" charset="-120"/>
              </a:rPr>
              <a:t>Enters name</a:t>
            </a:r>
            <a:endParaRPr lang="en-US" sz="1250" dirty="0"/>
          </a:p>
        </p:txBody>
      </p:sp>
      <p:sp>
        <p:nvSpPr>
          <p:cNvPr id="14" name="Text 12"/>
          <p:cNvSpPr/>
          <p:nvPr/>
        </p:nvSpPr>
        <p:spPr>
          <a:xfrm>
            <a:off x="3246120" y="2926080"/>
            <a:ext cx="731520" cy="146304"/>
          </a:xfrm>
          <a:prstGeom prst="rect">
            <a:avLst/>
          </a:prstGeom>
          <a:noFill/>
          <a:ln/>
        </p:spPr>
        <p:txBody>
          <a:bodyPr wrap="square" lIns="0" tIns="0" rIns="0" bIns="0" rtlCol="0" anchor="ctr"/>
          <a:lstStyle/>
          <a:p>
            <a:pPr marL="0" indent="0" algn="ctr">
              <a:buNone/>
            </a:pPr>
            <a:r>
              <a:rPr lang="en-US" sz="1100" dirty="0">
                <a:solidFill>
                  <a:srgbClr val="6C3CE9"/>
                </a:solidFill>
              </a:rPr>
              <a:t>▼</a:t>
            </a:r>
            <a:endParaRPr lang="en-US" sz="1100" dirty="0"/>
          </a:p>
        </p:txBody>
      </p:sp>
      <p:sp>
        <p:nvSpPr>
          <p:cNvPr id="15" name="Shape 13"/>
          <p:cNvSpPr/>
          <p:nvPr/>
        </p:nvSpPr>
        <p:spPr>
          <a:xfrm>
            <a:off x="1234440" y="3072384"/>
            <a:ext cx="4709160" cy="566928"/>
          </a:xfrm>
          <a:prstGeom prst="roundRect">
            <a:avLst>
              <a:gd name="adj" fmla="val 16129"/>
            </a:avLst>
          </a:prstGeom>
          <a:solidFill>
            <a:srgbClr val="F6F4FC"/>
          </a:solidFill>
          <a:ln w="12700">
            <a:solidFill>
              <a:srgbClr val="DED6F5"/>
            </a:solidFill>
            <a:prstDash val="solid"/>
          </a:ln>
        </p:spPr>
      </p:sp>
      <p:sp>
        <p:nvSpPr>
          <p:cNvPr id="16" name="Shape 14"/>
          <p:cNvSpPr/>
          <p:nvPr/>
        </p:nvSpPr>
        <p:spPr>
          <a:xfrm>
            <a:off x="777240" y="3163824"/>
            <a:ext cx="384048" cy="384048"/>
          </a:xfrm>
          <a:prstGeom prst="ellipse">
            <a:avLst/>
          </a:prstGeom>
          <a:solidFill>
            <a:srgbClr val="EC4899"/>
          </a:solidFill>
          <a:ln/>
        </p:spPr>
      </p:sp>
      <p:sp>
        <p:nvSpPr>
          <p:cNvPr id="17" name="Text 15"/>
          <p:cNvSpPr/>
          <p:nvPr/>
        </p:nvSpPr>
        <p:spPr>
          <a:xfrm>
            <a:off x="777240" y="3145536"/>
            <a:ext cx="384048" cy="384048"/>
          </a:xfrm>
          <a:prstGeom prst="rect">
            <a:avLst/>
          </a:prstGeom>
          <a:noFill/>
          <a:ln/>
        </p:spPr>
        <p:txBody>
          <a:bodyPr wrap="square" lIns="0" tIns="0" rIns="0" bIns="0" rtlCol="0" anchor="ctr"/>
          <a:lstStyle/>
          <a:p>
            <a:pPr marL="0" indent="0" algn="ctr">
              <a:buNone/>
            </a:pPr>
            <a:r>
              <a:rPr lang="en-US" sz="1500" dirty="0">
                <a:solidFill>
                  <a:srgbClr val="000000"/>
                </a:solidFill>
                <a:latin typeface="Segoe UI Emoji" pitchFamily="34" charset="0"/>
                <a:ea typeface="Segoe UI Emoji" pitchFamily="34" charset="-122"/>
                <a:cs typeface="Segoe UI Emoji" pitchFamily="34" charset="-120"/>
              </a:rPr>
              <a:t>3</a:t>
            </a:r>
            <a:endParaRPr lang="en-US" sz="1500" dirty="0"/>
          </a:p>
        </p:txBody>
      </p:sp>
      <p:sp>
        <p:nvSpPr>
          <p:cNvPr id="18" name="Text 16"/>
          <p:cNvSpPr/>
          <p:nvPr/>
        </p:nvSpPr>
        <p:spPr>
          <a:xfrm>
            <a:off x="1399032" y="3072384"/>
            <a:ext cx="4434840" cy="566928"/>
          </a:xfrm>
          <a:prstGeom prst="rect">
            <a:avLst/>
          </a:prstGeom>
          <a:noFill/>
          <a:ln/>
        </p:spPr>
        <p:txBody>
          <a:bodyPr wrap="square" lIns="0" tIns="0" rIns="0" bIns="0" rtlCol="0" anchor="ctr"/>
          <a:lstStyle/>
          <a:p>
            <a:pPr marL="0" indent="0">
              <a:buNone/>
            </a:pPr>
            <a:r>
              <a:rPr lang="en-US" sz="1250" dirty="0">
                <a:solidFill>
                  <a:srgbClr val="1F1B3A"/>
                </a:solidFill>
                <a:latin typeface="Calibri" pitchFamily="34" charset="0"/>
                <a:ea typeface="Calibri" pitchFamily="34" charset="-122"/>
                <a:cs typeface="Calibri" pitchFamily="34" charset="-120"/>
              </a:rPr>
              <a:t>Selects interests</a:t>
            </a:r>
            <a:endParaRPr lang="en-US" sz="1250" dirty="0"/>
          </a:p>
        </p:txBody>
      </p:sp>
      <p:sp>
        <p:nvSpPr>
          <p:cNvPr id="19" name="Text 17"/>
          <p:cNvSpPr/>
          <p:nvPr/>
        </p:nvSpPr>
        <p:spPr>
          <a:xfrm>
            <a:off x="3246120" y="3639312"/>
            <a:ext cx="731520" cy="146304"/>
          </a:xfrm>
          <a:prstGeom prst="rect">
            <a:avLst/>
          </a:prstGeom>
          <a:noFill/>
          <a:ln/>
        </p:spPr>
        <p:txBody>
          <a:bodyPr wrap="square" lIns="0" tIns="0" rIns="0" bIns="0" rtlCol="0" anchor="ctr"/>
          <a:lstStyle/>
          <a:p>
            <a:pPr marL="0" indent="0" algn="ctr">
              <a:buNone/>
            </a:pPr>
            <a:r>
              <a:rPr lang="en-US" sz="1100" dirty="0">
                <a:solidFill>
                  <a:srgbClr val="6C3CE9"/>
                </a:solidFill>
              </a:rPr>
              <a:t>▼</a:t>
            </a:r>
            <a:endParaRPr lang="en-US" sz="1100" dirty="0"/>
          </a:p>
        </p:txBody>
      </p:sp>
      <p:sp>
        <p:nvSpPr>
          <p:cNvPr id="20" name="Shape 18"/>
          <p:cNvSpPr/>
          <p:nvPr/>
        </p:nvSpPr>
        <p:spPr>
          <a:xfrm>
            <a:off x="1234440" y="3785616"/>
            <a:ext cx="4709160" cy="566928"/>
          </a:xfrm>
          <a:prstGeom prst="roundRect">
            <a:avLst>
              <a:gd name="adj" fmla="val 16129"/>
            </a:avLst>
          </a:prstGeom>
          <a:solidFill>
            <a:srgbClr val="F6F4FC"/>
          </a:solidFill>
          <a:ln w="12700">
            <a:solidFill>
              <a:srgbClr val="DED6F5"/>
            </a:solidFill>
            <a:prstDash val="solid"/>
          </a:ln>
        </p:spPr>
      </p:sp>
      <p:sp>
        <p:nvSpPr>
          <p:cNvPr id="21" name="Shape 19"/>
          <p:cNvSpPr/>
          <p:nvPr/>
        </p:nvSpPr>
        <p:spPr>
          <a:xfrm>
            <a:off x="777240" y="3877056"/>
            <a:ext cx="384048" cy="384048"/>
          </a:xfrm>
          <a:prstGeom prst="ellipse">
            <a:avLst/>
          </a:prstGeom>
          <a:solidFill>
            <a:srgbClr val="EC4899"/>
          </a:solidFill>
          <a:ln/>
        </p:spPr>
      </p:sp>
      <p:sp>
        <p:nvSpPr>
          <p:cNvPr id="22" name="Text 20"/>
          <p:cNvSpPr/>
          <p:nvPr/>
        </p:nvSpPr>
        <p:spPr>
          <a:xfrm>
            <a:off x="777240" y="3858768"/>
            <a:ext cx="384048" cy="384048"/>
          </a:xfrm>
          <a:prstGeom prst="rect">
            <a:avLst/>
          </a:prstGeom>
          <a:noFill/>
          <a:ln/>
        </p:spPr>
        <p:txBody>
          <a:bodyPr wrap="square" lIns="0" tIns="0" rIns="0" bIns="0" rtlCol="0" anchor="ctr"/>
          <a:lstStyle/>
          <a:p>
            <a:pPr marL="0" indent="0" algn="ctr">
              <a:buNone/>
            </a:pPr>
            <a:r>
              <a:rPr lang="en-US" sz="1500" dirty="0">
                <a:solidFill>
                  <a:srgbClr val="000000"/>
                </a:solidFill>
                <a:latin typeface="Segoe UI Emoji" pitchFamily="34" charset="0"/>
                <a:ea typeface="Segoe UI Emoji" pitchFamily="34" charset="-122"/>
                <a:cs typeface="Segoe UI Emoji" pitchFamily="34" charset="-120"/>
              </a:rPr>
              <a:t>4</a:t>
            </a:r>
            <a:endParaRPr lang="en-US" sz="1500" dirty="0"/>
          </a:p>
        </p:txBody>
      </p:sp>
      <p:sp>
        <p:nvSpPr>
          <p:cNvPr id="23" name="Text 21"/>
          <p:cNvSpPr/>
          <p:nvPr/>
        </p:nvSpPr>
        <p:spPr>
          <a:xfrm>
            <a:off x="1399032" y="3785616"/>
            <a:ext cx="4434840" cy="566928"/>
          </a:xfrm>
          <a:prstGeom prst="rect">
            <a:avLst/>
          </a:prstGeom>
          <a:noFill/>
          <a:ln/>
        </p:spPr>
        <p:txBody>
          <a:bodyPr wrap="square" lIns="0" tIns="0" rIns="0" bIns="0" rtlCol="0" anchor="ctr"/>
          <a:lstStyle/>
          <a:p>
            <a:pPr marL="0" indent="0">
              <a:buNone/>
            </a:pPr>
            <a:r>
              <a:rPr lang="en-US" sz="1250" dirty="0">
                <a:solidFill>
                  <a:srgbClr val="1F1B3A"/>
                </a:solidFill>
                <a:latin typeface="Calibri" pitchFamily="34" charset="0"/>
                <a:ea typeface="Calibri" pitchFamily="34" charset="-122"/>
                <a:cs typeface="Calibri" pitchFamily="34" charset="-120"/>
              </a:rPr>
              <a:t>Saved in localStorage</a:t>
            </a:r>
            <a:endParaRPr lang="en-US" sz="1250" dirty="0"/>
          </a:p>
        </p:txBody>
      </p:sp>
      <p:sp>
        <p:nvSpPr>
          <p:cNvPr id="24" name="Text 22"/>
          <p:cNvSpPr/>
          <p:nvPr/>
        </p:nvSpPr>
        <p:spPr>
          <a:xfrm>
            <a:off x="3246120" y="4352544"/>
            <a:ext cx="731520" cy="146304"/>
          </a:xfrm>
          <a:prstGeom prst="rect">
            <a:avLst/>
          </a:prstGeom>
          <a:noFill/>
          <a:ln/>
        </p:spPr>
        <p:txBody>
          <a:bodyPr wrap="square" lIns="0" tIns="0" rIns="0" bIns="0" rtlCol="0" anchor="ctr"/>
          <a:lstStyle/>
          <a:p>
            <a:pPr marL="0" indent="0" algn="ctr">
              <a:buNone/>
            </a:pPr>
            <a:r>
              <a:rPr lang="en-US" sz="1100" dirty="0">
                <a:solidFill>
                  <a:srgbClr val="6C3CE9"/>
                </a:solidFill>
              </a:rPr>
              <a:t>▼</a:t>
            </a:r>
            <a:endParaRPr lang="en-US" sz="1100" dirty="0"/>
          </a:p>
        </p:txBody>
      </p:sp>
      <p:sp>
        <p:nvSpPr>
          <p:cNvPr id="25" name="Shape 23"/>
          <p:cNvSpPr/>
          <p:nvPr/>
        </p:nvSpPr>
        <p:spPr>
          <a:xfrm>
            <a:off x="1234440" y="4498848"/>
            <a:ext cx="4709160" cy="566928"/>
          </a:xfrm>
          <a:prstGeom prst="roundRect">
            <a:avLst>
              <a:gd name="adj" fmla="val 16129"/>
            </a:avLst>
          </a:prstGeom>
          <a:solidFill>
            <a:srgbClr val="F6F4FC"/>
          </a:solidFill>
          <a:ln w="12700">
            <a:solidFill>
              <a:srgbClr val="DED6F5"/>
            </a:solidFill>
            <a:prstDash val="solid"/>
          </a:ln>
        </p:spPr>
      </p:sp>
      <p:sp>
        <p:nvSpPr>
          <p:cNvPr id="26" name="Shape 24"/>
          <p:cNvSpPr/>
          <p:nvPr/>
        </p:nvSpPr>
        <p:spPr>
          <a:xfrm>
            <a:off x="777240" y="4590288"/>
            <a:ext cx="384048" cy="384048"/>
          </a:xfrm>
          <a:prstGeom prst="ellipse">
            <a:avLst/>
          </a:prstGeom>
          <a:solidFill>
            <a:srgbClr val="EC4899"/>
          </a:solidFill>
          <a:ln/>
        </p:spPr>
      </p:sp>
      <p:sp>
        <p:nvSpPr>
          <p:cNvPr id="27" name="Text 25"/>
          <p:cNvSpPr/>
          <p:nvPr/>
        </p:nvSpPr>
        <p:spPr>
          <a:xfrm>
            <a:off x="777240" y="4572000"/>
            <a:ext cx="384048" cy="384048"/>
          </a:xfrm>
          <a:prstGeom prst="rect">
            <a:avLst/>
          </a:prstGeom>
          <a:noFill/>
          <a:ln/>
        </p:spPr>
        <p:txBody>
          <a:bodyPr wrap="square" lIns="0" tIns="0" rIns="0" bIns="0" rtlCol="0" anchor="ctr"/>
          <a:lstStyle/>
          <a:p>
            <a:pPr marL="0" indent="0" algn="ctr">
              <a:buNone/>
            </a:pPr>
            <a:r>
              <a:rPr lang="en-US" sz="1500" dirty="0">
                <a:solidFill>
                  <a:srgbClr val="000000"/>
                </a:solidFill>
                <a:latin typeface="Segoe UI Emoji" pitchFamily="34" charset="0"/>
                <a:ea typeface="Segoe UI Emoji" pitchFamily="34" charset="-122"/>
                <a:cs typeface="Segoe UI Emoji" pitchFamily="34" charset="-120"/>
              </a:rPr>
              <a:t>5</a:t>
            </a:r>
            <a:endParaRPr lang="en-US" sz="1500" dirty="0"/>
          </a:p>
        </p:txBody>
      </p:sp>
      <p:sp>
        <p:nvSpPr>
          <p:cNvPr id="28" name="Text 26"/>
          <p:cNvSpPr/>
          <p:nvPr/>
        </p:nvSpPr>
        <p:spPr>
          <a:xfrm>
            <a:off x="1399032" y="4498848"/>
            <a:ext cx="4434840" cy="566928"/>
          </a:xfrm>
          <a:prstGeom prst="rect">
            <a:avLst/>
          </a:prstGeom>
          <a:noFill/>
          <a:ln/>
        </p:spPr>
        <p:txBody>
          <a:bodyPr wrap="square" lIns="0" tIns="0" rIns="0" bIns="0" rtlCol="0" anchor="ctr"/>
          <a:lstStyle/>
          <a:p>
            <a:pPr marL="0" indent="0">
              <a:buNone/>
            </a:pPr>
            <a:r>
              <a:rPr lang="en-US" sz="1250" dirty="0">
                <a:solidFill>
                  <a:srgbClr val="1F1B3A"/>
                </a:solidFill>
                <a:latin typeface="Calibri" pitchFamily="34" charset="0"/>
                <a:ea typeface="Calibri" pitchFamily="34" charset="-122"/>
                <a:cs typeface="Calibri" pitchFamily="34" charset="-120"/>
              </a:rPr>
              <a:t>Frontend requests API Gateway</a:t>
            </a:r>
            <a:endParaRPr lang="en-US" sz="1250" dirty="0"/>
          </a:p>
        </p:txBody>
      </p:sp>
      <p:sp>
        <p:nvSpPr>
          <p:cNvPr id="29" name="Shape 27"/>
          <p:cNvSpPr/>
          <p:nvPr/>
        </p:nvSpPr>
        <p:spPr>
          <a:xfrm>
            <a:off x="6492240" y="1645920"/>
            <a:ext cx="4709160" cy="566928"/>
          </a:xfrm>
          <a:prstGeom prst="roundRect">
            <a:avLst>
              <a:gd name="adj" fmla="val 16129"/>
            </a:avLst>
          </a:prstGeom>
          <a:solidFill>
            <a:srgbClr val="F6F4FC"/>
          </a:solidFill>
          <a:ln w="12700">
            <a:solidFill>
              <a:srgbClr val="DED6F5"/>
            </a:solidFill>
            <a:prstDash val="solid"/>
          </a:ln>
        </p:spPr>
      </p:sp>
      <p:sp>
        <p:nvSpPr>
          <p:cNvPr id="30" name="Shape 28"/>
          <p:cNvSpPr/>
          <p:nvPr/>
        </p:nvSpPr>
        <p:spPr>
          <a:xfrm>
            <a:off x="6035040" y="1737360"/>
            <a:ext cx="384048" cy="384048"/>
          </a:xfrm>
          <a:prstGeom prst="ellipse">
            <a:avLst/>
          </a:prstGeom>
          <a:solidFill>
            <a:srgbClr val="EC4899"/>
          </a:solidFill>
          <a:ln/>
        </p:spPr>
      </p:sp>
      <p:sp>
        <p:nvSpPr>
          <p:cNvPr id="31" name="Text 29"/>
          <p:cNvSpPr/>
          <p:nvPr/>
        </p:nvSpPr>
        <p:spPr>
          <a:xfrm>
            <a:off x="6035040" y="1719072"/>
            <a:ext cx="384048" cy="384048"/>
          </a:xfrm>
          <a:prstGeom prst="rect">
            <a:avLst/>
          </a:prstGeom>
          <a:noFill/>
          <a:ln/>
        </p:spPr>
        <p:txBody>
          <a:bodyPr wrap="square" lIns="0" tIns="0" rIns="0" bIns="0" rtlCol="0" anchor="ctr"/>
          <a:lstStyle/>
          <a:p>
            <a:pPr marL="0" indent="0" algn="ctr">
              <a:buNone/>
            </a:pPr>
            <a:r>
              <a:rPr lang="en-US" sz="1500" dirty="0">
                <a:solidFill>
                  <a:srgbClr val="000000"/>
                </a:solidFill>
                <a:latin typeface="Segoe UI Emoji" pitchFamily="34" charset="0"/>
                <a:ea typeface="Segoe UI Emoji" pitchFamily="34" charset="-122"/>
                <a:cs typeface="Segoe UI Emoji" pitchFamily="34" charset="-120"/>
              </a:rPr>
              <a:t>6</a:t>
            </a:r>
            <a:endParaRPr lang="en-US" sz="1500" dirty="0"/>
          </a:p>
        </p:txBody>
      </p:sp>
      <p:sp>
        <p:nvSpPr>
          <p:cNvPr id="32" name="Text 30"/>
          <p:cNvSpPr/>
          <p:nvPr/>
        </p:nvSpPr>
        <p:spPr>
          <a:xfrm>
            <a:off x="6656832" y="1645920"/>
            <a:ext cx="4434840" cy="566928"/>
          </a:xfrm>
          <a:prstGeom prst="rect">
            <a:avLst/>
          </a:prstGeom>
          <a:noFill/>
          <a:ln/>
        </p:spPr>
        <p:txBody>
          <a:bodyPr wrap="square" lIns="0" tIns="0" rIns="0" bIns="0" rtlCol="0" anchor="ctr"/>
          <a:lstStyle/>
          <a:p>
            <a:pPr marL="0" indent="0">
              <a:buNone/>
            </a:pPr>
            <a:r>
              <a:rPr lang="en-US" sz="1250" dirty="0">
                <a:solidFill>
                  <a:srgbClr val="1F1B3A"/>
                </a:solidFill>
                <a:latin typeface="Calibri" pitchFamily="34" charset="0"/>
                <a:ea typeface="Calibri" pitchFamily="34" charset="-122"/>
                <a:cs typeface="Calibri" pitchFamily="34" charset="-120"/>
              </a:rPr>
              <a:t>Gateway forwards request</a:t>
            </a:r>
            <a:endParaRPr lang="en-US" sz="1250" dirty="0"/>
          </a:p>
        </p:txBody>
      </p:sp>
      <p:sp>
        <p:nvSpPr>
          <p:cNvPr id="33" name="Text 31"/>
          <p:cNvSpPr/>
          <p:nvPr/>
        </p:nvSpPr>
        <p:spPr>
          <a:xfrm>
            <a:off x="8503920" y="2212848"/>
            <a:ext cx="731520" cy="146304"/>
          </a:xfrm>
          <a:prstGeom prst="rect">
            <a:avLst/>
          </a:prstGeom>
          <a:noFill/>
          <a:ln/>
        </p:spPr>
        <p:txBody>
          <a:bodyPr wrap="square" lIns="0" tIns="0" rIns="0" bIns="0" rtlCol="0" anchor="ctr"/>
          <a:lstStyle/>
          <a:p>
            <a:pPr marL="0" indent="0" algn="ctr">
              <a:buNone/>
            </a:pPr>
            <a:r>
              <a:rPr lang="en-US" sz="1100" dirty="0">
                <a:solidFill>
                  <a:srgbClr val="6C3CE9"/>
                </a:solidFill>
              </a:rPr>
              <a:t>▼</a:t>
            </a:r>
            <a:endParaRPr lang="en-US" sz="1100" dirty="0"/>
          </a:p>
        </p:txBody>
      </p:sp>
      <p:sp>
        <p:nvSpPr>
          <p:cNvPr id="34" name="Shape 32"/>
          <p:cNvSpPr/>
          <p:nvPr/>
        </p:nvSpPr>
        <p:spPr>
          <a:xfrm>
            <a:off x="6492240" y="2359152"/>
            <a:ext cx="4709160" cy="566928"/>
          </a:xfrm>
          <a:prstGeom prst="roundRect">
            <a:avLst>
              <a:gd name="adj" fmla="val 16129"/>
            </a:avLst>
          </a:prstGeom>
          <a:solidFill>
            <a:srgbClr val="F6F4FC"/>
          </a:solidFill>
          <a:ln w="12700">
            <a:solidFill>
              <a:srgbClr val="DED6F5"/>
            </a:solidFill>
            <a:prstDash val="solid"/>
          </a:ln>
        </p:spPr>
      </p:sp>
      <p:sp>
        <p:nvSpPr>
          <p:cNvPr id="35" name="Shape 33"/>
          <p:cNvSpPr/>
          <p:nvPr/>
        </p:nvSpPr>
        <p:spPr>
          <a:xfrm>
            <a:off x="6035040" y="2450592"/>
            <a:ext cx="384048" cy="384048"/>
          </a:xfrm>
          <a:prstGeom prst="ellipse">
            <a:avLst/>
          </a:prstGeom>
          <a:solidFill>
            <a:srgbClr val="EC4899"/>
          </a:solidFill>
          <a:ln/>
        </p:spPr>
      </p:sp>
      <p:sp>
        <p:nvSpPr>
          <p:cNvPr id="36" name="Text 34"/>
          <p:cNvSpPr/>
          <p:nvPr/>
        </p:nvSpPr>
        <p:spPr>
          <a:xfrm>
            <a:off x="6035040" y="2432304"/>
            <a:ext cx="384048" cy="384048"/>
          </a:xfrm>
          <a:prstGeom prst="rect">
            <a:avLst/>
          </a:prstGeom>
          <a:noFill/>
          <a:ln/>
        </p:spPr>
        <p:txBody>
          <a:bodyPr wrap="square" lIns="0" tIns="0" rIns="0" bIns="0" rtlCol="0" anchor="ctr"/>
          <a:lstStyle/>
          <a:p>
            <a:pPr marL="0" indent="0" algn="ctr">
              <a:buNone/>
            </a:pPr>
            <a:r>
              <a:rPr lang="en-US" sz="1500" dirty="0">
                <a:solidFill>
                  <a:srgbClr val="000000"/>
                </a:solidFill>
                <a:latin typeface="Segoe UI Emoji" pitchFamily="34" charset="0"/>
                <a:ea typeface="Segoe UI Emoji" pitchFamily="34" charset="-122"/>
                <a:cs typeface="Segoe UI Emoji" pitchFamily="34" charset="-120"/>
              </a:rPr>
              <a:t>7</a:t>
            </a:r>
            <a:endParaRPr lang="en-US" sz="1500" dirty="0"/>
          </a:p>
        </p:txBody>
      </p:sp>
      <p:sp>
        <p:nvSpPr>
          <p:cNvPr id="37" name="Text 35"/>
          <p:cNvSpPr/>
          <p:nvPr/>
        </p:nvSpPr>
        <p:spPr>
          <a:xfrm>
            <a:off x="6656832" y="2359152"/>
            <a:ext cx="4434840" cy="566928"/>
          </a:xfrm>
          <a:prstGeom prst="rect">
            <a:avLst/>
          </a:prstGeom>
          <a:noFill/>
          <a:ln/>
        </p:spPr>
        <p:txBody>
          <a:bodyPr wrap="square" lIns="0" tIns="0" rIns="0" bIns="0" rtlCol="0" anchor="ctr"/>
          <a:lstStyle/>
          <a:p>
            <a:pPr marL="0" indent="0">
              <a:buNone/>
            </a:pPr>
            <a:r>
              <a:rPr lang="en-US" sz="1250" dirty="0">
                <a:solidFill>
                  <a:srgbClr val="1F1B3A"/>
                </a:solidFill>
                <a:latin typeface="Calibri" pitchFamily="34" charset="0"/>
                <a:ea typeface="Calibri" pitchFamily="34" charset="-122"/>
                <a:cs typeface="Calibri" pitchFamily="34" charset="-120"/>
              </a:rPr>
              <a:t>News Service fetches news</a:t>
            </a:r>
            <a:endParaRPr lang="en-US" sz="1250" dirty="0"/>
          </a:p>
        </p:txBody>
      </p:sp>
      <p:sp>
        <p:nvSpPr>
          <p:cNvPr id="38" name="Text 36"/>
          <p:cNvSpPr/>
          <p:nvPr/>
        </p:nvSpPr>
        <p:spPr>
          <a:xfrm>
            <a:off x="8503920" y="2926080"/>
            <a:ext cx="731520" cy="146304"/>
          </a:xfrm>
          <a:prstGeom prst="rect">
            <a:avLst/>
          </a:prstGeom>
          <a:noFill/>
          <a:ln/>
        </p:spPr>
        <p:txBody>
          <a:bodyPr wrap="square" lIns="0" tIns="0" rIns="0" bIns="0" rtlCol="0" anchor="ctr"/>
          <a:lstStyle/>
          <a:p>
            <a:pPr marL="0" indent="0" algn="ctr">
              <a:buNone/>
            </a:pPr>
            <a:r>
              <a:rPr lang="en-US" sz="1100" dirty="0">
                <a:solidFill>
                  <a:srgbClr val="6C3CE9"/>
                </a:solidFill>
              </a:rPr>
              <a:t>▼</a:t>
            </a:r>
            <a:endParaRPr lang="en-US" sz="1100" dirty="0"/>
          </a:p>
        </p:txBody>
      </p:sp>
      <p:sp>
        <p:nvSpPr>
          <p:cNvPr id="39" name="Shape 37"/>
          <p:cNvSpPr/>
          <p:nvPr/>
        </p:nvSpPr>
        <p:spPr>
          <a:xfrm>
            <a:off x="6492240" y="3072384"/>
            <a:ext cx="4709160" cy="566928"/>
          </a:xfrm>
          <a:prstGeom prst="roundRect">
            <a:avLst>
              <a:gd name="adj" fmla="val 16129"/>
            </a:avLst>
          </a:prstGeom>
          <a:solidFill>
            <a:srgbClr val="F6F4FC"/>
          </a:solidFill>
          <a:ln w="12700">
            <a:solidFill>
              <a:srgbClr val="DED6F5"/>
            </a:solidFill>
            <a:prstDash val="solid"/>
          </a:ln>
        </p:spPr>
      </p:sp>
      <p:sp>
        <p:nvSpPr>
          <p:cNvPr id="40" name="Shape 38"/>
          <p:cNvSpPr/>
          <p:nvPr/>
        </p:nvSpPr>
        <p:spPr>
          <a:xfrm>
            <a:off x="6035040" y="3163824"/>
            <a:ext cx="384048" cy="384048"/>
          </a:xfrm>
          <a:prstGeom prst="ellipse">
            <a:avLst/>
          </a:prstGeom>
          <a:solidFill>
            <a:srgbClr val="EC4899"/>
          </a:solidFill>
          <a:ln/>
        </p:spPr>
      </p:sp>
      <p:sp>
        <p:nvSpPr>
          <p:cNvPr id="41" name="Text 39"/>
          <p:cNvSpPr/>
          <p:nvPr/>
        </p:nvSpPr>
        <p:spPr>
          <a:xfrm>
            <a:off x="6035040" y="3145536"/>
            <a:ext cx="384048" cy="384048"/>
          </a:xfrm>
          <a:prstGeom prst="rect">
            <a:avLst/>
          </a:prstGeom>
          <a:noFill/>
          <a:ln/>
        </p:spPr>
        <p:txBody>
          <a:bodyPr wrap="square" lIns="0" tIns="0" rIns="0" bIns="0" rtlCol="0" anchor="ctr"/>
          <a:lstStyle/>
          <a:p>
            <a:pPr marL="0" indent="0" algn="ctr">
              <a:buNone/>
            </a:pPr>
            <a:r>
              <a:rPr lang="en-US" sz="1500" dirty="0">
                <a:solidFill>
                  <a:srgbClr val="000000"/>
                </a:solidFill>
                <a:latin typeface="Segoe UI Emoji" pitchFamily="34" charset="0"/>
                <a:ea typeface="Segoe UI Emoji" pitchFamily="34" charset="-122"/>
                <a:cs typeface="Segoe UI Emoji" pitchFamily="34" charset="-120"/>
              </a:rPr>
              <a:t>8</a:t>
            </a:r>
            <a:endParaRPr lang="en-US" sz="1500" dirty="0"/>
          </a:p>
        </p:txBody>
      </p:sp>
      <p:sp>
        <p:nvSpPr>
          <p:cNvPr id="42" name="Text 40"/>
          <p:cNvSpPr/>
          <p:nvPr/>
        </p:nvSpPr>
        <p:spPr>
          <a:xfrm>
            <a:off x="6656832" y="3072384"/>
            <a:ext cx="4434840" cy="566928"/>
          </a:xfrm>
          <a:prstGeom prst="rect">
            <a:avLst/>
          </a:prstGeom>
          <a:noFill/>
          <a:ln/>
        </p:spPr>
        <p:txBody>
          <a:bodyPr wrap="square" lIns="0" tIns="0" rIns="0" bIns="0" rtlCol="0" anchor="ctr"/>
          <a:lstStyle/>
          <a:p>
            <a:pPr marL="0" indent="0">
              <a:buNone/>
            </a:pPr>
            <a:r>
              <a:rPr lang="en-US" sz="1250" dirty="0">
                <a:solidFill>
                  <a:srgbClr val="1F1B3A"/>
                </a:solidFill>
                <a:latin typeface="Calibri" pitchFamily="34" charset="0"/>
                <a:ea typeface="Calibri" pitchFamily="34" charset="-122"/>
                <a:cs typeface="Calibri" pitchFamily="34" charset="-120"/>
              </a:rPr>
              <a:t>Category Service maps interests</a:t>
            </a:r>
            <a:endParaRPr lang="en-US" sz="1250" dirty="0"/>
          </a:p>
        </p:txBody>
      </p:sp>
      <p:sp>
        <p:nvSpPr>
          <p:cNvPr id="43" name="Text 41"/>
          <p:cNvSpPr/>
          <p:nvPr/>
        </p:nvSpPr>
        <p:spPr>
          <a:xfrm>
            <a:off x="8503920" y="3639312"/>
            <a:ext cx="731520" cy="146304"/>
          </a:xfrm>
          <a:prstGeom prst="rect">
            <a:avLst/>
          </a:prstGeom>
          <a:noFill/>
          <a:ln/>
        </p:spPr>
        <p:txBody>
          <a:bodyPr wrap="square" lIns="0" tIns="0" rIns="0" bIns="0" rtlCol="0" anchor="ctr"/>
          <a:lstStyle/>
          <a:p>
            <a:pPr marL="0" indent="0" algn="ctr">
              <a:buNone/>
            </a:pPr>
            <a:r>
              <a:rPr lang="en-US" sz="1100" dirty="0">
                <a:solidFill>
                  <a:srgbClr val="6C3CE9"/>
                </a:solidFill>
              </a:rPr>
              <a:t>▼</a:t>
            </a:r>
            <a:endParaRPr lang="en-US" sz="1100" dirty="0"/>
          </a:p>
        </p:txBody>
      </p:sp>
      <p:sp>
        <p:nvSpPr>
          <p:cNvPr id="44" name="Shape 42"/>
          <p:cNvSpPr/>
          <p:nvPr/>
        </p:nvSpPr>
        <p:spPr>
          <a:xfrm>
            <a:off x="6492240" y="3785616"/>
            <a:ext cx="4709160" cy="566928"/>
          </a:xfrm>
          <a:prstGeom prst="roundRect">
            <a:avLst>
              <a:gd name="adj" fmla="val 16129"/>
            </a:avLst>
          </a:prstGeom>
          <a:solidFill>
            <a:srgbClr val="F6F4FC"/>
          </a:solidFill>
          <a:ln w="12700">
            <a:solidFill>
              <a:srgbClr val="DED6F5"/>
            </a:solidFill>
            <a:prstDash val="solid"/>
          </a:ln>
        </p:spPr>
      </p:sp>
      <p:sp>
        <p:nvSpPr>
          <p:cNvPr id="45" name="Shape 43"/>
          <p:cNvSpPr/>
          <p:nvPr/>
        </p:nvSpPr>
        <p:spPr>
          <a:xfrm>
            <a:off x="6035040" y="3877056"/>
            <a:ext cx="384048" cy="384048"/>
          </a:xfrm>
          <a:prstGeom prst="ellipse">
            <a:avLst/>
          </a:prstGeom>
          <a:solidFill>
            <a:srgbClr val="EC4899"/>
          </a:solidFill>
          <a:ln/>
        </p:spPr>
      </p:sp>
      <p:sp>
        <p:nvSpPr>
          <p:cNvPr id="46" name="Text 44"/>
          <p:cNvSpPr/>
          <p:nvPr/>
        </p:nvSpPr>
        <p:spPr>
          <a:xfrm>
            <a:off x="6035040" y="3858768"/>
            <a:ext cx="384048" cy="384048"/>
          </a:xfrm>
          <a:prstGeom prst="rect">
            <a:avLst/>
          </a:prstGeom>
          <a:noFill/>
          <a:ln/>
        </p:spPr>
        <p:txBody>
          <a:bodyPr wrap="square" lIns="0" tIns="0" rIns="0" bIns="0" rtlCol="0" anchor="ctr"/>
          <a:lstStyle/>
          <a:p>
            <a:pPr marL="0" indent="0" algn="ctr">
              <a:buNone/>
            </a:pPr>
            <a:r>
              <a:rPr lang="en-US" sz="1500" dirty="0">
                <a:solidFill>
                  <a:srgbClr val="000000"/>
                </a:solidFill>
                <a:latin typeface="Segoe UI Emoji" pitchFamily="34" charset="0"/>
                <a:ea typeface="Segoe UI Emoji" pitchFamily="34" charset="-122"/>
                <a:cs typeface="Segoe UI Emoji" pitchFamily="34" charset="-120"/>
              </a:rPr>
              <a:t>9</a:t>
            </a:r>
            <a:endParaRPr lang="en-US" sz="1500" dirty="0"/>
          </a:p>
        </p:txBody>
      </p:sp>
      <p:sp>
        <p:nvSpPr>
          <p:cNvPr id="47" name="Text 45"/>
          <p:cNvSpPr/>
          <p:nvPr/>
        </p:nvSpPr>
        <p:spPr>
          <a:xfrm>
            <a:off x="6656832" y="3785616"/>
            <a:ext cx="4434840" cy="566928"/>
          </a:xfrm>
          <a:prstGeom prst="rect">
            <a:avLst/>
          </a:prstGeom>
          <a:noFill/>
          <a:ln/>
        </p:spPr>
        <p:txBody>
          <a:bodyPr wrap="square" lIns="0" tIns="0" rIns="0" bIns="0" rtlCol="0" anchor="ctr"/>
          <a:lstStyle/>
          <a:p>
            <a:pPr marL="0" indent="0">
              <a:buNone/>
            </a:pPr>
            <a:r>
              <a:rPr lang="en-US" sz="1250" dirty="0">
                <a:solidFill>
                  <a:srgbClr val="1F1B3A"/>
                </a:solidFill>
                <a:latin typeface="Calibri" pitchFamily="34" charset="0"/>
                <a:ea typeface="Calibri" pitchFamily="34" charset="-122"/>
                <a:cs typeface="Calibri" pitchFamily="34" charset="-120"/>
              </a:rPr>
              <a:t>Personalized news returned</a:t>
            </a:r>
            <a:endParaRPr lang="en-US" sz="1250" dirty="0"/>
          </a:p>
        </p:txBody>
      </p:sp>
      <p:sp>
        <p:nvSpPr>
          <p:cNvPr id="48" name="Text 46"/>
          <p:cNvSpPr/>
          <p:nvPr/>
        </p:nvSpPr>
        <p:spPr>
          <a:xfrm>
            <a:off x="8503920" y="4352544"/>
            <a:ext cx="731520" cy="146304"/>
          </a:xfrm>
          <a:prstGeom prst="rect">
            <a:avLst/>
          </a:prstGeom>
          <a:noFill/>
          <a:ln/>
        </p:spPr>
        <p:txBody>
          <a:bodyPr wrap="square" lIns="0" tIns="0" rIns="0" bIns="0" rtlCol="0" anchor="ctr"/>
          <a:lstStyle/>
          <a:p>
            <a:pPr marL="0" indent="0" algn="ctr">
              <a:buNone/>
            </a:pPr>
            <a:r>
              <a:rPr lang="en-US" sz="1100" dirty="0">
                <a:solidFill>
                  <a:srgbClr val="6C3CE9"/>
                </a:solidFill>
              </a:rPr>
              <a:t>▼</a:t>
            </a:r>
            <a:endParaRPr lang="en-US" sz="1100" dirty="0"/>
          </a:p>
        </p:txBody>
      </p:sp>
      <p:sp>
        <p:nvSpPr>
          <p:cNvPr id="49" name="Shape 47"/>
          <p:cNvSpPr/>
          <p:nvPr/>
        </p:nvSpPr>
        <p:spPr>
          <a:xfrm>
            <a:off x="6492240" y="4498848"/>
            <a:ext cx="4709160" cy="566928"/>
          </a:xfrm>
          <a:prstGeom prst="roundRect">
            <a:avLst>
              <a:gd name="adj" fmla="val 16129"/>
            </a:avLst>
          </a:prstGeom>
          <a:solidFill>
            <a:srgbClr val="F6F4FC"/>
          </a:solidFill>
          <a:ln w="12700">
            <a:solidFill>
              <a:srgbClr val="DED6F5"/>
            </a:solidFill>
            <a:prstDash val="solid"/>
          </a:ln>
        </p:spPr>
      </p:sp>
      <p:sp>
        <p:nvSpPr>
          <p:cNvPr id="50" name="Shape 48"/>
          <p:cNvSpPr/>
          <p:nvPr/>
        </p:nvSpPr>
        <p:spPr>
          <a:xfrm>
            <a:off x="6035040" y="4590288"/>
            <a:ext cx="384048" cy="384048"/>
          </a:xfrm>
          <a:prstGeom prst="ellipse">
            <a:avLst/>
          </a:prstGeom>
          <a:solidFill>
            <a:srgbClr val="EC4899"/>
          </a:solidFill>
          <a:ln/>
        </p:spPr>
      </p:sp>
      <p:sp>
        <p:nvSpPr>
          <p:cNvPr id="51" name="Text 49"/>
          <p:cNvSpPr/>
          <p:nvPr/>
        </p:nvSpPr>
        <p:spPr>
          <a:xfrm>
            <a:off x="6035040" y="4572000"/>
            <a:ext cx="384048" cy="384048"/>
          </a:xfrm>
          <a:prstGeom prst="rect">
            <a:avLst/>
          </a:prstGeom>
          <a:noFill/>
          <a:ln/>
        </p:spPr>
        <p:txBody>
          <a:bodyPr wrap="square" lIns="0" tIns="0" rIns="0" bIns="0" rtlCol="0" anchor="ctr"/>
          <a:lstStyle/>
          <a:p>
            <a:pPr marL="0" indent="0" algn="ctr">
              <a:buNone/>
            </a:pPr>
            <a:r>
              <a:rPr lang="en-US" sz="1500" dirty="0">
                <a:solidFill>
                  <a:srgbClr val="000000"/>
                </a:solidFill>
                <a:latin typeface="Segoe UI Emoji" pitchFamily="34" charset="0"/>
                <a:ea typeface="Segoe UI Emoji" pitchFamily="34" charset="-122"/>
                <a:cs typeface="Segoe UI Emoji" pitchFamily="34" charset="-120"/>
              </a:rPr>
              <a:t>10</a:t>
            </a:r>
            <a:endParaRPr lang="en-US" sz="1500" dirty="0"/>
          </a:p>
        </p:txBody>
      </p:sp>
      <p:sp>
        <p:nvSpPr>
          <p:cNvPr id="52" name="Text 50"/>
          <p:cNvSpPr/>
          <p:nvPr/>
        </p:nvSpPr>
        <p:spPr>
          <a:xfrm>
            <a:off x="6656832" y="4498848"/>
            <a:ext cx="4434840" cy="566928"/>
          </a:xfrm>
          <a:prstGeom prst="rect">
            <a:avLst/>
          </a:prstGeom>
          <a:noFill/>
          <a:ln/>
        </p:spPr>
        <p:txBody>
          <a:bodyPr wrap="square" lIns="0" tIns="0" rIns="0" bIns="0" rtlCol="0" anchor="ctr"/>
          <a:lstStyle/>
          <a:p>
            <a:pPr marL="0" indent="0">
              <a:buNone/>
            </a:pPr>
            <a:r>
              <a:rPr lang="en-US" sz="1250" dirty="0">
                <a:solidFill>
                  <a:srgbClr val="1F1B3A"/>
                </a:solidFill>
                <a:latin typeface="Calibri" pitchFamily="34" charset="0"/>
                <a:ea typeface="Calibri" pitchFamily="34" charset="-122"/>
                <a:cs typeface="Calibri" pitchFamily="34" charset="-120"/>
              </a:rPr>
              <a:t>User bookmarks articles</a:t>
            </a:r>
            <a:endParaRPr lang="en-US" sz="1250" dirty="0"/>
          </a:p>
        </p:txBody>
      </p:sp>
      <p:sp>
        <p:nvSpPr>
          <p:cNvPr id="53" name="Text 51"/>
          <p:cNvSpPr/>
          <p:nvPr/>
        </p:nvSpPr>
        <p:spPr>
          <a:xfrm>
            <a:off x="8503920" y="5065776"/>
            <a:ext cx="731520" cy="146304"/>
          </a:xfrm>
          <a:prstGeom prst="rect">
            <a:avLst/>
          </a:prstGeom>
          <a:noFill/>
          <a:ln/>
        </p:spPr>
        <p:txBody>
          <a:bodyPr wrap="square" lIns="0" tIns="0" rIns="0" bIns="0" rtlCol="0" anchor="ctr"/>
          <a:lstStyle/>
          <a:p>
            <a:pPr marL="0" indent="0" algn="ctr">
              <a:buNone/>
            </a:pPr>
            <a:r>
              <a:rPr lang="en-US" sz="1100" dirty="0">
                <a:solidFill>
                  <a:srgbClr val="6C3CE9"/>
                </a:solidFill>
              </a:rPr>
              <a:t>▼</a:t>
            </a:r>
            <a:endParaRPr lang="en-US" sz="1100" dirty="0"/>
          </a:p>
        </p:txBody>
      </p:sp>
      <p:sp>
        <p:nvSpPr>
          <p:cNvPr id="54" name="Shape 52"/>
          <p:cNvSpPr/>
          <p:nvPr/>
        </p:nvSpPr>
        <p:spPr>
          <a:xfrm>
            <a:off x="6492240" y="5212080"/>
            <a:ext cx="4709160" cy="566928"/>
          </a:xfrm>
          <a:prstGeom prst="roundRect">
            <a:avLst>
              <a:gd name="adj" fmla="val 16129"/>
            </a:avLst>
          </a:prstGeom>
          <a:solidFill>
            <a:srgbClr val="6C3CE9"/>
          </a:solidFill>
          <a:ln w="12700">
            <a:solidFill>
              <a:srgbClr val="6C3CE9"/>
            </a:solidFill>
            <a:prstDash val="solid"/>
          </a:ln>
        </p:spPr>
      </p:sp>
      <p:sp>
        <p:nvSpPr>
          <p:cNvPr id="55" name="Shape 53"/>
          <p:cNvSpPr/>
          <p:nvPr/>
        </p:nvSpPr>
        <p:spPr>
          <a:xfrm>
            <a:off x="6035040" y="5303520"/>
            <a:ext cx="384048" cy="384048"/>
          </a:xfrm>
          <a:prstGeom prst="ellipse">
            <a:avLst/>
          </a:prstGeom>
          <a:solidFill>
            <a:srgbClr val="EC4899"/>
          </a:solidFill>
          <a:ln/>
        </p:spPr>
      </p:sp>
      <p:sp>
        <p:nvSpPr>
          <p:cNvPr id="56" name="Text 54"/>
          <p:cNvSpPr/>
          <p:nvPr/>
        </p:nvSpPr>
        <p:spPr>
          <a:xfrm>
            <a:off x="6035040" y="5285232"/>
            <a:ext cx="384048" cy="384048"/>
          </a:xfrm>
          <a:prstGeom prst="rect">
            <a:avLst/>
          </a:prstGeom>
          <a:noFill/>
          <a:ln/>
        </p:spPr>
        <p:txBody>
          <a:bodyPr wrap="square" lIns="0" tIns="0" rIns="0" bIns="0" rtlCol="0" anchor="ctr"/>
          <a:lstStyle/>
          <a:p>
            <a:pPr marL="0" indent="0" algn="ctr">
              <a:buNone/>
            </a:pPr>
            <a:r>
              <a:rPr lang="en-US" sz="1500" dirty="0">
                <a:solidFill>
                  <a:srgbClr val="000000"/>
                </a:solidFill>
                <a:latin typeface="Segoe UI Emoji" pitchFamily="34" charset="0"/>
                <a:ea typeface="Segoe UI Emoji" pitchFamily="34" charset="-122"/>
                <a:cs typeface="Segoe UI Emoji" pitchFamily="34" charset="-120"/>
              </a:rPr>
              <a:t>11</a:t>
            </a:r>
            <a:endParaRPr lang="en-US" sz="1500" dirty="0"/>
          </a:p>
        </p:txBody>
      </p:sp>
      <p:sp>
        <p:nvSpPr>
          <p:cNvPr id="57" name="Text 55"/>
          <p:cNvSpPr/>
          <p:nvPr/>
        </p:nvSpPr>
        <p:spPr>
          <a:xfrm>
            <a:off x="6656832" y="5212080"/>
            <a:ext cx="4434840" cy="566928"/>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Bookmarks stored in localStorage</a:t>
            </a:r>
            <a:endParaRPr lang="en-US" sz="1250" dirty="0"/>
          </a:p>
        </p:txBody>
      </p:sp>
      <p:sp>
        <p:nvSpPr>
          <p:cNvPr id="58" name="Text 56"/>
          <p:cNvSpPr/>
          <p:nvPr/>
        </p:nvSpPr>
        <p:spPr>
          <a:xfrm>
            <a:off x="5532120" y="3200400"/>
            <a:ext cx="777240" cy="548640"/>
          </a:xfrm>
          <a:prstGeom prst="rect">
            <a:avLst/>
          </a:prstGeom>
          <a:noFill/>
          <a:ln/>
        </p:spPr>
        <p:txBody>
          <a:bodyPr wrap="square" lIns="0" tIns="0" rIns="0" bIns="0" rtlCol="0" anchor="ctr"/>
          <a:lstStyle/>
          <a:p>
            <a:pPr marL="0" indent="0" algn="ctr">
              <a:buNone/>
            </a:pPr>
            <a:r>
              <a:rPr lang="en-US" sz="2200" b="1" dirty="0">
                <a:solidFill>
                  <a:srgbClr val="EC4899"/>
                </a:solidFill>
              </a:rPr>
              <a:t>→</a:t>
            </a:r>
            <a:endParaRPr lang="en-US" sz="2200" dirty="0"/>
          </a:p>
        </p:txBody>
      </p:sp>
      <p:sp>
        <p:nvSpPr>
          <p:cNvPr id="59" name="Text 57"/>
          <p:cNvSpPr/>
          <p:nvPr/>
        </p:nvSpPr>
        <p:spPr>
          <a:xfrm>
            <a:off x="548640" y="6528816"/>
            <a:ext cx="2743200" cy="274320"/>
          </a:xfrm>
          <a:prstGeom prst="rect">
            <a:avLst/>
          </a:prstGeom>
          <a:noFill/>
          <a:ln/>
        </p:spPr>
        <p:txBody>
          <a:bodyPr wrap="square" lIns="0" tIns="0" rIns="0" bIns="0" rtlCol="0" anchor="ctr"/>
          <a:lstStyle/>
          <a:p>
            <a:pPr marL="0" indent="0" algn="l">
              <a:buNone/>
            </a:pPr>
            <a:r>
              <a:rPr lang="en-US" sz="1000" dirty="0">
                <a:solidFill>
                  <a:srgbClr val="6B6480"/>
                </a:solidFill>
                <a:latin typeface="Calibri" pitchFamily="34" charset="0"/>
                <a:ea typeface="Calibri" pitchFamily="34" charset="-122"/>
                <a:cs typeface="Calibri" pitchFamily="34" charset="-120"/>
              </a:rPr>
              <a:t>NewsNest</a:t>
            </a:r>
            <a:endParaRPr lang="en-US" sz="1000" dirty="0"/>
          </a:p>
        </p:txBody>
      </p:sp>
      <p:sp>
        <p:nvSpPr>
          <p:cNvPr id="60" name="Text 58"/>
          <p:cNvSpPr/>
          <p:nvPr/>
        </p:nvSpPr>
        <p:spPr>
          <a:xfrm>
            <a:off x="11183112" y="6528816"/>
            <a:ext cx="457200" cy="274320"/>
          </a:xfrm>
          <a:prstGeom prst="rect">
            <a:avLst/>
          </a:prstGeom>
          <a:noFill/>
          <a:ln/>
        </p:spPr>
        <p:txBody>
          <a:bodyPr wrap="square" lIns="0" tIns="0" rIns="0" bIns="0" rtlCol="0" anchor="ctr"/>
          <a:lstStyle/>
          <a:p>
            <a:pPr marL="0" indent="0" algn="r">
              <a:buNone/>
            </a:pPr>
            <a:r>
              <a:rPr lang="en-US" sz="1000" dirty="0">
                <a:solidFill>
                  <a:srgbClr val="6B6480"/>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91672" cy="685800"/>
          </a:xfrm>
          <a:prstGeom prst="rect">
            <a:avLst/>
          </a:prstGeom>
          <a:noFill/>
          <a:ln/>
        </p:spPr>
        <p:txBody>
          <a:bodyPr wrap="square" lIns="0" tIns="0" rIns="0" bIns="0" rtlCol="0" anchor="ctr"/>
          <a:lstStyle/>
          <a:p>
            <a:pPr marL="0" indent="0" algn="l">
              <a:buNone/>
            </a:pPr>
            <a:r>
              <a:rPr lang="en-US" sz="3200" b="1" dirty="0">
                <a:solidFill>
                  <a:srgbClr val="2A1B5D"/>
                </a:solidFill>
                <a:latin typeface="Cambria" pitchFamily="34" charset="0"/>
                <a:ea typeface="Cambria" pitchFamily="34" charset="-122"/>
                <a:cs typeface="Cambria" pitchFamily="34" charset="-120"/>
              </a:rPr>
              <a:t>Technologies Used</a:t>
            </a:r>
            <a:endParaRPr lang="en-US" sz="3200" dirty="0"/>
          </a:p>
        </p:txBody>
      </p:sp>
      <p:sp>
        <p:nvSpPr>
          <p:cNvPr id="3" name="Shape 1"/>
          <p:cNvSpPr/>
          <p:nvPr/>
        </p:nvSpPr>
        <p:spPr>
          <a:xfrm>
            <a:off x="548640" y="1042416"/>
            <a:ext cx="502920" cy="41148"/>
          </a:xfrm>
          <a:prstGeom prst="rect">
            <a:avLst/>
          </a:prstGeom>
          <a:solidFill>
            <a:srgbClr val="EC4899"/>
          </a:solidFill>
          <a:ln/>
        </p:spPr>
      </p:sp>
      <p:sp>
        <p:nvSpPr>
          <p:cNvPr id="4" name="Text 2"/>
          <p:cNvSpPr/>
          <p:nvPr/>
        </p:nvSpPr>
        <p:spPr>
          <a:xfrm>
            <a:off x="548640" y="1097280"/>
            <a:ext cx="11091672" cy="365760"/>
          </a:xfrm>
          <a:prstGeom prst="rect">
            <a:avLst/>
          </a:prstGeom>
          <a:noFill/>
          <a:ln/>
        </p:spPr>
        <p:txBody>
          <a:bodyPr wrap="square" lIns="0" tIns="0" rIns="0" bIns="0" rtlCol="0" anchor="ctr"/>
          <a:lstStyle/>
          <a:p>
            <a:pPr marL="0" indent="0" algn="l">
              <a:buNone/>
            </a:pPr>
            <a:r>
              <a:rPr lang="en-US" sz="1400" i="1" dirty="0">
                <a:solidFill>
                  <a:srgbClr val="6B6480"/>
                </a:solidFill>
                <a:latin typeface="Calibri" pitchFamily="34" charset="0"/>
                <a:ea typeface="Calibri" pitchFamily="34" charset="-122"/>
                <a:cs typeface="Calibri" pitchFamily="34" charset="-120"/>
              </a:rPr>
              <a:t>Each tool was chosen deliberately for this architecture</a:t>
            </a:r>
            <a:endParaRPr lang="en-US" sz="1400" dirty="0"/>
          </a:p>
        </p:txBody>
      </p:sp>
      <p:graphicFrame>
        <p:nvGraphicFramePr>
          <p:cNvPr id="11" name="Table 0"/>
          <p:cNvGraphicFramePr>
            <a:graphicFrameLocks noGrp="1"/>
          </p:cNvGraphicFramePr>
          <p:nvPr>
            <p:extLst>
              <p:ext uri="{D42A27DB-BD31-4B8C-83A1-F6EECF244321}">
                <p14:modId xmlns:p14="http://schemas.microsoft.com/office/powerpoint/2010/main" val="2697299767"/>
              </p:ext>
            </p:extLst>
          </p:nvPr>
        </p:nvGraphicFramePr>
        <p:xfrm>
          <a:off x="548640" y="1554480"/>
          <a:ext cx="5486400" cy="4590288"/>
        </p:xfrm>
        <a:graphic>
          <a:graphicData uri="http://schemas.openxmlformats.org/drawingml/2006/table">
            <a:tbl>
              <a:tblPr/>
              <a:tblGrid>
                <a:gridCol w="155448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tblGrid>
              <a:tr h="36576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Technology</a:t>
                      </a:r>
                      <a:endParaRPr lang="en-US" sz="1200" dirty="0">
                        <a:latin typeface="Calibri" charset="0"/>
                        <a:ea typeface="Calibri" charset="0"/>
                        <a:cs typeface="Calibri" charset="0"/>
                      </a:endParaRPr>
                    </a:p>
                  </a:txBody>
                  <a:tcPr anchor="ctr">
                    <a:lnL w="6350" cap="flat" cmpd="sng" algn="ctr">
                      <a:solidFill>
                        <a:srgbClr val="E5DFF5"/>
                      </a:solidFill>
                      <a:prstDash val="solid"/>
                      <a:round/>
                      <a:headEnd type="none" w="med" len="med"/>
                      <a:tailEnd type="none" w="med" len="med"/>
                    </a:lnL>
                    <a:lnR w="6350" cap="flat" cmpd="sng" algn="ctr">
                      <a:solidFill>
                        <a:srgbClr val="E5DFF5"/>
                      </a:solidFill>
                      <a:prstDash val="solid"/>
                      <a:round/>
                      <a:headEnd type="none" w="med" len="med"/>
                      <a:tailEnd type="none" w="med" len="med"/>
                    </a:lnR>
                    <a:lnT w="6350" cap="flat" cmpd="sng" algn="ctr">
                      <a:solidFill>
                        <a:srgbClr val="E5DFF5"/>
                      </a:solidFill>
                      <a:prstDash val="solid"/>
                      <a:round/>
                      <a:headEnd type="none" w="med" len="med"/>
                      <a:tailEnd type="none" w="med" len="med"/>
                    </a:lnT>
                    <a:lnB w="6350" cap="flat" cmpd="sng" algn="ctr">
                      <a:solidFill>
                        <a:srgbClr val="E5DFF5"/>
                      </a:solidFill>
                      <a:prstDash val="solid"/>
                      <a:round/>
                      <a:headEnd type="none" w="med" len="med"/>
                      <a:tailEnd type="none" w="med" len="med"/>
                    </a:lnB>
                    <a:solidFill>
                      <a:srgbClr val="2A1B5D"/>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Why Chosen</a:t>
                      </a:r>
                      <a:endParaRPr lang="en-US" sz="1200" dirty="0">
                        <a:latin typeface="Calibri" charset="0"/>
                        <a:ea typeface="Calibri" charset="0"/>
                        <a:cs typeface="Calibri" charset="0"/>
                      </a:endParaRPr>
                    </a:p>
                  </a:txBody>
                  <a:tcPr anchor="ctr">
                    <a:lnL w="6350" cap="flat" cmpd="sng" algn="ctr">
                      <a:solidFill>
                        <a:srgbClr val="E5DFF5"/>
                      </a:solidFill>
                      <a:prstDash val="solid"/>
                      <a:round/>
                      <a:headEnd type="none" w="med" len="med"/>
                      <a:tailEnd type="none" w="med" len="med"/>
                    </a:lnL>
                    <a:lnR w="6350" cap="flat" cmpd="sng" algn="ctr">
                      <a:solidFill>
                        <a:srgbClr val="E5DFF5"/>
                      </a:solidFill>
                      <a:prstDash val="solid"/>
                      <a:round/>
                      <a:headEnd type="none" w="med" len="med"/>
                      <a:tailEnd type="none" w="med" len="med"/>
                    </a:lnR>
                    <a:lnT w="6350" cap="flat" cmpd="sng" algn="ctr">
                      <a:solidFill>
                        <a:srgbClr val="E5DFF5"/>
                      </a:solidFill>
                      <a:prstDash val="solid"/>
                      <a:round/>
                      <a:headEnd type="none" w="med" len="med"/>
                      <a:tailEnd type="none" w="med" len="med"/>
                    </a:lnT>
                    <a:lnB w="6350" cap="flat" cmpd="sng" algn="ctr">
                      <a:solidFill>
                        <a:srgbClr val="E5DFF5"/>
                      </a:solidFill>
                      <a:prstDash val="solid"/>
                      <a:round/>
                      <a:headEnd type="none" w="med" len="med"/>
                      <a:tailEnd type="none" w="med" len="med"/>
                    </a:lnB>
                    <a:solidFill>
                      <a:srgbClr val="2A1B5D"/>
                    </a:solidFill>
                  </a:tcPr>
                </a:tc>
                <a:extLst>
                  <a:ext uri="{0D108BD9-81ED-4DB2-BD59-A6C34878D82A}">
                    <a16:rowId xmlns:a16="http://schemas.microsoft.com/office/drawing/2014/main" val="10000"/>
                  </a:ext>
                </a:extLst>
              </a:tr>
              <a:tr h="603504">
                <a:tc>
                  <a:txBody>
                    <a:bodyPr/>
                    <a:lstStyle/>
                    <a:p>
                      <a:pPr marL="0" indent="0">
                        <a:buNone/>
                      </a:pPr>
                      <a:r>
                        <a:rPr lang="en-US" sz="1050" dirty="0">
                          <a:solidFill>
                            <a:srgbClr val="1F1B3A"/>
                          </a:solidFill>
                          <a:latin typeface="Calibri" pitchFamily="34" charset="0"/>
                          <a:ea typeface="Calibri" pitchFamily="34" charset="-122"/>
                          <a:cs typeface="Calibri" pitchFamily="34" charset="-120"/>
                        </a:rPr>
                        <a:t>HTML</a:t>
                      </a:r>
                      <a:endParaRPr lang="en-US" sz="1050" dirty="0">
                        <a:latin typeface="Calibri" charset="0"/>
                        <a:ea typeface="Calibri" charset="0"/>
                        <a:cs typeface="Calibri" charset="0"/>
                      </a:endParaRPr>
                    </a:p>
                  </a:txBody>
                  <a:tcPr anchor="ctr">
                    <a:lnL w="6350" cap="flat" cmpd="sng" algn="ctr">
                      <a:solidFill>
                        <a:srgbClr val="E5DFF5"/>
                      </a:solidFill>
                      <a:prstDash val="solid"/>
                      <a:round/>
                      <a:headEnd type="none" w="med" len="med"/>
                      <a:tailEnd type="none" w="med" len="med"/>
                    </a:lnL>
                    <a:lnR w="6350" cap="flat" cmpd="sng" algn="ctr">
                      <a:solidFill>
                        <a:srgbClr val="E5DFF5"/>
                      </a:solidFill>
                      <a:prstDash val="solid"/>
                      <a:round/>
                      <a:headEnd type="none" w="med" len="med"/>
                      <a:tailEnd type="none" w="med" len="med"/>
                    </a:lnR>
                    <a:lnT w="6350" cap="flat" cmpd="sng" algn="ctr">
                      <a:solidFill>
                        <a:srgbClr val="E5DFF5"/>
                      </a:solidFill>
                      <a:prstDash val="solid"/>
                      <a:round/>
                      <a:headEnd type="none" w="med" len="med"/>
                      <a:tailEnd type="none" w="med" len="med"/>
                    </a:lnT>
                    <a:lnB w="6350" cap="flat" cmpd="sng" algn="ctr">
                      <a:solidFill>
                        <a:srgbClr val="E5DFF5"/>
                      </a:solidFill>
                      <a:prstDash val="solid"/>
                      <a:round/>
                      <a:headEnd type="none" w="med" len="med"/>
                      <a:tailEnd type="none" w="med" len="med"/>
                    </a:lnB>
                    <a:solidFill>
                      <a:srgbClr val="FFFFFF"/>
                    </a:solidFill>
                  </a:tcPr>
                </a:tc>
                <a:tc>
                  <a:txBody>
                    <a:bodyPr/>
                    <a:lstStyle/>
                    <a:p>
                      <a:pPr marL="0" indent="0">
                        <a:buNone/>
                      </a:pPr>
                      <a:r>
                        <a:rPr lang="en-US" sz="1050" dirty="0">
                          <a:solidFill>
                            <a:srgbClr val="6B6480"/>
                          </a:solidFill>
                          <a:latin typeface="Calibri" pitchFamily="34" charset="0"/>
                          <a:ea typeface="Calibri" pitchFamily="34" charset="-122"/>
                          <a:cs typeface="Calibri" pitchFamily="34" charset="-120"/>
                        </a:rPr>
                        <a:t>Semantic, accessible structure with zero framework overhead</a:t>
                      </a:r>
                      <a:endParaRPr lang="en-US" sz="1050" dirty="0">
                        <a:latin typeface="Calibri" charset="0"/>
                        <a:ea typeface="Calibri" charset="0"/>
                        <a:cs typeface="Calibri" charset="0"/>
                      </a:endParaRPr>
                    </a:p>
                  </a:txBody>
                  <a:tcPr anchor="ctr">
                    <a:lnL w="6350" cap="flat" cmpd="sng" algn="ctr">
                      <a:solidFill>
                        <a:srgbClr val="E5DFF5"/>
                      </a:solidFill>
                      <a:prstDash val="solid"/>
                      <a:round/>
                      <a:headEnd type="none" w="med" len="med"/>
                      <a:tailEnd type="none" w="med" len="med"/>
                    </a:lnL>
                    <a:lnR w="6350" cap="flat" cmpd="sng" algn="ctr">
                      <a:solidFill>
                        <a:srgbClr val="E5DFF5"/>
                      </a:solidFill>
                      <a:prstDash val="solid"/>
                      <a:round/>
                      <a:headEnd type="none" w="med" len="med"/>
                      <a:tailEnd type="none" w="med" len="med"/>
                    </a:lnR>
                    <a:lnT w="6350" cap="flat" cmpd="sng" algn="ctr">
                      <a:solidFill>
                        <a:srgbClr val="E5DFF5"/>
                      </a:solidFill>
                      <a:prstDash val="solid"/>
                      <a:round/>
                      <a:headEnd type="none" w="med" len="med"/>
                      <a:tailEnd type="none" w="med" len="med"/>
                    </a:lnT>
                    <a:lnB w="6350" cap="flat" cmpd="sng" algn="ctr">
                      <a:solidFill>
                        <a:srgbClr val="E5DFF5"/>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03504">
                <a:tc>
                  <a:txBody>
                    <a:bodyPr/>
                    <a:lstStyle/>
                    <a:p>
                      <a:pPr marL="0" indent="0">
                        <a:buNone/>
                      </a:pPr>
                      <a:r>
                        <a:rPr lang="en-US" sz="1050" dirty="0">
                          <a:solidFill>
                            <a:srgbClr val="1F1B3A"/>
                          </a:solidFill>
                          <a:latin typeface="Calibri" pitchFamily="34" charset="0"/>
                          <a:ea typeface="Calibri" pitchFamily="34" charset="-122"/>
                          <a:cs typeface="Calibri" pitchFamily="34" charset="-120"/>
                        </a:rPr>
                        <a:t>CSS</a:t>
                      </a:r>
                      <a:endParaRPr lang="en-US" sz="1050" dirty="0">
                        <a:latin typeface="Calibri" charset="0"/>
                        <a:ea typeface="Calibri" charset="0"/>
                        <a:cs typeface="Calibri" charset="0"/>
                      </a:endParaRPr>
                    </a:p>
                  </a:txBody>
                  <a:tcPr anchor="ctr">
                    <a:lnL w="6350" cap="flat" cmpd="sng" algn="ctr">
                      <a:solidFill>
                        <a:srgbClr val="E5DFF5"/>
                      </a:solidFill>
                      <a:prstDash val="solid"/>
                      <a:round/>
                      <a:headEnd type="none" w="med" len="med"/>
                      <a:tailEnd type="none" w="med" len="med"/>
                    </a:lnL>
                    <a:lnR w="6350" cap="flat" cmpd="sng" algn="ctr">
                      <a:solidFill>
                        <a:srgbClr val="E5DFF5"/>
                      </a:solidFill>
                      <a:prstDash val="solid"/>
                      <a:round/>
                      <a:headEnd type="none" w="med" len="med"/>
                      <a:tailEnd type="none" w="med" len="med"/>
                    </a:lnR>
                    <a:lnT w="6350" cap="flat" cmpd="sng" algn="ctr">
                      <a:solidFill>
                        <a:srgbClr val="E5DFF5"/>
                      </a:solidFill>
                      <a:prstDash val="solid"/>
                      <a:round/>
                      <a:headEnd type="none" w="med" len="med"/>
                      <a:tailEnd type="none" w="med" len="med"/>
                    </a:lnT>
                    <a:lnB w="6350" cap="flat" cmpd="sng" algn="ctr">
                      <a:solidFill>
                        <a:srgbClr val="E5DFF5"/>
                      </a:solidFill>
                      <a:prstDash val="solid"/>
                      <a:round/>
                      <a:headEnd type="none" w="med" len="med"/>
                      <a:tailEnd type="none" w="med" len="med"/>
                    </a:lnB>
                    <a:solidFill>
                      <a:srgbClr val="F6F4FC"/>
                    </a:solidFill>
                  </a:tcPr>
                </a:tc>
                <a:tc>
                  <a:txBody>
                    <a:bodyPr/>
                    <a:lstStyle/>
                    <a:p>
                      <a:pPr marL="0" indent="0">
                        <a:buNone/>
                      </a:pPr>
                      <a:r>
                        <a:rPr lang="en-US" sz="1050" dirty="0">
                          <a:solidFill>
                            <a:srgbClr val="6B6480"/>
                          </a:solidFill>
                          <a:latin typeface="Calibri" pitchFamily="34" charset="0"/>
                          <a:ea typeface="Calibri" pitchFamily="34" charset="-122"/>
                          <a:cs typeface="Calibri" pitchFamily="34" charset="-120"/>
                        </a:rPr>
                        <a:t>Custom variables, glassmorphism &amp; responsive layouts</a:t>
                      </a:r>
                      <a:endParaRPr lang="en-US" sz="1050" dirty="0">
                        <a:latin typeface="Calibri" charset="0"/>
                        <a:ea typeface="Calibri" charset="0"/>
                        <a:cs typeface="Calibri" charset="0"/>
                      </a:endParaRPr>
                    </a:p>
                  </a:txBody>
                  <a:tcPr anchor="ctr">
                    <a:lnL w="6350" cap="flat" cmpd="sng" algn="ctr">
                      <a:solidFill>
                        <a:srgbClr val="E5DFF5"/>
                      </a:solidFill>
                      <a:prstDash val="solid"/>
                      <a:round/>
                      <a:headEnd type="none" w="med" len="med"/>
                      <a:tailEnd type="none" w="med" len="med"/>
                    </a:lnL>
                    <a:lnR w="6350" cap="flat" cmpd="sng" algn="ctr">
                      <a:solidFill>
                        <a:srgbClr val="E5DFF5"/>
                      </a:solidFill>
                      <a:prstDash val="solid"/>
                      <a:round/>
                      <a:headEnd type="none" w="med" len="med"/>
                      <a:tailEnd type="none" w="med" len="med"/>
                    </a:lnR>
                    <a:lnT w="6350" cap="flat" cmpd="sng" algn="ctr">
                      <a:solidFill>
                        <a:srgbClr val="E5DFF5"/>
                      </a:solidFill>
                      <a:prstDash val="solid"/>
                      <a:round/>
                      <a:headEnd type="none" w="med" len="med"/>
                      <a:tailEnd type="none" w="med" len="med"/>
                    </a:lnT>
                    <a:lnB w="6350" cap="flat" cmpd="sng" algn="ctr">
                      <a:solidFill>
                        <a:srgbClr val="E5DFF5"/>
                      </a:solidFill>
                      <a:prstDash val="solid"/>
                      <a:round/>
                      <a:headEnd type="none" w="med" len="med"/>
                      <a:tailEnd type="none" w="med" len="med"/>
                    </a:lnB>
                    <a:solidFill>
                      <a:srgbClr val="F6F4FC"/>
                    </a:solidFill>
                  </a:tcPr>
                </a:tc>
                <a:extLst>
                  <a:ext uri="{0D108BD9-81ED-4DB2-BD59-A6C34878D82A}">
                    <a16:rowId xmlns:a16="http://schemas.microsoft.com/office/drawing/2014/main" val="10002"/>
                  </a:ext>
                </a:extLst>
              </a:tr>
              <a:tr h="603504">
                <a:tc>
                  <a:txBody>
                    <a:bodyPr/>
                    <a:lstStyle/>
                    <a:p>
                      <a:pPr marL="0" indent="0">
                        <a:buNone/>
                      </a:pPr>
                      <a:r>
                        <a:rPr lang="en-US" sz="1050" dirty="0">
                          <a:solidFill>
                            <a:srgbClr val="1F1B3A"/>
                          </a:solidFill>
                          <a:latin typeface="Calibri" pitchFamily="34" charset="0"/>
                          <a:ea typeface="Calibri" pitchFamily="34" charset="-122"/>
                          <a:cs typeface="Calibri" pitchFamily="34" charset="-120"/>
                        </a:rPr>
                        <a:t>JavaScript</a:t>
                      </a:r>
                      <a:endParaRPr lang="en-US" sz="1050" dirty="0">
                        <a:latin typeface="Calibri" charset="0"/>
                        <a:ea typeface="Calibri" charset="0"/>
                        <a:cs typeface="Calibri" charset="0"/>
                      </a:endParaRPr>
                    </a:p>
                  </a:txBody>
                  <a:tcPr anchor="ctr">
                    <a:lnL w="6350" cap="flat" cmpd="sng" algn="ctr">
                      <a:solidFill>
                        <a:srgbClr val="E5DFF5"/>
                      </a:solidFill>
                      <a:prstDash val="solid"/>
                      <a:round/>
                      <a:headEnd type="none" w="med" len="med"/>
                      <a:tailEnd type="none" w="med" len="med"/>
                    </a:lnL>
                    <a:lnR w="6350" cap="flat" cmpd="sng" algn="ctr">
                      <a:solidFill>
                        <a:srgbClr val="E5DFF5"/>
                      </a:solidFill>
                      <a:prstDash val="solid"/>
                      <a:round/>
                      <a:headEnd type="none" w="med" len="med"/>
                      <a:tailEnd type="none" w="med" len="med"/>
                    </a:lnR>
                    <a:lnT w="6350" cap="flat" cmpd="sng" algn="ctr">
                      <a:solidFill>
                        <a:srgbClr val="E5DFF5"/>
                      </a:solidFill>
                      <a:prstDash val="solid"/>
                      <a:round/>
                      <a:headEnd type="none" w="med" len="med"/>
                      <a:tailEnd type="none" w="med" len="med"/>
                    </a:lnT>
                    <a:lnB w="6350" cap="flat" cmpd="sng" algn="ctr">
                      <a:solidFill>
                        <a:srgbClr val="E5DFF5"/>
                      </a:solidFill>
                      <a:prstDash val="solid"/>
                      <a:round/>
                      <a:headEnd type="none" w="med" len="med"/>
                      <a:tailEnd type="none" w="med" len="med"/>
                    </a:lnB>
                    <a:solidFill>
                      <a:srgbClr val="FFFFFF"/>
                    </a:solidFill>
                  </a:tcPr>
                </a:tc>
                <a:tc>
                  <a:txBody>
                    <a:bodyPr/>
                    <a:lstStyle/>
                    <a:p>
                      <a:pPr marL="0" indent="0">
                        <a:buNone/>
                      </a:pPr>
                      <a:r>
                        <a:rPr lang="en-US" sz="1050" dirty="0">
                          <a:solidFill>
                            <a:srgbClr val="6B6480"/>
                          </a:solidFill>
                          <a:latin typeface="Calibri" pitchFamily="34" charset="0"/>
                          <a:ea typeface="Calibri" pitchFamily="34" charset="-122"/>
                          <a:cs typeface="Calibri" pitchFamily="34" charset="-120"/>
                        </a:rPr>
                        <a:t>Vanilla JS keeps the frontend framework-free and lightweight</a:t>
                      </a:r>
                      <a:endParaRPr lang="en-US" sz="1050" dirty="0">
                        <a:latin typeface="Calibri" charset="0"/>
                        <a:ea typeface="Calibri" charset="0"/>
                        <a:cs typeface="Calibri" charset="0"/>
                      </a:endParaRPr>
                    </a:p>
                  </a:txBody>
                  <a:tcPr anchor="ctr">
                    <a:lnL w="6350" cap="flat" cmpd="sng" algn="ctr">
                      <a:solidFill>
                        <a:srgbClr val="E5DFF5"/>
                      </a:solidFill>
                      <a:prstDash val="solid"/>
                      <a:round/>
                      <a:headEnd type="none" w="med" len="med"/>
                      <a:tailEnd type="none" w="med" len="med"/>
                    </a:lnL>
                    <a:lnR w="6350" cap="flat" cmpd="sng" algn="ctr">
                      <a:solidFill>
                        <a:srgbClr val="E5DFF5"/>
                      </a:solidFill>
                      <a:prstDash val="solid"/>
                      <a:round/>
                      <a:headEnd type="none" w="med" len="med"/>
                      <a:tailEnd type="none" w="med" len="med"/>
                    </a:lnR>
                    <a:lnT w="6350" cap="flat" cmpd="sng" algn="ctr">
                      <a:solidFill>
                        <a:srgbClr val="E5DFF5"/>
                      </a:solidFill>
                      <a:prstDash val="solid"/>
                      <a:round/>
                      <a:headEnd type="none" w="med" len="med"/>
                      <a:tailEnd type="none" w="med" len="med"/>
                    </a:lnT>
                    <a:lnB w="6350" cap="flat" cmpd="sng" algn="ctr">
                      <a:solidFill>
                        <a:srgbClr val="E5DFF5"/>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03504">
                <a:tc>
                  <a:txBody>
                    <a:bodyPr/>
                    <a:lstStyle/>
                    <a:p>
                      <a:pPr marL="0" indent="0">
                        <a:buNone/>
                      </a:pPr>
                      <a:r>
                        <a:rPr lang="en-US" sz="1050" dirty="0">
                          <a:solidFill>
                            <a:srgbClr val="1F1B3A"/>
                          </a:solidFill>
                          <a:latin typeface="Calibri" pitchFamily="34" charset="0"/>
                          <a:ea typeface="Calibri" pitchFamily="34" charset="-122"/>
                          <a:cs typeface="Calibri" pitchFamily="34" charset="-120"/>
                        </a:rPr>
                        <a:t>Node.js</a:t>
                      </a:r>
                      <a:endParaRPr lang="en-US" sz="1050" dirty="0">
                        <a:latin typeface="Calibri" charset="0"/>
                        <a:ea typeface="Calibri" charset="0"/>
                        <a:cs typeface="Calibri" charset="0"/>
                      </a:endParaRPr>
                    </a:p>
                  </a:txBody>
                  <a:tcPr anchor="ctr">
                    <a:lnL w="6350" cap="flat" cmpd="sng" algn="ctr">
                      <a:solidFill>
                        <a:srgbClr val="E5DFF5"/>
                      </a:solidFill>
                      <a:prstDash val="solid"/>
                      <a:round/>
                      <a:headEnd type="none" w="med" len="med"/>
                      <a:tailEnd type="none" w="med" len="med"/>
                    </a:lnL>
                    <a:lnR w="6350" cap="flat" cmpd="sng" algn="ctr">
                      <a:solidFill>
                        <a:srgbClr val="E5DFF5"/>
                      </a:solidFill>
                      <a:prstDash val="solid"/>
                      <a:round/>
                      <a:headEnd type="none" w="med" len="med"/>
                      <a:tailEnd type="none" w="med" len="med"/>
                    </a:lnR>
                    <a:lnT w="6350" cap="flat" cmpd="sng" algn="ctr">
                      <a:solidFill>
                        <a:srgbClr val="E5DFF5"/>
                      </a:solidFill>
                      <a:prstDash val="solid"/>
                      <a:round/>
                      <a:headEnd type="none" w="med" len="med"/>
                      <a:tailEnd type="none" w="med" len="med"/>
                    </a:lnT>
                    <a:lnB w="6350" cap="flat" cmpd="sng" algn="ctr">
                      <a:solidFill>
                        <a:srgbClr val="E5DFF5"/>
                      </a:solidFill>
                      <a:prstDash val="solid"/>
                      <a:round/>
                      <a:headEnd type="none" w="med" len="med"/>
                      <a:tailEnd type="none" w="med" len="med"/>
                    </a:lnB>
                    <a:solidFill>
                      <a:srgbClr val="F6F4FC"/>
                    </a:solidFill>
                  </a:tcPr>
                </a:tc>
                <a:tc>
                  <a:txBody>
                    <a:bodyPr/>
                    <a:lstStyle/>
                    <a:p>
                      <a:pPr marL="0" indent="0">
                        <a:buNone/>
                      </a:pPr>
                      <a:r>
                        <a:rPr lang="en-US" sz="1050" dirty="0">
                          <a:solidFill>
                            <a:srgbClr val="6B6480"/>
                          </a:solidFill>
                          <a:latin typeface="Calibri" pitchFamily="34" charset="0"/>
                          <a:ea typeface="Calibri" pitchFamily="34" charset="-122"/>
                          <a:cs typeface="Calibri" pitchFamily="34" charset="-120"/>
                        </a:rPr>
                        <a:t>Fast, non-blocking runtime for all backend services</a:t>
                      </a:r>
                      <a:endParaRPr lang="en-US" sz="1050" dirty="0">
                        <a:latin typeface="Calibri" charset="0"/>
                        <a:ea typeface="Calibri" charset="0"/>
                        <a:cs typeface="Calibri" charset="0"/>
                      </a:endParaRPr>
                    </a:p>
                  </a:txBody>
                  <a:tcPr anchor="ctr">
                    <a:lnL w="6350" cap="flat" cmpd="sng" algn="ctr">
                      <a:solidFill>
                        <a:srgbClr val="E5DFF5"/>
                      </a:solidFill>
                      <a:prstDash val="solid"/>
                      <a:round/>
                      <a:headEnd type="none" w="med" len="med"/>
                      <a:tailEnd type="none" w="med" len="med"/>
                    </a:lnL>
                    <a:lnR w="6350" cap="flat" cmpd="sng" algn="ctr">
                      <a:solidFill>
                        <a:srgbClr val="E5DFF5"/>
                      </a:solidFill>
                      <a:prstDash val="solid"/>
                      <a:round/>
                      <a:headEnd type="none" w="med" len="med"/>
                      <a:tailEnd type="none" w="med" len="med"/>
                    </a:lnR>
                    <a:lnT w="6350" cap="flat" cmpd="sng" algn="ctr">
                      <a:solidFill>
                        <a:srgbClr val="E5DFF5"/>
                      </a:solidFill>
                      <a:prstDash val="solid"/>
                      <a:round/>
                      <a:headEnd type="none" w="med" len="med"/>
                      <a:tailEnd type="none" w="med" len="med"/>
                    </a:lnT>
                    <a:lnB w="6350" cap="flat" cmpd="sng" algn="ctr">
                      <a:solidFill>
                        <a:srgbClr val="E5DFF5"/>
                      </a:solidFill>
                      <a:prstDash val="solid"/>
                      <a:round/>
                      <a:headEnd type="none" w="med" len="med"/>
                      <a:tailEnd type="none" w="med" len="med"/>
                    </a:lnB>
                    <a:solidFill>
                      <a:srgbClr val="F6F4FC"/>
                    </a:solidFill>
                  </a:tcPr>
                </a:tc>
                <a:extLst>
                  <a:ext uri="{0D108BD9-81ED-4DB2-BD59-A6C34878D82A}">
                    <a16:rowId xmlns:a16="http://schemas.microsoft.com/office/drawing/2014/main" val="10004"/>
                  </a:ext>
                </a:extLst>
              </a:tr>
              <a:tr h="603504">
                <a:tc>
                  <a:txBody>
                    <a:bodyPr/>
                    <a:lstStyle/>
                    <a:p>
                      <a:pPr marL="0" indent="0">
                        <a:buNone/>
                      </a:pPr>
                      <a:r>
                        <a:rPr lang="en-US" sz="1050" dirty="0">
                          <a:solidFill>
                            <a:srgbClr val="1F1B3A"/>
                          </a:solidFill>
                          <a:latin typeface="Calibri" pitchFamily="34" charset="0"/>
                          <a:ea typeface="Calibri" pitchFamily="34" charset="-122"/>
                          <a:cs typeface="Calibri" pitchFamily="34" charset="-120"/>
                        </a:rPr>
                        <a:t>Express.js</a:t>
                      </a:r>
                      <a:endParaRPr lang="en-US" sz="1050" dirty="0">
                        <a:latin typeface="Calibri" charset="0"/>
                        <a:ea typeface="Calibri" charset="0"/>
                        <a:cs typeface="Calibri" charset="0"/>
                      </a:endParaRPr>
                    </a:p>
                  </a:txBody>
                  <a:tcPr anchor="ctr">
                    <a:lnL w="6350" cap="flat" cmpd="sng" algn="ctr">
                      <a:solidFill>
                        <a:srgbClr val="E5DFF5"/>
                      </a:solidFill>
                      <a:prstDash val="solid"/>
                      <a:round/>
                      <a:headEnd type="none" w="med" len="med"/>
                      <a:tailEnd type="none" w="med" len="med"/>
                    </a:lnL>
                    <a:lnR w="6350" cap="flat" cmpd="sng" algn="ctr">
                      <a:solidFill>
                        <a:srgbClr val="E5DFF5"/>
                      </a:solidFill>
                      <a:prstDash val="solid"/>
                      <a:round/>
                      <a:headEnd type="none" w="med" len="med"/>
                      <a:tailEnd type="none" w="med" len="med"/>
                    </a:lnR>
                    <a:lnT w="6350" cap="flat" cmpd="sng" algn="ctr">
                      <a:solidFill>
                        <a:srgbClr val="E5DFF5"/>
                      </a:solidFill>
                      <a:prstDash val="solid"/>
                      <a:round/>
                      <a:headEnd type="none" w="med" len="med"/>
                      <a:tailEnd type="none" w="med" len="med"/>
                    </a:lnT>
                    <a:lnB w="6350" cap="flat" cmpd="sng" algn="ctr">
                      <a:solidFill>
                        <a:srgbClr val="E5DFF5"/>
                      </a:solidFill>
                      <a:prstDash val="solid"/>
                      <a:round/>
                      <a:headEnd type="none" w="med" len="med"/>
                      <a:tailEnd type="none" w="med" len="med"/>
                    </a:lnB>
                    <a:solidFill>
                      <a:srgbClr val="FFFFFF"/>
                    </a:solidFill>
                  </a:tcPr>
                </a:tc>
                <a:tc>
                  <a:txBody>
                    <a:bodyPr/>
                    <a:lstStyle/>
                    <a:p>
                      <a:pPr marL="0" indent="0">
                        <a:buNone/>
                      </a:pPr>
                      <a:r>
                        <a:rPr lang="en-US" sz="1050" dirty="0">
                          <a:solidFill>
                            <a:srgbClr val="6B6480"/>
                          </a:solidFill>
                          <a:latin typeface="Calibri" pitchFamily="34" charset="0"/>
                          <a:ea typeface="Calibri" pitchFamily="34" charset="-122"/>
                          <a:cs typeface="Calibri" pitchFamily="34" charset="-120"/>
                        </a:rPr>
                        <a:t>Minimal, battle-tested framework for REST APIs</a:t>
                      </a:r>
                      <a:endParaRPr lang="en-US" sz="1050" dirty="0">
                        <a:latin typeface="Calibri" charset="0"/>
                        <a:ea typeface="Calibri" charset="0"/>
                        <a:cs typeface="Calibri" charset="0"/>
                      </a:endParaRPr>
                    </a:p>
                  </a:txBody>
                  <a:tcPr anchor="ctr">
                    <a:lnL w="6350" cap="flat" cmpd="sng" algn="ctr">
                      <a:solidFill>
                        <a:srgbClr val="E5DFF5"/>
                      </a:solidFill>
                      <a:prstDash val="solid"/>
                      <a:round/>
                      <a:headEnd type="none" w="med" len="med"/>
                      <a:tailEnd type="none" w="med" len="med"/>
                    </a:lnL>
                    <a:lnR w="6350" cap="flat" cmpd="sng" algn="ctr">
                      <a:solidFill>
                        <a:srgbClr val="E5DFF5"/>
                      </a:solidFill>
                      <a:prstDash val="solid"/>
                      <a:round/>
                      <a:headEnd type="none" w="med" len="med"/>
                      <a:tailEnd type="none" w="med" len="med"/>
                    </a:lnR>
                    <a:lnT w="6350" cap="flat" cmpd="sng" algn="ctr">
                      <a:solidFill>
                        <a:srgbClr val="E5DFF5"/>
                      </a:solidFill>
                      <a:prstDash val="solid"/>
                      <a:round/>
                      <a:headEnd type="none" w="med" len="med"/>
                      <a:tailEnd type="none" w="med" len="med"/>
                    </a:lnT>
                    <a:lnB w="6350" cap="flat" cmpd="sng" algn="ctr">
                      <a:solidFill>
                        <a:srgbClr val="E5DFF5"/>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603504">
                <a:tc>
                  <a:txBody>
                    <a:bodyPr/>
                    <a:lstStyle/>
                    <a:p>
                      <a:pPr marL="0" indent="0">
                        <a:buNone/>
                      </a:pPr>
                      <a:r>
                        <a:rPr lang="en-US" sz="1050" dirty="0">
                          <a:solidFill>
                            <a:srgbClr val="1F1B3A"/>
                          </a:solidFill>
                          <a:latin typeface="Calibri" pitchFamily="34" charset="0"/>
                          <a:ea typeface="Calibri" pitchFamily="34" charset="-122"/>
                          <a:cs typeface="Calibri" pitchFamily="34" charset="-120"/>
                        </a:rPr>
                        <a:t>REST API</a:t>
                      </a:r>
                      <a:endParaRPr lang="en-US" sz="1050" dirty="0">
                        <a:latin typeface="Calibri" charset="0"/>
                        <a:ea typeface="Calibri" charset="0"/>
                        <a:cs typeface="Calibri" charset="0"/>
                      </a:endParaRPr>
                    </a:p>
                  </a:txBody>
                  <a:tcPr anchor="ctr">
                    <a:lnL w="6350" cap="flat" cmpd="sng" algn="ctr">
                      <a:solidFill>
                        <a:srgbClr val="E5DFF5"/>
                      </a:solidFill>
                      <a:prstDash val="solid"/>
                      <a:round/>
                      <a:headEnd type="none" w="med" len="med"/>
                      <a:tailEnd type="none" w="med" len="med"/>
                    </a:lnL>
                    <a:lnR w="6350" cap="flat" cmpd="sng" algn="ctr">
                      <a:solidFill>
                        <a:srgbClr val="E5DFF5"/>
                      </a:solidFill>
                      <a:prstDash val="solid"/>
                      <a:round/>
                      <a:headEnd type="none" w="med" len="med"/>
                      <a:tailEnd type="none" w="med" len="med"/>
                    </a:lnR>
                    <a:lnT w="6350" cap="flat" cmpd="sng" algn="ctr">
                      <a:solidFill>
                        <a:srgbClr val="E5DFF5"/>
                      </a:solidFill>
                      <a:prstDash val="solid"/>
                      <a:round/>
                      <a:headEnd type="none" w="med" len="med"/>
                      <a:tailEnd type="none" w="med" len="med"/>
                    </a:lnT>
                    <a:lnB w="6350" cap="flat" cmpd="sng" algn="ctr">
                      <a:solidFill>
                        <a:srgbClr val="E5DFF5"/>
                      </a:solidFill>
                      <a:prstDash val="solid"/>
                      <a:round/>
                      <a:headEnd type="none" w="med" len="med"/>
                      <a:tailEnd type="none" w="med" len="med"/>
                    </a:lnB>
                    <a:solidFill>
                      <a:srgbClr val="F6F4FC"/>
                    </a:solidFill>
                  </a:tcPr>
                </a:tc>
                <a:tc>
                  <a:txBody>
                    <a:bodyPr/>
                    <a:lstStyle/>
                    <a:p>
                      <a:pPr marL="0" indent="0">
                        <a:buNone/>
                      </a:pPr>
                      <a:r>
                        <a:rPr lang="en-US" sz="1050" dirty="0">
                          <a:solidFill>
                            <a:srgbClr val="6B6480"/>
                          </a:solidFill>
                          <a:latin typeface="Calibri" pitchFamily="34" charset="0"/>
                          <a:ea typeface="Calibri" pitchFamily="34" charset="-122"/>
                          <a:cs typeface="Calibri" pitchFamily="34" charset="-120"/>
                        </a:rPr>
                        <a:t>Simple, predictable contract between services</a:t>
                      </a:r>
                      <a:endParaRPr lang="en-US" sz="1050" dirty="0">
                        <a:latin typeface="Calibri" charset="0"/>
                        <a:ea typeface="Calibri" charset="0"/>
                        <a:cs typeface="Calibri" charset="0"/>
                      </a:endParaRPr>
                    </a:p>
                  </a:txBody>
                  <a:tcPr anchor="ctr">
                    <a:lnL w="6350" cap="flat" cmpd="sng" algn="ctr">
                      <a:solidFill>
                        <a:srgbClr val="E5DFF5"/>
                      </a:solidFill>
                      <a:prstDash val="solid"/>
                      <a:round/>
                      <a:headEnd type="none" w="med" len="med"/>
                      <a:tailEnd type="none" w="med" len="med"/>
                    </a:lnL>
                    <a:lnR w="6350" cap="flat" cmpd="sng" algn="ctr">
                      <a:solidFill>
                        <a:srgbClr val="E5DFF5"/>
                      </a:solidFill>
                      <a:prstDash val="solid"/>
                      <a:round/>
                      <a:headEnd type="none" w="med" len="med"/>
                      <a:tailEnd type="none" w="med" len="med"/>
                    </a:lnR>
                    <a:lnT w="6350" cap="flat" cmpd="sng" algn="ctr">
                      <a:solidFill>
                        <a:srgbClr val="E5DFF5"/>
                      </a:solidFill>
                      <a:prstDash val="solid"/>
                      <a:round/>
                      <a:headEnd type="none" w="med" len="med"/>
                      <a:tailEnd type="none" w="med" len="med"/>
                    </a:lnT>
                    <a:lnB w="6350" cap="flat" cmpd="sng" algn="ctr">
                      <a:solidFill>
                        <a:srgbClr val="E5DFF5"/>
                      </a:solidFill>
                      <a:prstDash val="solid"/>
                      <a:round/>
                      <a:headEnd type="none" w="med" len="med"/>
                      <a:tailEnd type="none" w="med" len="med"/>
                    </a:lnB>
                    <a:solidFill>
                      <a:srgbClr val="F6F4FC"/>
                    </a:solidFill>
                  </a:tcPr>
                </a:tc>
                <a:extLst>
                  <a:ext uri="{0D108BD9-81ED-4DB2-BD59-A6C34878D82A}">
                    <a16:rowId xmlns:a16="http://schemas.microsoft.com/office/drawing/2014/main" val="10006"/>
                  </a:ext>
                </a:extLst>
              </a:tr>
              <a:tr h="603504">
                <a:tc>
                  <a:txBody>
                    <a:bodyPr/>
                    <a:lstStyle/>
                    <a:p>
                      <a:pPr marL="0" indent="0">
                        <a:buNone/>
                      </a:pPr>
                      <a:r>
                        <a:rPr lang="en-US" sz="1050" dirty="0">
                          <a:solidFill>
                            <a:srgbClr val="1F1B3A"/>
                          </a:solidFill>
                          <a:latin typeface="Calibri" pitchFamily="34" charset="0"/>
                          <a:ea typeface="Calibri" pitchFamily="34" charset="-122"/>
                          <a:cs typeface="Calibri" pitchFamily="34" charset="-120"/>
                        </a:rPr>
                        <a:t>News API</a:t>
                      </a:r>
                      <a:endParaRPr lang="en-US" sz="1050" dirty="0">
                        <a:latin typeface="Calibri" charset="0"/>
                        <a:ea typeface="Calibri" charset="0"/>
                        <a:cs typeface="Calibri" charset="0"/>
                      </a:endParaRPr>
                    </a:p>
                  </a:txBody>
                  <a:tcPr anchor="ctr">
                    <a:lnL w="6350" cap="flat" cmpd="sng" algn="ctr">
                      <a:solidFill>
                        <a:srgbClr val="E5DFF5"/>
                      </a:solidFill>
                      <a:prstDash val="solid"/>
                      <a:round/>
                      <a:headEnd type="none" w="med" len="med"/>
                      <a:tailEnd type="none" w="med" len="med"/>
                    </a:lnL>
                    <a:lnR w="6350" cap="flat" cmpd="sng" algn="ctr">
                      <a:solidFill>
                        <a:srgbClr val="E5DFF5"/>
                      </a:solidFill>
                      <a:prstDash val="solid"/>
                      <a:round/>
                      <a:headEnd type="none" w="med" len="med"/>
                      <a:tailEnd type="none" w="med" len="med"/>
                    </a:lnR>
                    <a:lnT w="6350" cap="flat" cmpd="sng" algn="ctr">
                      <a:solidFill>
                        <a:srgbClr val="E5DFF5"/>
                      </a:solidFill>
                      <a:prstDash val="solid"/>
                      <a:round/>
                      <a:headEnd type="none" w="med" len="med"/>
                      <a:tailEnd type="none" w="med" len="med"/>
                    </a:lnT>
                    <a:lnB w="6350" cap="flat" cmpd="sng" algn="ctr">
                      <a:solidFill>
                        <a:srgbClr val="E5DFF5"/>
                      </a:solidFill>
                      <a:prstDash val="solid"/>
                      <a:round/>
                      <a:headEnd type="none" w="med" len="med"/>
                      <a:tailEnd type="none" w="med" len="med"/>
                    </a:lnB>
                    <a:solidFill>
                      <a:srgbClr val="FFFFFF"/>
                    </a:solidFill>
                  </a:tcPr>
                </a:tc>
                <a:tc>
                  <a:txBody>
                    <a:bodyPr/>
                    <a:lstStyle/>
                    <a:p>
                      <a:pPr marL="0" indent="0">
                        <a:buNone/>
                      </a:pPr>
                      <a:r>
                        <a:rPr lang="en-US" sz="1050" dirty="0">
                          <a:solidFill>
                            <a:srgbClr val="6B6480"/>
                          </a:solidFill>
                          <a:latin typeface="Calibri" pitchFamily="34" charset="0"/>
                          <a:ea typeface="Calibri" pitchFamily="34" charset="-122"/>
                          <a:cs typeface="Calibri" pitchFamily="34" charset="-120"/>
                        </a:rPr>
                        <a:t>Single trusted external source for live articles</a:t>
                      </a:r>
                      <a:endParaRPr lang="en-US" sz="1050" dirty="0">
                        <a:latin typeface="Calibri" charset="0"/>
                        <a:ea typeface="Calibri" charset="0"/>
                        <a:cs typeface="Calibri" charset="0"/>
                      </a:endParaRPr>
                    </a:p>
                  </a:txBody>
                  <a:tcPr anchor="ctr">
                    <a:lnL w="6350" cap="flat" cmpd="sng" algn="ctr">
                      <a:solidFill>
                        <a:srgbClr val="E5DFF5"/>
                      </a:solidFill>
                      <a:prstDash val="solid"/>
                      <a:round/>
                      <a:headEnd type="none" w="med" len="med"/>
                      <a:tailEnd type="none" w="med" len="med"/>
                    </a:lnL>
                    <a:lnR w="6350" cap="flat" cmpd="sng" algn="ctr">
                      <a:solidFill>
                        <a:srgbClr val="E5DFF5"/>
                      </a:solidFill>
                      <a:prstDash val="solid"/>
                      <a:round/>
                      <a:headEnd type="none" w="med" len="med"/>
                      <a:tailEnd type="none" w="med" len="med"/>
                    </a:lnR>
                    <a:lnT w="6350" cap="flat" cmpd="sng" algn="ctr">
                      <a:solidFill>
                        <a:srgbClr val="E5DFF5"/>
                      </a:solidFill>
                      <a:prstDash val="solid"/>
                      <a:round/>
                      <a:headEnd type="none" w="med" len="med"/>
                      <a:tailEnd type="none" w="med" len="med"/>
                    </a:lnT>
                    <a:lnB w="6350" cap="flat" cmpd="sng" algn="ctr">
                      <a:solidFill>
                        <a:srgbClr val="E5DFF5"/>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graphicFrame>
        <p:nvGraphicFramePr>
          <p:cNvPr id="21" name="Table 1"/>
          <p:cNvGraphicFramePr>
            <a:graphicFrameLocks noGrp="1"/>
          </p:cNvGraphicFramePr>
          <p:nvPr>
            <p:extLst>
              <p:ext uri="{D42A27DB-BD31-4B8C-83A1-F6EECF244321}">
                <p14:modId xmlns:p14="http://schemas.microsoft.com/office/powerpoint/2010/main" val="1579011935"/>
              </p:ext>
            </p:extLst>
          </p:nvPr>
        </p:nvGraphicFramePr>
        <p:xfrm>
          <a:off x="6172200" y="1554480"/>
          <a:ext cx="5486400" cy="3986784"/>
        </p:xfrm>
        <a:graphic>
          <a:graphicData uri="http://schemas.openxmlformats.org/drawingml/2006/table">
            <a:tbl>
              <a:tblPr/>
              <a:tblGrid>
                <a:gridCol w="155448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tblGrid>
              <a:tr h="36576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Technology</a:t>
                      </a:r>
                      <a:endParaRPr lang="en-US" sz="1200" dirty="0">
                        <a:latin typeface="Calibri" charset="0"/>
                        <a:ea typeface="Calibri" charset="0"/>
                        <a:cs typeface="Calibri" charset="0"/>
                      </a:endParaRPr>
                    </a:p>
                  </a:txBody>
                  <a:tcPr anchor="ctr">
                    <a:lnL w="6350" cap="flat" cmpd="sng" algn="ctr">
                      <a:solidFill>
                        <a:srgbClr val="E5DFF5"/>
                      </a:solidFill>
                      <a:prstDash val="solid"/>
                      <a:round/>
                      <a:headEnd type="none" w="med" len="med"/>
                      <a:tailEnd type="none" w="med" len="med"/>
                    </a:lnL>
                    <a:lnR w="6350" cap="flat" cmpd="sng" algn="ctr">
                      <a:solidFill>
                        <a:srgbClr val="E5DFF5"/>
                      </a:solidFill>
                      <a:prstDash val="solid"/>
                      <a:round/>
                      <a:headEnd type="none" w="med" len="med"/>
                      <a:tailEnd type="none" w="med" len="med"/>
                    </a:lnR>
                    <a:lnT w="6350" cap="flat" cmpd="sng" algn="ctr">
                      <a:solidFill>
                        <a:srgbClr val="E5DFF5"/>
                      </a:solidFill>
                      <a:prstDash val="solid"/>
                      <a:round/>
                      <a:headEnd type="none" w="med" len="med"/>
                      <a:tailEnd type="none" w="med" len="med"/>
                    </a:lnT>
                    <a:lnB w="6350" cap="flat" cmpd="sng" algn="ctr">
                      <a:solidFill>
                        <a:srgbClr val="E5DFF5"/>
                      </a:solidFill>
                      <a:prstDash val="solid"/>
                      <a:round/>
                      <a:headEnd type="none" w="med" len="med"/>
                      <a:tailEnd type="none" w="med" len="med"/>
                    </a:lnB>
                    <a:solidFill>
                      <a:srgbClr val="2A1B5D"/>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Why Chosen</a:t>
                      </a:r>
                      <a:endParaRPr lang="en-US" sz="1200" dirty="0">
                        <a:latin typeface="Calibri" charset="0"/>
                        <a:ea typeface="Calibri" charset="0"/>
                        <a:cs typeface="Calibri" charset="0"/>
                      </a:endParaRPr>
                    </a:p>
                  </a:txBody>
                  <a:tcPr anchor="ctr">
                    <a:lnL w="6350" cap="flat" cmpd="sng" algn="ctr">
                      <a:solidFill>
                        <a:srgbClr val="E5DFF5"/>
                      </a:solidFill>
                      <a:prstDash val="solid"/>
                      <a:round/>
                      <a:headEnd type="none" w="med" len="med"/>
                      <a:tailEnd type="none" w="med" len="med"/>
                    </a:lnL>
                    <a:lnR w="6350" cap="flat" cmpd="sng" algn="ctr">
                      <a:solidFill>
                        <a:srgbClr val="E5DFF5"/>
                      </a:solidFill>
                      <a:prstDash val="solid"/>
                      <a:round/>
                      <a:headEnd type="none" w="med" len="med"/>
                      <a:tailEnd type="none" w="med" len="med"/>
                    </a:lnR>
                    <a:lnT w="6350" cap="flat" cmpd="sng" algn="ctr">
                      <a:solidFill>
                        <a:srgbClr val="E5DFF5"/>
                      </a:solidFill>
                      <a:prstDash val="solid"/>
                      <a:round/>
                      <a:headEnd type="none" w="med" len="med"/>
                      <a:tailEnd type="none" w="med" len="med"/>
                    </a:lnT>
                    <a:lnB w="6350" cap="flat" cmpd="sng" algn="ctr">
                      <a:solidFill>
                        <a:srgbClr val="E5DFF5"/>
                      </a:solidFill>
                      <a:prstDash val="solid"/>
                      <a:round/>
                      <a:headEnd type="none" w="med" len="med"/>
                      <a:tailEnd type="none" w="med" len="med"/>
                    </a:lnB>
                    <a:solidFill>
                      <a:srgbClr val="2A1B5D"/>
                    </a:solidFill>
                  </a:tcPr>
                </a:tc>
                <a:extLst>
                  <a:ext uri="{0D108BD9-81ED-4DB2-BD59-A6C34878D82A}">
                    <a16:rowId xmlns:a16="http://schemas.microsoft.com/office/drawing/2014/main" val="10000"/>
                  </a:ext>
                </a:extLst>
              </a:tr>
              <a:tr h="603504">
                <a:tc>
                  <a:txBody>
                    <a:bodyPr/>
                    <a:lstStyle/>
                    <a:p>
                      <a:pPr marL="0" indent="0">
                        <a:buNone/>
                      </a:pPr>
                      <a:r>
                        <a:rPr lang="en-US" sz="1050" dirty="0">
                          <a:solidFill>
                            <a:srgbClr val="1F1B3A"/>
                          </a:solidFill>
                          <a:latin typeface="Calibri" pitchFamily="34" charset="0"/>
                          <a:ea typeface="Calibri" pitchFamily="34" charset="-122"/>
                          <a:cs typeface="Calibri" pitchFamily="34" charset="-120"/>
                        </a:rPr>
                        <a:t>Docker</a:t>
                      </a:r>
                      <a:endParaRPr lang="en-US" sz="1050" dirty="0">
                        <a:latin typeface="Calibri" charset="0"/>
                        <a:ea typeface="Calibri" charset="0"/>
                        <a:cs typeface="Calibri" charset="0"/>
                      </a:endParaRPr>
                    </a:p>
                  </a:txBody>
                  <a:tcPr anchor="ctr">
                    <a:lnL w="6350" cap="flat" cmpd="sng" algn="ctr">
                      <a:solidFill>
                        <a:srgbClr val="E5DFF5"/>
                      </a:solidFill>
                      <a:prstDash val="solid"/>
                      <a:round/>
                      <a:headEnd type="none" w="med" len="med"/>
                      <a:tailEnd type="none" w="med" len="med"/>
                    </a:lnL>
                    <a:lnR w="6350" cap="flat" cmpd="sng" algn="ctr">
                      <a:solidFill>
                        <a:srgbClr val="E5DFF5"/>
                      </a:solidFill>
                      <a:prstDash val="solid"/>
                      <a:round/>
                      <a:headEnd type="none" w="med" len="med"/>
                      <a:tailEnd type="none" w="med" len="med"/>
                    </a:lnR>
                    <a:lnT w="6350" cap="flat" cmpd="sng" algn="ctr">
                      <a:solidFill>
                        <a:srgbClr val="E5DFF5"/>
                      </a:solidFill>
                      <a:prstDash val="solid"/>
                      <a:round/>
                      <a:headEnd type="none" w="med" len="med"/>
                      <a:tailEnd type="none" w="med" len="med"/>
                    </a:lnT>
                    <a:lnB w="6350" cap="flat" cmpd="sng" algn="ctr">
                      <a:solidFill>
                        <a:srgbClr val="E5DFF5"/>
                      </a:solidFill>
                      <a:prstDash val="solid"/>
                      <a:round/>
                      <a:headEnd type="none" w="med" len="med"/>
                      <a:tailEnd type="none" w="med" len="med"/>
                    </a:lnB>
                    <a:solidFill>
                      <a:srgbClr val="FFFFFF"/>
                    </a:solidFill>
                  </a:tcPr>
                </a:tc>
                <a:tc>
                  <a:txBody>
                    <a:bodyPr/>
                    <a:lstStyle/>
                    <a:p>
                      <a:pPr marL="0" indent="0">
                        <a:buNone/>
                      </a:pPr>
                      <a:r>
                        <a:rPr lang="en-US" sz="1050" dirty="0">
                          <a:solidFill>
                            <a:srgbClr val="6B6480"/>
                          </a:solidFill>
                          <a:latin typeface="Calibri" pitchFamily="34" charset="0"/>
                          <a:ea typeface="Calibri" pitchFamily="34" charset="-122"/>
                          <a:cs typeface="Calibri" pitchFamily="34" charset="-120"/>
                        </a:rPr>
                        <a:t>Consistent, portable containers for every microservice</a:t>
                      </a:r>
                      <a:endParaRPr lang="en-US" sz="1050" dirty="0">
                        <a:latin typeface="Calibri" charset="0"/>
                        <a:ea typeface="Calibri" charset="0"/>
                        <a:cs typeface="Calibri" charset="0"/>
                      </a:endParaRPr>
                    </a:p>
                  </a:txBody>
                  <a:tcPr anchor="ctr">
                    <a:lnL w="6350" cap="flat" cmpd="sng" algn="ctr">
                      <a:solidFill>
                        <a:srgbClr val="E5DFF5"/>
                      </a:solidFill>
                      <a:prstDash val="solid"/>
                      <a:round/>
                      <a:headEnd type="none" w="med" len="med"/>
                      <a:tailEnd type="none" w="med" len="med"/>
                    </a:lnL>
                    <a:lnR w="6350" cap="flat" cmpd="sng" algn="ctr">
                      <a:solidFill>
                        <a:srgbClr val="E5DFF5"/>
                      </a:solidFill>
                      <a:prstDash val="solid"/>
                      <a:round/>
                      <a:headEnd type="none" w="med" len="med"/>
                      <a:tailEnd type="none" w="med" len="med"/>
                    </a:lnR>
                    <a:lnT w="6350" cap="flat" cmpd="sng" algn="ctr">
                      <a:solidFill>
                        <a:srgbClr val="E5DFF5"/>
                      </a:solidFill>
                      <a:prstDash val="solid"/>
                      <a:round/>
                      <a:headEnd type="none" w="med" len="med"/>
                      <a:tailEnd type="none" w="med" len="med"/>
                    </a:lnT>
                    <a:lnB w="6350" cap="flat" cmpd="sng" algn="ctr">
                      <a:solidFill>
                        <a:srgbClr val="E5DFF5"/>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03504">
                <a:tc>
                  <a:txBody>
                    <a:bodyPr/>
                    <a:lstStyle/>
                    <a:p>
                      <a:pPr marL="0" indent="0">
                        <a:buNone/>
                      </a:pPr>
                      <a:r>
                        <a:rPr lang="en-US" sz="1050" dirty="0">
                          <a:solidFill>
                            <a:srgbClr val="1F1B3A"/>
                          </a:solidFill>
                          <a:latin typeface="Calibri" pitchFamily="34" charset="0"/>
                          <a:ea typeface="Calibri" pitchFamily="34" charset="-122"/>
                          <a:cs typeface="Calibri" pitchFamily="34" charset="-120"/>
                        </a:rPr>
                        <a:t>Docker Compose</a:t>
                      </a:r>
                      <a:endParaRPr lang="en-US" sz="1050" dirty="0">
                        <a:latin typeface="Calibri" charset="0"/>
                        <a:ea typeface="Calibri" charset="0"/>
                        <a:cs typeface="Calibri" charset="0"/>
                      </a:endParaRPr>
                    </a:p>
                  </a:txBody>
                  <a:tcPr anchor="ctr">
                    <a:lnL w="6350" cap="flat" cmpd="sng" algn="ctr">
                      <a:solidFill>
                        <a:srgbClr val="E5DFF5"/>
                      </a:solidFill>
                      <a:prstDash val="solid"/>
                      <a:round/>
                      <a:headEnd type="none" w="med" len="med"/>
                      <a:tailEnd type="none" w="med" len="med"/>
                    </a:lnL>
                    <a:lnR w="6350" cap="flat" cmpd="sng" algn="ctr">
                      <a:solidFill>
                        <a:srgbClr val="E5DFF5"/>
                      </a:solidFill>
                      <a:prstDash val="solid"/>
                      <a:round/>
                      <a:headEnd type="none" w="med" len="med"/>
                      <a:tailEnd type="none" w="med" len="med"/>
                    </a:lnR>
                    <a:lnT w="6350" cap="flat" cmpd="sng" algn="ctr">
                      <a:solidFill>
                        <a:srgbClr val="E5DFF5"/>
                      </a:solidFill>
                      <a:prstDash val="solid"/>
                      <a:round/>
                      <a:headEnd type="none" w="med" len="med"/>
                      <a:tailEnd type="none" w="med" len="med"/>
                    </a:lnT>
                    <a:lnB w="6350" cap="flat" cmpd="sng" algn="ctr">
                      <a:solidFill>
                        <a:srgbClr val="E5DFF5"/>
                      </a:solidFill>
                      <a:prstDash val="solid"/>
                      <a:round/>
                      <a:headEnd type="none" w="med" len="med"/>
                      <a:tailEnd type="none" w="med" len="med"/>
                    </a:lnB>
                    <a:solidFill>
                      <a:srgbClr val="F6F4FC"/>
                    </a:solidFill>
                  </a:tcPr>
                </a:tc>
                <a:tc>
                  <a:txBody>
                    <a:bodyPr/>
                    <a:lstStyle/>
                    <a:p>
                      <a:pPr marL="0" indent="0">
                        <a:buNone/>
                      </a:pPr>
                      <a:r>
                        <a:rPr lang="en-US" sz="1050" dirty="0">
                          <a:solidFill>
                            <a:srgbClr val="6B6480"/>
                          </a:solidFill>
                          <a:latin typeface="Calibri" pitchFamily="34" charset="0"/>
                          <a:ea typeface="Calibri" pitchFamily="34" charset="-122"/>
                          <a:cs typeface="Calibri" pitchFamily="34" charset="-120"/>
                        </a:rPr>
                        <a:t>Orchestrates all 4 services locally with one command</a:t>
                      </a:r>
                      <a:endParaRPr lang="en-US" sz="1050" dirty="0">
                        <a:latin typeface="Calibri" charset="0"/>
                        <a:ea typeface="Calibri" charset="0"/>
                        <a:cs typeface="Calibri" charset="0"/>
                      </a:endParaRPr>
                    </a:p>
                  </a:txBody>
                  <a:tcPr anchor="ctr">
                    <a:lnL w="6350" cap="flat" cmpd="sng" algn="ctr">
                      <a:solidFill>
                        <a:srgbClr val="E5DFF5"/>
                      </a:solidFill>
                      <a:prstDash val="solid"/>
                      <a:round/>
                      <a:headEnd type="none" w="med" len="med"/>
                      <a:tailEnd type="none" w="med" len="med"/>
                    </a:lnL>
                    <a:lnR w="6350" cap="flat" cmpd="sng" algn="ctr">
                      <a:solidFill>
                        <a:srgbClr val="E5DFF5"/>
                      </a:solidFill>
                      <a:prstDash val="solid"/>
                      <a:round/>
                      <a:headEnd type="none" w="med" len="med"/>
                      <a:tailEnd type="none" w="med" len="med"/>
                    </a:lnR>
                    <a:lnT w="6350" cap="flat" cmpd="sng" algn="ctr">
                      <a:solidFill>
                        <a:srgbClr val="E5DFF5"/>
                      </a:solidFill>
                      <a:prstDash val="solid"/>
                      <a:round/>
                      <a:headEnd type="none" w="med" len="med"/>
                      <a:tailEnd type="none" w="med" len="med"/>
                    </a:lnT>
                    <a:lnB w="6350" cap="flat" cmpd="sng" algn="ctr">
                      <a:solidFill>
                        <a:srgbClr val="E5DFF5"/>
                      </a:solidFill>
                      <a:prstDash val="solid"/>
                      <a:round/>
                      <a:headEnd type="none" w="med" len="med"/>
                      <a:tailEnd type="none" w="med" len="med"/>
                    </a:lnB>
                    <a:solidFill>
                      <a:srgbClr val="F6F4FC"/>
                    </a:solidFill>
                  </a:tcPr>
                </a:tc>
                <a:extLst>
                  <a:ext uri="{0D108BD9-81ED-4DB2-BD59-A6C34878D82A}">
                    <a16:rowId xmlns:a16="http://schemas.microsoft.com/office/drawing/2014/main" val="10002"/>
                  </a:ext>
                </a:extLst>
              </a:tr>
              <a:tr h="603504">
                <a:tc>
                  <a:txBody>
                    <a:bodyPr/>
                    <a:lstStyle/>
                    <a:p>
                      <a:pPr marL="0" indent="0">
                        <a:buNone/>
                      </a:pPr>
                      <a:r>
                        <a:rPr lang="en-US" sz="1050" dirty="0">
                          <a:solidFill>
                            <a:srgbClr val="1F1B3A"/>
                          </a:solidFill>
                          <a:latin typeface="Calibri" pitchFamily="34" charset="0"/>
                          <a:ea typeface="Calibri" pitchFamily="34" charset="-122"/>
                          <a:cs typeface="Calibri" pitchFamily="34" charset="-120"/>
                        </a:rPr>
                        <a:t>Kubernetes</a:t>
                      </a:r>
                      <a:endParaRPr lang="en-US" sz="1050" dirty="0">
                        <a:latin typeface="Calibri" charset="0"/>
                        <a:ea typeface="Calibri" charset="0"/>
                        <a:cs typeface="Calibri" charset="0"/>
                      </a:endParaRPr>
                    </a:p>
                  </a:txBody>
                  <a:tcPr anchor="ctr">
                    <a:lnL w="6350" cap="flat" cmpd="sng" algn="ctr">
                      <a:solidFill>
                        <a:srgbClr val="E5DFF5"/>
                      </a:solidFill>
                      <a:prstDash val="solid"/>
                      <a:round/>
                      <a:headEnd type="none" w="med" len="med"/>
                      <a:tailEnd type="none" w="med" len="med"/>
                    </a:lnL>
                    <a:lnR w="6350" cap="flat" cmpd="sng" algn="ctr">
                      <a:solidFill>
                        <a:srgbClr val="E5DFF5"/>
                      </a:solidFill>
                      <a:prstDash val="solid"/>
                      <a:round/>
                      <a:headEnd type="none" w="med" len="med"/>
                      <a:tailEnd type="none" w="med" len="med"/>
                    </a:lnR>
                    <a:lnT w="6350" cap="flat" cmpd="sng" algn="ctr">
                      <a:solidFill>
                        <a:srgbClr val="E5DFF5"/>
                      </a:solidFill>
                      <a:prstDash val="solid"/>
                      <a:round/>
                      <a:headEnd type="none" w="med" len="med"/>
                      <a:tailEnd type="none" w="med" len="med"/>
                    </a:lnT>
                    <a:lnB w="6350" cap="flat" cmpd="sng" algn="ctr">
                      <a:solidFill>
                        <a:srgbClr val="E5DFF5"/>
                      </a:solidFill>
                      <a:prstDash val="solid"/>
                      <a:round/>
                      <a:headEnd type="none" w="med" len="med"/>
                      <a:tailEnd type="none" w="med" len="med"/>
                    </a:lnB>
                    <a:solidFill>
                      <a:srgbClr val="FFFFFF"/>
                    </a:solidFill>
                  </a:tcPr>
                </a:tc>
                <a:tc>
                  <a:txBody>
                    <a:bodyPr/>
                    <a:lstStyle/>
                    <a:p>
                      <a:pPr marL="0" indent="0">
                        <a:buNone/>
                      </a:pPr>
                      <a:r>
                        <a:rPr lang="en-US" sz="1050" dirty="0">
                          <a:solidFill>
                            <a:srgbClr val="6B6480"/>
                          </a:solidFill>
                          <a:latin typeface="Calibri" pitchFamily="34" charset="0"/>
                          <a:ea typeface="Calibri" pitchFamily="34" charset="-122"/>
                          <a:cs typeface="Calibri" pitchFamily="34" charset="-120"/>
                        </a:rPr>
                        <a:t>Production-grade scaling, healing &amp; orchestration</a:t>
                      </a:r>
                      <a:endParaRPr lang="en-US" sz="1050" dirty="0">
                        <a:latin typeface="Calibri" charset="0"/>
                        <a:ea typeface="Calibri" charset="0"/>
                        <a:cs typeface="Calibri" charset="0"/>
                      </a:endParaRPr>
                    </a:p>
                  </a:txBody>
                  <a:tcPr anchor="ctr">
                    <a:lnL w="6350" cap="flat" cmpd="sng" algn="ctr">
                      <a:solidFill>
                        <a:srgbClr val="E5DFF5"/>
                      </a:solidFill>
                      <a:prstDash val="solid"/>
                      <a:round/>
                      <a:headEnd type="none" w="med" len="med"/>
                      <a:tailEnd type="none" w="med" len="med"/>
                    </a:lnL>
                    <a:lnR w="6350" cap="flat" cmpd="sng" algn="ctr">
                      <a:solidFill>
                        <a:srgbClr val="E5DFF5"/>
                      </a:solidFill>
                      <a:prstDash val="solid"/>
                      <a:round/>
                      <a:headEnd type="none" w="med" len="med"/>
                      <a:tailEnd type="none" w="med" len="med"/>
                    </a:lnR>
                    <a:lnT w="6350" cap="flat" cmpd="sng" algn="ctr">
                      <a:solidFill>
                        <a:srgbClr val="E5DFF5"/>
                      </a:solidFill>
                      <a:prstDash val="solid"/>
                      <a:round/>
                      <a:headEnd type="none" w="med" len="med"/>
                      <a:tailEnd type="none" w="med" len="med"/>
                    </a:lnT>
                    <a:lnB w="6350" cap="flat" cmpd="sng" algn="ctr">
                      <a:solidFill>
                        <a:srgbClr val="E5DFF5"/>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03504">
                <a:tc>
                  <a:txBody>
                    <a:bodyPr/>
                    <a:lstStyle/>
                    <a:p>
                      <a:pPr marL="0" indent="0">
                        <a:buNone/>
                      </a:pPr>
                      <a:r>
                        <a:rPr lang="en-US" sz="1050" dirty="0">
                          <a:solidFill>
                            <a:srgbClr val="1F1B3A"/>
                          </a:solidFill>
                          <a:latin typeface="Calibri" pitchFamily="34" charset="0"/>
                          <a:ea typeface="Calibri" pitchFamily="34" charset="-122"/>
                          <a:cs typeface="Calibri" pitchFamily="34" charset="-120"/>
                        </a:rPr>
                        <a:t>JSON</a:t>
                      </a:r>
                      <a:endParaRPr lang="en-US" sz="1050" dirty="0">
                        <a:latin typeface="Calibri" charset="0"/>
                        <a:ea typeface="Calibri" charset="0"/>
                        <a:cs typeface="Calibri" charset="0"/>
                      </a:endParaRPr>
                    </a:p>
                  </a:txBody>
                  <a:tcPr anchor="ctr">
                    <a:lnL w="6350" cap="flat" cmpd="sng" algn="ctr">
                      <a:solidFill>
                        <a:srgbClr val="E5DFF5"/>
                      </a:solidFill>
                      <a:prstDash val="solid"/>
                      <a:round/>
                      <a:headEnd type="none" w="med" len="med"/>
                      <a:tailEnd type="none" w="med" len="med"/>
                    </a:lnL>
                    <a:lnR w="6350" cap="flat" cmpd="sng" algn="ctr">
                      <a:solidFill>
                        <a:srgbClr val="E5DFF5"/>
                      </a:solidFill>
                      <a:prstDash val="solid"/>
                      <a:round/>
                      <a:headEnd type="none" w="med" len="med"/>
                      <a:tailEnd type="none" w="med" len="med"/>
                    </a:lnR>
                    <a:lnT w="6350" cap="flat" cmpd="sng" algn="ctr">
                      <a:solidFill>
                        <a:srgbClr val="E5DFF5"/>
                      </a:solidFill>
                      <a:prstDash val="solid"/>
                      <a:round/>
                      <a:headEnd type="none" w="med" len="med"/>
                      <a:tailEnd type="none" w="med" len="med"/>
                    </a:lnT>
                    <a:lnB w="6350" cap="flat" cmpd="sng" algn="ctr">
                      <a:solidFill>
                        <a:srgbClr val="E5DFF5"/>
                      </a:solidFill>
                      <a:prstDash val="solid"/>
                      <a:round/>
                      <a:headEnd type="none" w="med" len="med"/>
                      <a:tailEnd type="none" w="med" len="med"/>
                    </a:lnB>
                    <a:solidFill>
                      <a:srgbClr val="F6F4FC"/>
                    </a:solidFill>
                  </a:tcPr>
                </a:tc>
                <a:tc>
                  <a:txBody>
                    <a:bodyPr/>
                    <a:lstStyle/>
                    <a:p>
                      <a:pPr marL="0" indent="0">
                        <a:buNone/>
                      </a:pPr>
                      <a:r>
                        <a:rPr lang="en-US" sz="1050" dirty="0">
                          <a:solidFill>
                            <a:srgbClr val="6B6480"/>
                          </a:solidFill>
                          <a:latin typeface="Calibri" pitchFamily="34" charset="0"/>
                          <a:ea typeface="Calibri" pitchFamily="34" charset="-122"/>
                          <a:cs typeface="Calibri" pitchFamily="34" charset="-120"/>
                        </a:rPr>
                        <a:t>Lightweight config for categories &amp; keyword mapping</a:t>
                      </a:r>
                      <a:endParaRPr lang="en-US" sz="1050" dirty="0">
                        <a:latin typeface="Calibri" charset="0"/>
                        <a:ea typeface="Calibri" charset="0"/>
                        <a:cs typeface="Calibri" charset="0"/>
                      </a:endParaRPr>
                    </a:p>
                  </a:txBody>
                  <a:tcPr anchor="ctr">
                    <a:lnL w="6350" cap="flat" cmpd="sng" algn="ctr">
                      <a:solidFill>
                        <a:srgbClr val="E5DFF5"/>
                      </a:solidFill>
                      <a:prstDash val="solid"/>
                      <a:round/>
                      <a:headEnd type="none" w="med" len="med"/>
                      <a:tailEnd type="none" w="med" len="med"/>
                    </a:lnL>
                    <a:lnR w="6350" cap="flat" cmpd="sng" algn="ctr">
                      <a:solidFill>
                        <a:srgbClr val="E5DFF5"/>
                      </a:solidFill>
                      <a:prstDash val="solid"/>
                      <a:round/>
                      <a:headEnd type="none" w="med" len="med"/>
                      <a:tailEnd type="none" w="med" len="med"/>
                    </a:lnR>
                    <a:lnT w="6350" cap="flat" cmpd="sng" algn="ctr">
                      <a:solidFill>
                        <a:srgbClr val="E5DFF5"/>
                      </a:solidFill>
                      <a:prstDash val="solid"/>
                      <a:round/>
                      <a:headEnd type="none" w="med" len="med"/>
                      <a:tailEnd type="none" w="med" len="med"/>
                    </a:lnT>
                    <a:lnB w="6350" cap="flat" cmpd="sng" algn="ctr">
                      <a:solidFill>
                        <a:srgbClr val="E5DFF5"/>
                      </a:solidFill>
                      <a:prstDash val="solid"/>
                      <a:round/>
                      <a:headEnd type="none" w="med" len="med"/>
                      <a:tailEnd type="none" w="med" len="med"/>
                    </a:lnB>
                    <a:solidFill>
                      <a:srgbClr val="F6F4FC"/>
                    </a:solidFill>
                  </a:tcPr>
                </a:tc>
                <a:extLst>
                  <a:ext uri="{0D108BD9-81ED-4DB2-BD59-A6C34878D82A}">
                    <a16:rowId xmlns:a16="http://schemas.microsoft.com/office/drawing/2014/main" val="10004"/>
                  </a:ext>
                </a:extLst>
              </a:tr>
              <a:tr h="603504">
                <a:tc>
                  <a:txBody>
                    <a:bodyPr/>
                    <a:lstStyle/>
                    <a:p>
                      <a:pPr marL="0" indent="0">
                        <a:buNone/>
                      </a:pPr>
                      <a:r>
                        <a:rPr lang="en-US" sz="1050" dirty="0">
                          <a:solidFill>
                            <a:srgbClr val="1F1B3A"/>
                          </a:solidFill>
                          <a:latin typeface="Calibri" pitchFamily="34" charset="0"/>
                          <a:ea typeface="Calibri" pitchFamily="34" charset="-122"/>
                          <a:cs typeface="Calibri" pitchFamily="34" charset="-120"/>
                        </a:rPr>
                        <a:t>localStorage</a:t>
                      </a:r>
                      <a:endParaRPr lang="en-US" sz="1050" dirty="0">
                        <a:latin typeface="Calibri" charset="0"/>
                        <a:ea typeface="Calibri" charset="0"/>
                        <a:cs typeface="Calibri" charset="0"/>
                      </a:endParaRPr>
                    </a:p>
                  </a:txBody>
                  <a:tcPr anchor="ctr">
                    <a:lnL w="6350" cap="flat" cmpd="sng" algn="ctr">
                      <a:solidFill>
                        <a:srgbClr val="E5DFF5"/>
                      </a:solidFill>
                      <a:prstDash val="solid"/>
                      <a:round/>
                      <a:headEnd type="none" w="med" len="med"/>
                      <a:tailEnd type="none" w="med" len="med"/>
                    </a:lnL>
                    <a:lnR w="6350" cap="flat" cmpd="sng" algn="ctr">
                      <a:solidFill>
                        <a:srgbClr val="E5DFF5"/>
                      </a:solidFill>
                      <a:prstDash val="solid"/>
                      <a:round/>
                      <a:headEnd type="none" w="med" len="med"/>
                      <a:tailEnd type="none" w="med" len="med"/>
                    </a:lnR>
                    <a:lnT w="6350" cap="flat" cmpd="sng" algn="ctr">
                      <a:solidFill>
                        <a:srgbClr val="E5DFF5"/>
                      </a:solidFill>
                      <a:prstDash val="solid"/>
                      <a:round/>
                      <a:headEnd type="none" w="med" len="med"/>
                      <a:tailEnd type="none" w="med" len="med"/>
                    </a:lnT>
                    <a:lnB w="6350" cap="flat" cmpd="sng" algn="ctr">
                      <a:solidFill>
                        <a:srgbClr val="E5DFF5"/>
                      </a:solidFill>
                      <a:prstDash val="solid"/>
                      <a:round/>
                      <a:headEnd type="none" w="med" len="med"/>
                      <a:tailEnd type="none" w="med" len="med"/>
                    </a:lnB>
                    <a:solidFill>
                      <a:srgbClr val="FFFFFF"/>
                    </a:solidFill>
                  </a:tcPr>
                </a:tc>
                <a:tc>
                  <a:txBody>
                    <a:bodyPr/>
                    <a:lstStyle/>
                    <a:p>
                      <a:pPr marL="0" indent="0">
                        <a:buNone/>
                      </a:pPr>
                      <a:r>
                        <a:rPr lang="en-US" sz="1050" dirty="0">
                          <a:solidFill>
                            <a:srgbClr val="6B6480"/>
                          </a:solidFill>
                          <a:latin typeface="Calibri" pitchFamily="34" charset="0"/>
                          <a:ea typeface="Calibri" pitchFamily="34" charset="-122"/>
                          <a:cs typeface="Calibri" pitchFamily="34" charset="-120"/>
                        </a:rPr>
                        <a:t>Client-side persistence with zero database needed</a:t>
                      </a:r>
                      <a:endParaRPr lang="en-US" sz="1050" dirty="0">
                        <a:latin typeface="Calibri" charset="0"/>
                        <a:ea typeface="Calibri" charset="0"/>
                        <a:cs typeface="Calibri" charset="0"/>
                      </a:endParaRPr>
                    </a:p>
                  </a:txBody>
                  <a:tcPr anchor="ctr">
                    <a:lnL w="6350" cap="flat" cmpd="sng" algn="ctr">
                      <a:solidFill>
                        <a:srgbClr val="E5DFF5"/>
                      </a:solidFill>
                      <a:prstDash val="solid"/>
                      <a:round/>
                      <a:headEnd type="none" w="med" len="med"/>
                      <a:tailEnd type="none" w="med" len="med"/>
                    </a:lnL>
                    <a:lnR w="6350" cap="flat" cmpd="sng" algn="ctr">
                      <a:solidFill>
                        <a:srgbClr val="E5DFF5"/>
                      </a:solidFill>
                      <a:prstDash val="solid"/>
                      <a:round/>
                      <a:headEnd type="none" w="med" len="med"/>
                      <a:tailEnd type="none" w="med" len="med"/>
                    </a:lnR>
                    <a:lnT w="6350" cap="flat" cmpd="sng" algn="ctr">
                      <a:solidFill>
                        <a:srgbClr val="E5DFF5"/>
                      </a:solidFill>
                      <a:prstDash val="solid"/>
                      <a:round/>
                      <a:headEnd type="none" w="med" len="med"/>
                      <a:tailEnd type="none" w="med" len="med"/>
                    </a:lnT>
                    <a:lnB w="6350" cap="flat" cmpd="sng" algn="ctr">
                      <a:solidFill>
                        <a:srgbClr val="E5DFF5"/>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603504">
                <a:tc>
                  <a:txBody>
                    <a:bodyPr/>
                    <a:lstStyle/>
                    <a:p>
                      <a:pPr marL="0" indent="0">
                        <a:buNone/>
                      </a:pPr>
                      <a:r>
                        <a:rPr lang="en-US" sz="1050" dirty="0">
                          <a:solidFill>
                            <a:srgbClr val="1F1B3A"/>
                          </a:solidFill>
                          <a:latin typeface="Calibri" pitchFamily="34" charset="0"/>
                          <a:ea typeface="Calibri" pitchFamily="34" charset="-122"/>
                          <a:cs typeface="Calibri" pitchFamily="34" charset="-120"/>
                        </a:rPr>
                        <a:t>GitHub</a:t>
                      </a:r>
                      <a:endParaRPr lang="en-US" sz="1050" dirty="0">
                        <a:latin typeface="Calibri" charset="0"/>
                        <a:ea typeface="Calibri" charset="0"/>
                        <a:cs typeface="Calibri" charset="0"/>
                      </a:endParaRPr>
                    </a:p>
                  </a:txBody>
                  <a:tcPr anchor="ctr">
                    <a:lnL w="6350" cap="flat" cmpd="sng" algn="ctr">
                      <a:solidFill>
                        <a:srgbClr val="E5DFF5"/>
                      </a:solidFill>
                      <a:prstDash val="solid"/>
                      <a:round/>
                      <a:headEnd type="none" w="med" len="med"/>
                      <a:tailEnd type="none" w="med" len="med"/>
                    </a:lnL>
                    <a:lnR w="6350" cap="flat" cmpd="sng" algn="ctr">
                      <a:solidFill>
                        <a:srgbClr val="E5DFF5"/>
                      </a:solidFill>
                      <a:prstDash val="solid"/>
                      <a:round/>
                      <a:headEnd type="none" w="med" len="med"/>
                      <a:tailEnd type="none" w="med" len="med"/>
                    </a:lnR>
                    <a:lnT w="6350" cap="flat" cmpd="sng" algn="ctr">
                      <a:solidFill>
                        <a:srgbClr val="E5DFF5"/>
                      </a:solidFill>
                      <a:prstDash val="solid"/>
                      <a:round/>
                      <a:headEnd type="none" w="med" len="med"/>
                      <a:tailEnd type="none" w="med" len="med"/>
                    </a:lnT>
                    <a:lnB w="6350" cap="flat" cmpd="sng" algn="ctr">
                      <a:solidFill>
                        <a:srgbClr val="E5DFF5"/>
                      </a:solidFill>
                      <a:prstDash val="solid"/>
                      <a:round/>
                      <a:headEnd type="none" w="med" len="med"/>
                      <a:tailEnd type="none" w="med" len="med"/>
                    </a:lnB>
                    <a:solidFill>
                      <a:srgbClr val="F6F4FC"/>
                    </a:solidFill>
                  </a:tcPr>
                </a:tc>
                <a:tc>
                  <a:txBody>
                    <a:bodyPr/>
                    <a:lstStyle/>
                    <a:p>
                      <a:pPr marL="0" indent="0">
                        <a:buNone/>
                      </a:pPr>
                      <a:r>
                        <a:rPr lang="en-US" sz="1050" dirty="0">
                          <a:solidFill>
                            <a:srgbClr val="6B6480"/>
                          </a:solidFill>
                          <a:latin typeface="Calibri" pitchFamily="34" charset="0"/>
                          <a:ea typeface="Calibri" pitchFamily="34" charset="-122"/>
                          <a:cs typeface="Calibri" pitchFamily="34" charset="-120"/>
                        </a:rPr>
                        <a:t>Version control &amp; public project hosting</a:t>
                      </a:r>
                      <a:endParaRPr lang="en-US" sz="1050" dirty="0">
                        <a:latin typeface="Calibri" charset="0"/>
                        <a:ea typeface="Calibri" charset="0"/>
                        <a:cs typeface="Calibri" charset="0"/>
                      </a:endParaRPr>
                    </a:p>
                  </a:txBody>
                  <a:tcPr anchor="ctr">
                    <a:lnL w="6350" cap="flat" cmpd="sng" algn="ctr">
                      <a:solidFill>
                        <a:srgbClr val="E5DFF5"/>
                      </a:solidFill>
                      <a:prstDash val="solid"/>
                      <a:round/>
                      <a:headEnd type="none" w="med" len="med"/>
                      <a:tailEnd type="none" w="med" len="med"/>
                    </a:lnL>
                    <a:lnR w="6350" cap="flat" cmpd="sng" algn="ctr">
                      <a:solidFill>
                        <a:srgbClr val="E5DFF5"/>
                      </a:solidFill>
                      <a:prstDash val="solid"/>
                      <a:round/>
                      <a:headEnd type="none" w="med" len="med"/>
                      <a:tailEnd type="none" w="med" len="med"/>
                    </a:lnR>
                    <a:lnT w="6350" cap="flat" cmpd="sng" algn="ctr">
                      <a:solidFill>
                        <a:srgbClr val="E5DFF5"/>
                      </a:solidFill>
                      <a:prstDash val="solid"/>
                      <a:round/>
                      <a:headEnd type="none" w="med" len="med"/>
                      <a:tailEnd type="none" w="med" len="med"/>
                    </a:lnT>
                    <a:lnB w="6350" cap="flat" cmpd="sng" algn="ctr">
                      <a:solidFill>
                        <a:srgbClr val="E5DFF5"/>
                      </a:solidFill>
                      <a:prstDash val="solid"/>
                      <a:round/>
                      <a:headEnd type="none" w="med" len="med"/>
                      <a:tailEnd type="none" w="med" len="med"/>
                    </a:lnB>
                    <a:solidFill>
                      <a:srgbClr val="F6F4FC"/>
                    </a:solidFill>
                  </a:tcPr>
                </a:tc>
                <a:extLst>
                  <a:ext uri="{0D108BD9-81ED-4DB2-BD59-A6C34878D82A}">
                    <a16:rowId xmlns:a16="http://schemas.microsoft.com/office/drawing/2014/main" val="10006"/>
                  </a:ext>
                </a:extLst>
              </a:tr>
            </a:tbl>
          </a:graphicData>
        </a:graphic>
      </p:graphicFrame>
      <p:sp>
        <p:nvSpPr>
          <p:cNvPr id="7" name="Text 3"/>
          <p:cNvSpPr/>
          <p:nvPr/>
        </p:nvSpPr>
        <p:spPr>
          <a:xfrm>
            <a:off x="548640" y="6528816"/>
            <a:ext cx="2743200" cy="274320"/>
          </a:xfrm>
          <a:prstGeom prst="rect">
            <a:avLst/>
          </a:prstGeom>
          <a:noFill/>
          <a:ln/>
        </p:spPr>
        <p:txBody>
          <a:bodyPr wrap="square" lIns="0" tIns="0" rIns="0" bIns="0" rtlCol="0" anchor="ctr"/>
          <a:lstStyle/>
          <a:p>
            <a:pPr marL="0" indent="0" algn="l">
              <a:buNone/>
            </a:pPr>
            <a:r>
              <a:rPr lang="en-US" sz="1000" dirty="0">
                <a:solidFill>
                  <a:srgbClr val="6B6480"/>
                </a:solidFill>
                <a:latin typeface="Calibri" pitchFamily="34" charset="0"/>
                <a:ea typeface="Calibri" pitchFamily="34" charset="-122"/>
                <a:cs typeface="Calibri" pitchFamily="34" charset="-120"/>
              </a:rPr>
              <a:t>NewsNest</a:t>
            </a:r>
            <a:endParaRPr lang="en-US" sz="1000" dirty="0"/>
          </a:p>
        </p:txBody>
      </p:sp>
      <p:sp>
        <p:nvSpPr>
          <p:cNvPr id="8" name="Text 4"/>
          <p:cNvSpPr/>
          <p:nvPr/>
        </p:nvSpPr>
        <p:spPr>
          <a:xfrm>
            <a:off x="11183112" y="6528816"/>
            <a:ext cx="457200" cy="274320"/>
          </a:xfrm>
          <a:prstGeom prst="rect">
            <a:avLst/>
          </a:prstGeom>
          <a:noFill/>
          <a:ln/>
        </p:spPr>
        <p:txBody>
          <a:bodyPr wrap="square" lIns="0" tIns="0" rIns="0" bIns="0" rtlCol="0" anchor="ctr"/>
          <a:lstStyle/>
          <a:p>
            <a:pPr marL="0" indent="0" algn="r">
              <a:buNone/>
            </a:pPr>
            <a:r>
              <a:rPr lang="en-US" sz="1000" dirty="0">
                <a:solidFill>
                  <a:srgbClr val="6B6480"/>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91672" cy="685800"/>
          </a:xfrm>
          <a:prstGeom prst="rect">
            <a:avLst/>
          </a:prstGeom>
          <a:noFill/>
          <a:ln/>
        </p:spPr>
        <p:txBody>
          <a:bodyPr wrap="square" lIns="0" tIns="0" rIns="0" bIns="0" rtlCol="0" anchor="ctr"/>
          <a:lstStyle/>
          <a:p>
            <a:pPr marL="0" indent="0" algn="l">
              <a:buNone/>
            </a:pPr>
            <a:r>
              <a:rPr lang="en-US" sz="3200" b="1" dirty="0">
                <a:solidFill>
                  <a:srgbClr val="2A1B5D"/>
                </a:solidFill>
                <a:latin typeface="Cambria" pitchFamily="34" charset="0"/>
                <a:ea typeface="Cambria" pitchFamily="34" charset="-122"/>
                <a:cs typeface="Cambria" pitchFamily="34" charset="-120"/>
              </a:rPr>
              <a:t>Frontend Features</a:t>
            </a:r>
            <a:endParaRPr lang="en-US" sz="3200" dirty="0"/>
          </a:p>
        </p:txBody>
      </p:sp>
      <p:sp>
        <p:nvSpPr>
          <p:cNvPr id="3" name="Shape 1"/>
          <p:cNvSpPr/>
          <p:nvPr/>
        </p:nvSpPr>
        <p:spPr>
          <a:xfrm>
            <a:off x="548640" y="1042416"/>
            <a:ext cx="502920" cy="41148"/>
          </a:xfrm>
          <a:prstGeom prst="rect">
            <a:avLst/>
          </a:prstGeom>
          <a:solidFill>
            <a:srgbClr val="EC4899"/>
          </a:solidFill>
          <a:ln/>
        </p:spPr>
      </p:sp>
      <p:sp>
        <p:nvSpPr>
          <p:cNvPr id="4" name="Text 2"/>
          <p:cNvSpPr/>
          <p:nvPr/>
        </p:nvSpPr>
        <p:spPr>
          <a:xfrm>
            <a:off x="548640" y="1097280"/>
            <a:ext cx="11091672" cy="365760"/>
          </a:xfrm>
          <a:prstGeom prst="rect">
            <a:avLst/>
          </a:prstGeom>
          <a:noFill/>
          <a:ln/>
        </p:spPr>
        <p:txBody>
          <a:bodyPr wrap="square" lIns="0" tIns="0" rIns="0" bIns="0" rtlCol="0" anchor="ctr"/>
          <a:lstStyle/>
          <a:p>
            <a:pPr marL="0" indent="0" algn="l">
              <a:buNone/>
            </a:pPr>
            <a:r>
              <a:rPr lang="en-US" sz="1400" i="1" dirty="0">
                <a:solidFill>
                  <a:srgbClr val="6B6480"/>
                </a:solidFill>
                <a:latin typeface="Calibri" pitchFamily="34" charset="0"/>
                <a:ea typeface="Calibri" pitchFamily="34" charset="-122"/>
                <a:cs typeface="Calibri" pitchFamily="34" charset="-120"/>
              </a:rPr>
              <a:t>A modern, responsive interface built without any framework</a:t>
            </a:r>
            <a:endParaRPr lang="en-US" sz="1400" dirty="0"/>
          </a:p>
        </p:txBody>
      </p:sp>
      <p:sp>
        <p:nvSpPr>
          <p:cNvPr id="5" name="Shape 3"/>
          <p:cNvSpPr/>
          <p:nvPr/>
        </p:nvSpPr>
        <p:spPr>
          <a:xfrm>
            <a:off x="548640" y="1600200"/>
            <a:ext cx="457200" cy="457200"/>
          </a:xfrm>
          <a:prstGeom prst="ellipse">
            <a:avLst/>
          </a:prstGeom>
          <a:solidFill>
            <a:srgbClr val="6C3CE9"/>
          </a:solidFill>
          <a:ln/>
        </p:spPr>
      </p:sp>
      <p:sp>
        <p:nvSpPr>
          <p:cNvPr id="6" name="Text 4"/>
          <p:cNvSpPr/>
          <p:nvPr/>
        </p:nvSpPr>
        <p:spPr>
          <a:xfrm>
            <a:off x="548640" y="1581912"/>
            <a:ext cx="457200" cy="457200"/>
          </a:xfrm>
          <a:prstGeom prst="rect">
            <a:avLst/>
          </a:prstGeom>
          <a:noFill/>
          <a:ln/>
        </p:spPr>
        <p:txBody>
          <a:bodyPr wrap="square" lIns="0" tIns="0" rIns="0" bIns="0" rtlCol="0" anchor="ctr"/>
          <a:lstStyle/>
          <a:p>
            <a:pPr marL="0" indent="0" algn="ctr">
              <a:buNone/>
            </a:pPr>
            <a:r>
              <a:rPr lang="en-US" sz="2000" dirty="0">
                <a:solidFill>
                  <a:srgbClr val="000000"/>
                </a:solidFill>
                <a:latin typeface="Segoe UI Emoji" pitchFamily="34" charset="0"/>
                <a:ea typeface="Segoe UI Emoji" pitchFamily="34" charset="-122"/>
                <a:cs typeface="Segoe UI Emoji" pitchFamily="34" charset="-120"/>
              </a:rPr>
              <a:t>📱</a:t>
            </a:r>
            <a:endParaRPr lang="en-US" sz="2000" dirty="0"/>
          </a:p>
        </p:txBody>
      </p:sp>
      <p:sp>
        <p:nvSpPr>
          <p:cNvPr id="7" name="Text 5"/>
          <p:cNvSpPr/>
          <p:nvPr/>
        </p:nvSpPr>
        <p:spPr>
          <a:xfrm>
            <a:off x="1115568" y="1581912"/>
            <a:ext cx="2496312" cy="320040"/>
          </a:xfrm>
          <a:prstGeom prst="rect">
            <a:avLst/>
          </a:prstGeom>
          <a:noFill/>
          <a:ln/>
        </p:spPr>
        <p:txBody>
          <a:bodyPr wrap="square" lIns="0" tIns="0" rIns="0" bIns="0" rtlCol="0" anchor="ctr"/>
          <a:lstStyle/>
          <a:p>
            <a:pPr marL="0" indent="0">
              <a:buNone/>
            </a:pPr>
            <a:r>
              <a:rPr lang="en-US" sz="1250" b="1" dirty="0">
                <a:solidFill>
                  <a:srgbClr val="1F1B3A"/>
                </a:solidFill>
                <a:latin typeface="Calibri" pitchFamily="34" charset="0"/>
                <a:ea typeface="Calibri" pitchFamily="34" charset="-122"/>
                <a:cs typeface="Calibri" pitchFamily="34" charset="-120"/>
              </a:rPr>
              <a:t>Fully Responsive Design</a:t>
            </a:r>
            <a:endParaRPr lang="en-US" sz="1250" dirty="0"/>
          </a:p>
        </p:txBody>
      </p:sp>
      <p:sp>
        <p:nvSpPr>
          <p:cNvPr id="8" name="Text 6"/>
          <p:cNvSpPr/>
          <p:nvPr/>
        </p:nvSpPr>
        <p:spPr>
          <a:xfrm>
            <a:off x="1115568" y="1901952"/>
            <a:ext cx="2496312" cy="640080"/>
          </a:xfrm>
          <a:prstGeom prst="rect">
            <a:avLst/>
          </a:prstGeom>
          <a:noFill/>
          <a:ln/>
        </p:spPr>
        <p:txBody>
          <a:bodyPr wrap="square" lIns="0" tIns="0" rIns="0" bIns="0" rtlCol="0" anchor="t"/>
          <a:lstStyle/>
          <a:p>
            <a:pPr marL="0" indent="0">
              <a:buNone/>
            </a:pPr>
            <a:r>
              <a:rPr lang="en-US" sz="1000" dirty="0">
                <a:solidFill>
                  <a:srgbClr val="6B6480"/>
                </a:solidFill>
                <a:latin typeface="Calibri" pitchFamily="34" charset="0"/>
                <a:ea typeface="Calibri" pitchFamily="34" charset="-122"/>
                <a:cs typeface="Calibri" pitchFamily="34" charset="-120"/>
              </a:rPr>
              <a:t>Adapts cleanly across desktop, tablet, and mobile.</a:t>
            </a:r>
            <a:endParaRPr lang="en-US" sz="1000" dirty="0"/>
          </a:p>
        </p:txBody>
      </p:sp>
      <p:sp>
        <p:nvSpPr>
          <p:cNvPr id="9" name="Shape 7"/>
          <p:cNvSpPr/>
          <p:nvPr/>
        </p:nvSpPr>
        <p:spPr>
          <a:xfrm>
            <a:off x="3840480" y="1600200"/>
            <a:ext cx="457200" cy="457200"/>
          </a:xfrm>
          <a:prstGeom prst="ellipse">
            <a:avLst/>
          </a:prstGeom>
          <a:solidFill>
            <a:srgbClr val="6C3CE9"/>
          </a:solidFill>
          <a:ln/>
        </p:spPr>
      </p:sp>
      <p:sp>
        <p:nvSpPr>
          <p:cNvPr id="10" name="Text 8"/>
          <p:cNvSpPr/>
          <p:nvPr/>
        </p:nvSpPr>
        <p:spPr>
          <a:xfrm>
            <a:off x="3840480" y="1581912"/>
            <a:ext cx="457200" cy="457200"/>
          </a:xfrm>
          <a:prstGeom prst="rect">
            <a:avLst/>
          </a:prstGeom>
          <a:noFill/>
          <a:ln/>
        </p:spPr>
        <p:txBody>
          <a:bodyPr wrap="square" lIns="0" tIns="0" rIns="0" bIns="0" rtlCol="0" anchor="ctr"/>
          <a:lstStyle/>
          <a:p>
            <a:pPr marL="0" indent="0" algn="ctr">
              <a:buNone/>
            </a:pPr>
            <a:r>
              <a:rPr lang="en-US" sz="2000" dirty="0">
                <a:solidFill>
                  <a:srgbClr val="000000"/>
                </a:solidFill>
                <a:latin typeface="Segoe UI Emoji" pitchFamily="34" charset="0"/>
                <a:ea typeface="Segoe UI Emoji" pitchFamily="34" charset="-122"/>
                <a:cs typeface="Segoe UI Emoji" pitchFamily="34" charset="-120"/>
              </a:rPr>
              <a:t>🌓</a:t>
            </a:r>
            <a:endParaRPr lang="en-US" sz="2000" dirty="0"/>
          </a:p>
        </p:txBody>
      </p:sp>
      <p:sp>
        <p:nvSpPr>
          <p:cNvPr id="11" name="Text 9"/>
          <p:cNvSpPr/>
          <p:nvPr/>
        </p:nvSpPr>
        <p:spPr>
          <a:xfrm>
            <a:off x="4407408" y="1581912"/>
            <a:ext cx="2496312" cy="320040"/>
          </a:xfrm>
          <a:prstGeom prst="rect">
            <a:avLst/>
          </a:prstGeom>
          <a:noFill/>
          <a:ln/>
        </p:spPr>
        <p:txBody>
          <a:bodyPr wrap="square" lIns="0" tIns="0" rIns="0" bIns="0" rtlCol="0" anchor="ctr"/>
          <a:lstStyle/>
          <a:p>
            <a:pPr marL="0" indent="0">
              <a:buNone/>
            </a:pPr>
            <a:r>
              <a:rPr lang="en-US" sz="1250" b="1" dirty="0">
                <a:solidFill>
                  <a:srgbClr val="1F1B3A"/>
                </a:solidFill>
                <a:latin typeface="Calibri" pitchFamily="34" charset="0"/>
                <a:ea typeface="Calibri" pitchFamily="34" charset="-122"/>
                <a:cs typeface="Calibri" pitchFamily="34" charset="-120"/>
              </a:rPr>
              <a:t>Dark &amp; Light Mode</a:t>
            </a:r>
            <a:endParaRPr lang="en-US" sz="1250" dirty="0"/>
          </a:p>
        </p:txBody>
      </p:sp>
      <p:sp>
        <p:nvSpPr>
          <p:cNvPr id="12" name="Text 10"/>
          <p:cNvSpPr/>
          <p:nvPr/>
        </p:nvSpPr>
        <p:spPr>
          <a:xfrm>
            <a:off x="4407408" y="1901952"/>
            <a:ext cx="2496312" cy="640080"/>
          </a:xfrm>
          <a:prstGeom prst="rect">
            <a:avLst/>
          </a:prstGeom>
          <a:noFill/>
          <a:ln/>
        </p:spPr>
        <p:txBody>
          <a:bodyPr wrap="square" lIns="0" tIns="0" rIns="0" bIns="0" rtlCol="0" anchor="t"/>
          <a:lstStyle/>
          <a:p>
            <a:pPr marL="0" indent="0">
              <a:buNone/>
            </a:pPr>
            <a:r>
              <a:rPr lang="en-US" sz="1000" dirty="0">
                <a:solidFill>
                  <a:srgbClr val="6B6480"/>
                </a:solidFill>
                <a:latin typeface="Calibri" pitchFamily="34" charset="0"/>
                <a:ea typeface="Calibri" pitchFamily="34" charset="-122"/>
                <a:cs typeface="Calibri" pitchFamily="34" charset="-120"/>
              </a:rPr>
              <a:t>One-click theme toggle, saved per user.</a:t>
            </a:r>
            <a:endParaRPr lang="en-US" sz="1000" dirty="0"/>
          </a:p>
        </p:txBody>
      </p:sp>
      <p:sp>
        <p:nvSpPr>
          <p:cNvPr id="13" name="Shape 11"/>
          <p:cNvSpPr/>
          <p:nvPr/>
        </p:nvSpPr>
        <p:spPr>
          <a:xfrm>
            <a:off x="548640" y="3337560"/>
            <a:ext cx="457200" cy="457200"/>
          </a:xfrm>
          <a:prstGeom prst="ellipse">
            <a:avLst/>
          </a:prstGeom>
          <a:solidFill>
            <a:srgbClr val="6C3CE9"/>
          </a:solidFill>
          <a:ln/>
        </p:spPr>
      </p:sp>
      <p:sp>
        <p:nvSpPr>
          <p:cNvPr id="14" name="Text 12"/>
          <p:cNvSpPr/>
          <p:nvPr/>
        </p:nvSpPr>
        <p:spPr>
          <a:xfrm>
            <a:off x="548640" y="3319272"/>
            <a:ext cx="457200" cy="457200"/>
          </a:xfrm>
          <a:prstGeom prst="rect">
            <a:avLst/>
          </a:prstGeom>
          <a:noFill/>
          <a:ln/>
        </p:spPr>
        <p:txBody>
          <a:bodyPr wrap="square" lIns="0" tIns="0" rIns="0" bIns="0" rtlCol="0" anchor="ctr"/>
          <a:lstStyle/>
          <a:p>
            <a:pPr marL="0" indent="0" algn="ctr">
              <a:buNone/>
            </a:pPr>
            <a:r>
              <a:rPr lang="en-US" sz="2000" dirty="0">
                <a:solidFill>
                  <a:srgbClr val="000000"/>
                </a:solidFill>
                <a:latin typeface="Segoe UI Emoji" pitchFamily="34" charset="0"/>
                <a:ea typeface="Segoe UI Emoji" pitchFamily="34" charset="-122"/>
                <a:cs typeface="Segoe UI Emoji" pitchFamily="34" charset="-120"/>
              </a:rPr>
              <a:t>🔍</a:t>
            </a:r>
            <a:endParaRPr lang="en-US" sz="2000" dirty="0"/>
          </a:p>
        </p:txBody>
      </p:sp>
      <p:sp>
        <p:nvSpPr>
          <p:cNvPr id="15" name="Text 13"/>
          <p:cNvSpPr/>
          <p:nvPr/>
        </p:nvSpPr>
        <p:spPr>
          <a:xfrm>
            <a:off x="1115568" y="3319272"/>
            <a:ext cx="2496312" cy="320040"/>
          </a:xfrm>
          <a:prstGeom prst="rect">
            <a:avLst/>
          </a:prstGeom>
          <a:noFill/>
          <a:ln/>
        </p:spPr>
        <p:txBody>
          <a:bodyPr wrap="square" lIns="0" tIns="0" rIns="0" bIns="0" rtlCol="0" anchor="ctr"/>
          <a:lstStyle/>
          <a:p>
            <a:pPr marL="0" indent="0">
              <a:buNone/>
            </a:pPr>
            <a:r>
              <a:rPr lang="en-US" sz="1250" b="1" dirty="0">
                <a:solidFill>
                  <a:srgbClr val="1F1B3A"/>
                </a:solidFill>
                <a:latin typeface="Calibri" pitchFamily="34" charset="0"/>
                <a:ea typeface="Calibri" pitchFamily="34" charset="-122"/>
                <a:cs typeface="Calibri" pitchFamily="34" charset="-120"/>
              </a:rPr>
              <a:t>Live Search</a:t>
            </a:r>
            <a:endParaRPr lang="en-US" sz="1250" dirty="0"/>
          </a:p>
        </p:txBody>
      </p:sp>
      <p:sp>
        <p:nvSpPr>
          <p:cNvPr id="16" name="Text 14"/>
          <p:cNvSpPr/>
          <p:nvPr/>
        </p:nvSpPr>
        <p:spPr>
          <a:xfrm>
            <a:off x="1115568" y="3639312"/>
            <a:ext cx="2496312" cy="640080"/>
          </a:xfrm>
          <a:prstGeom prst="rect">
            <a:avLst/>
          </a:prstGeom>
          <a:noFill/>
          <a:ln/>
        </p:spPr>
        <p:txBody>
          <a:bodyPr wrap="square" lIns="0" tIns="0" rIns="0" bIns="0" rtlCol="0" anchor="t"/>
          <a:lstStyle/>
          <a:p>
            <a:pPr marL="0" indent="0">
              <a:buNone/>
            </a:pPr>
            <a:r>
              <a:rPr lang="en-US" sz="1000" dirty="0">
                <a:solidFill>
                  <a:srgbClr val="6B6480"/>
                </a:solidFill>
                <a:latin typeface="Calibri" pitchFamily="34" charset="0"/>
                <a:ea typeface="Calibri" pitchFamily="34" charset="-122"/>
                <a:cs typeface="Calibri" pitchFamily="34" charset="-120"/>
              </a:rPr>
              <a:t>Debounced search across all articles.</a:t>
            </a:r>
            <a:endParaRPr lang="en-US" sz="1000" dirty="0"/>
          </a:p>
        </p:txBody>
      </p:sp>
      <p:sp>
        <p:nvSpPr>
          <p:cNvPr id="17" name="Shape 15"/>
          <p:cNvSpPr/>
          <p:nvPr/>
        </p:nvSpPr>
        <p:spPr>
          <a:xfrm>
            <a:off x="3840480" y="3337560"/>
            <a:ext cx="457200" cy="457200"/>
          </a:xfrm>
          <a:prstGeom prst="ellipse">
            <a:avLst/>
          </a:prstGeom>
          <a:solidFill>
            <a:srgbClr val="6C3CE9"/>
          </a:solidFill>
          <a:ln/>
        </p:spPr>
      </p:sp>
      <p:sp>
        <p:nvSpPr>
          <p:cNvPr id="18" name="Text 16"/>
          <p:cNvSpPr/>
          <p:nvPr/>
        </p:nvSpPr>
        <p:spPr>
          <a:xfrm>
            <a:off x="3840480" y="3319272"/>
            <a:ext cx="457200" cy="457200"/>
          </a:xfrm>
          <a:prstGeom prst="rect">
            <a:avLst/>
          </a:prstGeom>
          <a:noFill/>
          <a:ln/>
        </p:spPr>
        <p:txBody>
          <a:bodyPr wrap="square" lIns="0" tIns="0" rIns="0" bIns="0" rtlCol="0" anchor="ctr"/>
          <a:lstStyle/>
          <a:p>
            <a:pPr marL="0" indent="0" algn="ctr">
              <a:buNone/>
            </a:pPr>
            <a:r>
              <a:rPr lang="en-US" sz="2000" dirty="0">
                <a:solidFill>
                  <a:srgbClr val="000000"/>
                </a:solidFill>
                <a:latin typeface="Segoe UI Emoji" pitchFamily="34" charset="0"/>
                <a:ea typeface="Segoe UI Emoji" pitchFamily="34" charset="-122"/>
                <a:cs typeface="Segoe UI Emoji" pitchFamily="34" charset="-120"/>
              </a:rPr>
              <a:t>🔖</a:t>
            </a:r>
            <a:endParaRPr lang="en-US" sz="2000" dirty="0"/>
          </a:p>
        </p:txBody>
      </p:sp>
      <p:sp>
        <p:nvSpPr>
          <p:cNvPr id="19" name="Text 17"/>
          <p:cNvSpPr/>
          <p:nvPr/>
        </p:nvSpPr>
        <p:spPr>
          <a:xfrm>
            <a:off x="4407408" y="3319272"/>
            <a:ext cx="2496312" cy="320040"/>
          </a:xfrm>
          <a:prstGeom prst="rect">
            <a:avLst/>
          </a:prstGeom>
          <a:noFill/>
          <a:ln/>
        </p:spPr>
        <p:txBody>
          <a:bodyPr wrap="square" lIns="0" tIns="0" rIns="0" bIns="0" rtlCol="0" anchor="ctr"/>
          <a:lstStyle/>
          <a:p>
            <a:pPr marL="0" indent="0">
              <a:buNone/>
            </a:pPr>
            <a:r>
              <a:rPr lang="en-US" sz="1250" b="1" dirty="0">
                <a:solidFill>
                  <a:srgbClr val="1F1B3A"/>
                </a:solidFill>
                <a:latin typeface="Calibri" pitchFamily="34" charset="0"/>
                <a:ea typeface="Calibri" pitchFamily="34" charset="-122"/>
                <a:cs typeface="Calibri" pitchFamily="34" charset="-120"/>
              </a:rPr>
              <a:t>Bookmarks</a:t>
            </a:r>
            <a:endParaRPr lang="en-US" sz="1250" dirty="0"/>
          </a:p>
        </p:txBody>
      </p:sp>
      <p:sp>
        <p:nvSpPr>
          <p:cNvPr id="20" name="Text 18"/>
          <p:cNvSpPr/>
          <p:nvPr/>
        </p:nvSpPr>
        <p:spPr>
          <a:xfrm>
            <a:off x="4407408" y="3639312"/>
            <a:ext cx="2496312" cy="640080"/>
          </a:xfrm>
          <a:prstGeom prst="rect">
            <a:avLst/>
          </a:prstGeom>
          <a:noFill/>
          <a:ln/>
        </p:spPr>
        <p:txBody>
          <a:bodyPr wrap="square" lIns="0" tIns="0" rIns="0" bIns="0" rtlCol="0" anchor="t"/>
          <a:lstStyle/>
          <a:p>
            <a:pPr marL="0" indent="0">
              <a:buNone/>
            </a:pPr>
            <a:r>
              <a:rPr lang="en-US" sz="1000" dirty="0">
                <a:solidFill>
                  <a:srgbClr val="6B6480"/>
                </a:solidFill>
                <a:latin typeface="Calibri" pitchFamily="34" charset="0"/>
                <a:ea typeface="Calibri" pitchFamily="34" charset="-122"/>
                <a:cs typeface="Calibri" pitchFamily="34" charset="-120"/>
              </a:rPr>
              <a:t>Save articles locally to read later.</a:t>
            </a:r>
            <a:endParaRPr lang="en-US" sz="1000" dirty="0"/>
          </a:p>
        </p:txBody>
      </p:sp>
      <p:sp>
        <p:nvSpPr>
          <p:cNvPr id="21" name="Shape 19"/>
          <p:cNvSpPr/>
          <p:nvPr/>
        </p:nvSpPr>
        <p:spPr>
          <a:xfrm>
            <a:off x="548640" y="5074920"/>
            <a:ext cx="457200" cy="457200"/>
          </a:xfrm>
          <a:prstGeom prst="ellipse">
            <a:avLst/>
          </a:prstGeom>
          <a:solidFill>
            <a:srgbClr val="6C3CE9"/>
          </a:solidFill>
          <a:ln/>
        </p:spPr>
      </p:sp>
      <p:sp>
        <p:nvSpPr>
          <p:cNvPr id="22" name="Text 20"/>
          <p:cNvSpPr/>
          <p:nvPr/>
        </p:nvSpPr>
        <p:spPr>
          <a:xfrm>
            <a:off x="548640" y="5056632"/>
            <a:ext cx="457200" cy="457200"/>
          </a:xfrm>
          <a:prstGeom prst="rect">
            <a:avLst/>
          </a:prstGeom>
          <a:noFill/>
          <a:ln/>
        </p:spPr>
        <p:txBody>
          <a:bodyPr wrap="square" lIns="0" tIns="0" rIns="0" bIns="0" rtlCol="0" anchor="ctr"/>
          <a:lstStyle/>
          <a:p>
            <a:pPr marL="0" indent="0" algn="ctr">
              <a:buNone/>
            </a:pPr>
            <a:r>
              <a:rPr lang="en-US" sz="2000" dirty="0">
                <a:solidFill>
                  <a:srgbClr val="000000"/>
                </a:solidFill>
                <a:latin typeface="Segoe UI Emoji" pitchFamily="34" charset="0"/>
                <a:ea typeface="Segoe UI Emoji" pitchFamily="34" charset="-122"/>
                <a:cs typeface="Segoe UI Emoji" pitchFamily="34" charset="-120"/>
              </a:rPr>
              <a:t>🗂</a:t>
            </a:r>
            <a:endParaRPr lang="en-US" sz="2000" dirty="0"/>
          </a:p>
        </p:txBody>
      </p:sp>
      <p:sp>
        <p:nvSpPr>
          <p:cNvPr id="23" name="Text 21"/>
          <p:cNvSpPr/>
          <p:nvPr/>
        </p:nvSpPr>
        <p:spPr>
          <a:xfrm>
            <a:off x="1115568" y="5056632"/>
            <a:ext cx="2496312" cy="320040"/>
          </a:xfrm>
          <a:prstGeom prst="rect">
            <a:avLst/>
          </a:prstGeom>
          <a:noFill/>
          <a:ln/>
        </p:spPr>
        <p:txBody>
          <a:bodyPr wrap="square" lIns="0" tIns="0" rIns="0" bIns="0" rtlCol="0" anchor="ctr"/>
          <a:lstStyle/>
          <a:p>
            <a:pPr marL="0" indent="0">
              <a:buNone/>
            </a:pPr>
            <a:r>
              <a:rPr lang="en-US" sz="1250" b="1" dirty="0">
                <a:solidFill>
                  <a:srgbClr val="1F1B3A"/>
                </a:solidFill>
                <a:latin typeface="Calibri" pitchFamily="34" charset="0"/>
                <a:ea typeface="Calibri" pitchFamily="34" charset="-122"/>
                <a:cs typeface="Calibri" pitchFamily="34" charset="-120"/>
              </a:rPr>
              <a:t>Category Filters</a:t>
            </a:r>
            <a:endParaRPr lang="en-US" sz="1250" dirty="0"/>
          </a:p>
        </p:txBody>
      </p:sp>
      <p:sp>
        <p:nvSpPr>
          <p:cNvPr id="24" name="Text 22"/>
          <p:cNvSpPr/>
          <p:nvPr/>
        </p:nvSpPr>
        <p:spPr>
          <a:xfrm>
            <a:off x="1115568" y="5376672"/>
            <a:ext cx="2496312" cy="640080"/>
          </a:xfrm>
          <a:prstGeom prst="rect">
            <a:avLst/>
          </a:prstGeom>
          <a:noFill/>
          <a:ln/>
        </p:spPr>
        <p:txBody>
          <a:bodyPr wrap="square" lIns="0" tIns="0" rIns="0" bIns="0" rtlCol="0" anchor="t"/>
          <a:lstStyle/>
          <a:p>
            <a:pPr marL="0" indent="0">
              <a:buNone/>
            </a:pPr>
            <a:r>
              <a:rPr lang="en-US" sz="1000" dirty="0">
                <a:solidFill>
                  <a:srgbClr val="6B6480"/>
                </a:solidFill>
                <a:latin typeface="Calibri" pitchFamily="34" charset="0"/>
                <a:ea typeface="Calibri" pitchFamily="34" charset="-122"/>
                <a:cs typeface="Calibri" pitchFamily="34" charset="-120"/>
              </a:rPr>
              <a:t>Browse news by any of 22 interests.</a:t>
            </a:r>
            <a:endParaRPr lang="en-US" sz="1000" dirty="0"/>
          </a:p>
        </p:txBody>
      </p:sp>
      <p:sp>
        <p:nvSpPr>
          <p:cNvPr id="26" name="Text 24"/>
          <p:cNvSpPr/>
          <p:nvPr/>
        </p:nvSpPr>
        <p:spPr>
          <a:xfrm>
            <a:off x="3840480" y="5056632"/>
            <a:ext cx="457200" cy="457200"/>
          </a:xfrm>
          <a:prstGeom prst="rect">
            <a:avLst/>
          </a:prstGeom>
          <a:noFill/>
          <a:ln/>
        </p:spPr>
        <p:txBody>
          <a:bodyPr wrap="square" lIns="0" tIns="0" rIns="0" bIns="0" rtlCol="0" anchor="ctr"/>
          <a:lstStyle/>
          <a:p>
            <a:pPr marL="0" indent="0" algn="ctr">
              <a:buNone/>
            </a:pPr>
            <a:endParaRPr lang="en-US" sz="2000" dirty="0"/>
          </a:p>
        </p:txBody>
      </p:sp>
      <p:sp>
        <p:nvSpPr>
          <p:cNvPr id="27" name="Text 25"/>
          <p:cNvSpPr/>
          <p:nvPr/>
        </p:nvSpPr>
        <p:spPr>
          <a:xfrm>
            <a:off x="4407408" y="5056632"/>
            <a:ext cx="2496312" cy="320040"/>
          </a:xfrm>
          <a:prstGeom prst="rect">
            <a:avLst/>
          </a:prstGeom>
          <a:noFill/>
          <a:ln/>
        </p:spPr>
        <p:txBody>
          <a:bodyPr wrap="square" lIns="0" tIns="0" rIns="0" bIns="0" rtlCol="0" anchor="ctr"/>
          <a:lstStyle/>
          <a:p>
            <a:pPr marL="0" indent="0">
              <a:buNone/>
            </a:pPr>
            <a:endParaRPr lang="en-US" sz="1250" dirty="0"/>
          </a:p>
        </p:txBody>
      </p:sp>
      <p:sp>
        <p:nvSpPr>
          <p:cNvPr id="28" name="Text 26"/>
          <p:cNvSpPr/>
          <p:nvPr/>
        </p:nvSpPr>
        <p:spPr>
          <a:xfrm>
            <a:off x="4407408" y="5376672"/>
            <a:ext cx="2496312" cy="640080"/>
          </a:xfrm>
          <a:prstGeom prst="rect">
            <a:avLst/>
          </a:prstGeom>
          <a:noFill/>
          <a:ln/>
        </p:spPr>
        <p:txBody>
          <a:bodyPr wrap="square" lIns="0" tIns="0" rIns="0" bIns="0" rtlCol="0" anchor="t"/>
          <a:lstStyle/>
          <a:p>
            <a:pPr marL="0" indent="0">
              <a:buNone/>
            </a:pPr>
            <a:endParaRPr lang="en-US" sz="1000" dirty="0"/>
          </a:p>
        </p:txBody>
      </p:sp>
      <p:sp>
        <p:nvSpPr>
          <p:cNvPr id="29" name="Shape 27"/>
          <p:cNvSpPr/>
          <p:nvPr/>
        </p:nvSpPr>
        <p:spPr>
          <a:xfrm>
            <a:off x="548640" y="6812280"/>
            <a:ext cx="457200" cy="457200"/>
          </a:xfrm>
          <a:prstGeom prst="ellipse">
            <a:avLst/>
          </a:prstGeom>
          <a:solidFill>
            <a:srgbClr val="6C3CE9"/>
          </a:solidFill>
          <a:ln/>
        </p:spPr>
      </p:sp>
      <p:sp>
        <p:nvSpPr>
          <p:cNvPr id="30" name="Text 28"/>
          <p:cNvSpPr/>
          <p:nvPr/>
        </p:nvSpPr>
        <p:spPr>
          <a:xfrm>
            <a:off x="548640" y="6793992"/>
            <a:ext cx="457200" cy="457200"/>
          </a:xfrm>
          <a:prstGeom prst="rect">
            <a:avLst/>
          </a:prstGeom>
          <a:noFill/>
          <a:ln/>
        </p:spPr>
        <p:txBody>
          <a:bodyPr wrap="square" lIns="0" tIns="0" rIns="0" bIns="0" rtlCol="0" anchor="ctr"/>
          <a:lstStyle/>
          <a:p>
            <a:pPr marL="0" indent="0" algn="ctr">
              <a:buNone/>
            </a:pPr>
            <a:r>
              <a:rPr lang="en-US" sz="2000" dirty="0">
                <a:solidFill>
                  <a:srgbClr val="000000"/>
                </a:solidFill>
                <a:latin typeface="Segoe UI Emoji" pitchFamily="34" charset="0"/>
                <a:ea typeface="Segoe UI Emoji" pitchFamily="34" charset="-122"/>
                <a:cs typeface="Segoe UI Emoji" pitchFamily="34" charset="-120"/>
              </a:rPr>
              <a:t>🎬</a:t>
            </a:r>
            <a:endParaRPr lang="en-US" sz="2000" dirty="0"/>
          </a:p>
        </p:txBody>
      </p:sp>
      <p:sp>
        <p:nvSpPr>
          <p:cNvPr id="31" name="Text 29"/>
          <p:cNvSpPr/>
          <p:nvPr/>
        </p:nvSpPr>
        <p:spPr>
          <a:xfrm>
            <a:off x="1115568" y="6793992"/>
            <a:ext cx="2496312" cy="320040"/>
          </a:xfrm>
          <a:prstGeom prst="rect">
            <a:avLst/>
          </a:prstGeom>
          <a:noFill/>
          <a:ln/>
        </p:spPr>
        <p:txBody>
          <a:bodyPr wrap="square" lIns="0" tIns="0" rIns="0" bIns="0" rtlCol="0" anchor="ctr"/>
          <a:lstStyle/>
          <a:p>
            <a:pPr marL="0" indent="0">
              <a:buNone/>
            </a:pPr>
            <a:r>
              <a:rPr lang="en-US" sz="1250" b="1" dirty="0">
                <a:solidFill>
                  <a:srgbClr val="1F1B3A"/>
                </a:solidFill>
                <a:latin typeface="Calibri" pitchFamily="34" charset="0"/>
                <a:ea typeface="Calibri" pitchFamily="34" charset="-122"/>
                <a:cs typeface="Calibri" pitchFamily="34" charset="-120"/>
              </a:rPr>
              <a:t>Smooth Animations</a:t>
            </a:r>
            <a:endParaRPr lang="en-US" sz="1250" dirty="0"/>
          </a:p>
        </p:txBody>
      </p:sp>
      <p:sp>
        <p:nvSpPr>
          <p:cNvPr id="32" name="Text 30"/>
          <p:cNvSpPr/>
          <p:nvPr/>
        </p:nvSpPr>
        <p:spPr>
          <a:xfrm>
            <a:off x="1115568" y="7114032"/>
            <a:ext cx="2496312" cy="640080"/>
          </a:xfrm>
          <a:prstGeom prst="rect">
            <a:avLst/>
          </a:prstGeom>
          <a:noFill/>
          <a:ln/>
        </p:spPr>
        <p:txBody>
          <a:bodyPr wrap="square" lIns="0" tIns="0" rIns="0" bIns="0" rtlCol="0" anchor="t"/>
          <a:lstStyle/>
          <a:p>
            <a:pPr marL="0" indent="0">
              <a:buNone/>
            </a:pPr>
            <a:r>
              <a:rPr lang="en-US" sz="1000" dirty="0">
                <a:solidFill>
                  <a:srgbClr val="6B6480"/>
                </a:solidFill>
                <a:latin typeface="Calibri" pitchFamily="34" charset="0"/>
                <a:ea typeface="Calibri" pitchFamily="34" charset="-122"/>
                <a:cs typeface="Calibri" pitchFamily="34" charset="-120"/>
              </a:rPr>
              <a:t>Staggered fade-ins &amp; hover transitions.</a:t>
            </a:r>
            <a:endParaRPr lang="en-US" sz="1000" dirty="0"/>
          </a:p>
        </p:txBody>
      </p:sp>
      <p:sp>
        <p:nvSpPr>
          <p:cNvPr id="33" name="Shape 31"/>
          <p:cNvSpPr/>
          <p:nvPr/>
        </p:nvSpPr>
        <p:spPr>
          <a:xfrm>
            <a:off x="3840480" y="6812280"/>
            <a:ext cx="457200" cy="457200"/>
          </a:xfrm>
          <a:prstGeom prst="ellipse">
            <a:avLst/>
          </a:prstGeom>
          <a:solidFill>
            <a:srgbClr val="6C3CE9"/>
          </a:solidFill>
          <a:ln/>
        </p:spPr>
      </p:sp>
      <p:sp>
        <p:nvSpPr>
          <p:cNvPr id="34" name="Text 32"/>
          <p:cNvSpPr/>
          <p:nvPr/>
        </p:nvSpPr>
        <p:spPr>
          <a:xfrm>
            <a:off x="3840480" y="6793992"/>
            <a:ext cx="457200" cy="457200"/>
          </a:xfrm>
          <a:prstGeom prst="rect">
            <a:avLst/>
          </a:prstGeom>
          <a:noFill/>
          <a:ln/>
        </p:spPr>
        <p:txBody>
          <a:bodyPr wrap="square" lIns="0" tIns="0" rIns="0" bIns="0" rtlCol="0" anchor="ctr"/>
          <a:lstStyle/>
          <a:p>
            <a:pPr marL="0" indent="0" algn="ctr">
              <a:buNone/>
            </a:pPr>
            <a:r>
              <a:rPr lang="en-US" sz="2000" dirty="0">
                <a:solidFill>
                  <a:srgbClr val="000000"/>
                </a:solidFill>
                <a:latin typeface="Segoe UI Emoji" pitchFamily="34" charset="0"/>
                <a:ea typeface="Segoe UI Emoji" pitchFamily="34" charset="-122"/>
                <a:cs typeface="Segoe UI Emoji" pitchFamily="34" charset="-120"/>
              </a:rPr>
              <a:t>🔔</a:t>
            </a:r>
            <a:endParaRPr lang="en-US" sz="2000" dirty="0"/>
          </a:p>
        </p:txBody>
      </p:sp>
      <p:sp>
        <p:nvSpPr>
          <p:cNvPr id="35" name="Text 33"/>
          <p:cNvSpPr/>
          <p:nvPr/>
        </p:nvSpPr>
        <p:spPr>
          <a:xfrm>
            <a:off x="4407408" y="6793992"/>
            <a:ext cx="2496312" cy="320040"/>
          </a:xfrm>
          <a:prstGeom prst="rect">
            <a:avLst/>
          </a:prstGeom>
          <a:noFill/>
          <a:ln/>
        </p:spPr>
        <p:txBody>
          <a:bodyPr wrap="square" lIns="0" tIns="0" rIns="0" bIns="0" rtlCol="0" anchor="ctr"/>
          <a:lstStyle/>
          <a:p>
            <a:pPr marL="0" indent="0">
              <a:buNone/>
            </a:pPr>
            <a:r>
              <a:rPr lang="en-US" sz="1250" b="1" dirty="0">
                <a:solidFill>
                  <a:srgbClr val="1F1B3A"/>
                </a:solidFill>
                <a:latin typeface="Calibri" pitchFamily="34" charset="0"/>
                <a:ea typeface="Calibri" pitchFamily="34" charset="-122"/>
                <a:cs typeface="Calibri" pitchFamily="34" charset="-120"/>
              </a:rPr>
              <a:t>Toast Notifications</a:t>
            </a:r>
            <a:endParaRPr lang="en-US" sz="1250" dirty="0"/>
          </a:p>
        </p:txBody>
      </p:sp>
      <p:sp>
        <p:nvSpPr>
          <p:cNvPr id="36" name="Text 34"/>
          <p:cNvSpPr/>
          <p:nvPr/>
        </p:nvSpPr>
        <p:spPr>
          <a:xfrm>
            <a:off x="4407408" y="7114032"/>
            <a:ext cx="2496312" cy="640080"/>
          </a:xfrm>
          <a:prstGeom prst="rect">
            <a:avLst/>
          </a:prstGeom>
          <a:noFill/>
          <a:ln/>
        </p:spPr>
        <p:txBody>
          <a:bodyPr wrap="square" lIns="0" tIns="0" rIns="0" bIns="0" rtlCol="0" anchor="t"/>
          <a:lstStyle/>
          <a:p>
            <a:pPr marL="0" indent="0">
              <a:buNone/>
            </a:pPr>
            <a:r>
              <a:rPr lang="en-US" sz="1000" dirty="0">
                <a:solidFill>
                  <a:srgbClr val="6B6480"/>
                </a:solidFill>
                <a:latin typeface="Calibri" pitchFamily="34" charset="0"/>
                <a:ea typeface="Calibri" pitchFamily="34" charset="-122"/>
                <a:cs typeface="Calibri" pitchFamily="34" charset="-120"/>
              </a:rPr>
              <a:t>Instant feedback for bookmarks &amp; errors.</a:t>
            </a:r>
            <a:endParaRPr lang="en-US" sz="1000" dirty="0"/>
          </a:p>
        </p:txBody>
      </p:sp>
      <p:sp>
        <p:nvSpPr>
          <p:cNvPr id="37" name="Shape 35"/>
          <p:cNvSpPr/>
          <p:nvPr/>
        </p:nvSpPr>
        <p:spPr>
          <a:xfrm>
            <a:off x="7360920" y="1600200"/>
            <a:ext cx="4279392" cy="4709160"/>
          </a:xfrm>
          <a:prstGeom prst="roundRect">
            <a:avLst>
              <a:gd name="adj" fmla="val 1709"/>
            </a:avLst>
          </a:prstGeom>
          <a:solidFill>
            <a:srgbClr val="FBFAFE"/>
          </a:solidFill>
          <a:ln w="19050">
            <a:solidFill>
              <a:srgbClr val="C9BFEA"/>
            </a:solidFill>
            <a:prstDash val="dash"/>
          </a:ln>
        </p:spPr>
      </p:sp>
      <p:sp>
        <p:nvSpPr>
          <p:cNvPr id="38" name="Text 36"/>
          <p:cNvSpPr/>
          <p:nvPr/>
        </p:nvSpPr>
        <p:spPr>
          <a:xfrm>
            <a:off x="7360920" y="3680460"/>
            <a:ext cx="4279392" cy="548640"/>
          </a:xfrm>
          <a:prstGeom prst="rect">
            <a:avLst/>
          </a:prstGeom>
          <a:noFill/>
          <a:ln/>
        </p:spPr>
        <p:txBody>
          <a:bodyPr wrap="square" lIns="0" tIns="0" rIns="0" bIns="0" rtlCol="0" anchor="ctr"/>
          <a:lstStyle/>
          <a:p>
            <a:pPr marL="0" indent="0" algn="ctr">
              <a:buNone/>
            </a:pPr>
            <a:r>
              <a:rPr lang="en-US" sz="2000" dirty="0">
                <a:solidFill>
                  <a:srgbClr val="000000"/>
                </a:solidFill>
              </a:rPr>
              <a:t>📷  </a:t>
            </a:r>
            <a:r>
              <a:rPr lang="en-US" sz="1200" i="1" dirty="0">
                <a:solidFill>
                  <a:srgbClr val="6B6480"/>
                </a:solidFill>
                <a:latin typeface="Calibri" pitchFamily="34" charset="0"/>
                <a:ea typeface="Calibri" pitchFamily="34" charset="-122"/>
                <a:cs typeface="Calibri" pitchFamily="34" charset="-120"/>
              </a:rPr>
              <a:t>Insert Homepage / Onboarding Screenshot Here</a:t>
            </a:r>
            <a:endParaRPr lang="en-US" sz="2000" dirty="0"/>
          </a:p>
        </p:txBody>
      </p:sp>
      <p:sp>
        <p:nvSpPr>
          <p:cNvPr id="39" name="Text 37"/>
          <p:cNvSpPr/>
          <p:nvPr/>
        </p:nvSpPr>
        <p:spPr>
          <a:xfrm>
            <a:off x="548640" y="6528816"/>
            <a:ext cx="2743200" cy="274320"/>
          </a:xfrm>
          <a:prstGeom prst="rect">
            <a:avLst/>
          </a:prstGeom>
          <a:noFill/>
          <a:ln/>
        </p:spPr>
        <p:txBody>
          <a:bodyPr wrap="square" lIns="0" tIns="0" rIns="0" bIns="0" rtlCol="0" anchor="ctr"/>
          <a:lstStyle/>
          <a:p>
            <a:pPr marL="0" indent="0" algn="l">
              <a:buNone/>
            </a:pPr>
            <a:r>
              <a:rPr lang="en-US" sz="1000" dirty="0">
                <a:solidFill>
                  <a:srgbClr val="6B6480"/>
                </a:solidFill>
                <a:latin typeface="Calibri" pitchFamily="34" charset="0"/>
                <a:ea typeface="Calibri" pitchFamily="34" charset="-122"/>
                <a:cs typeface="Calibri" pitchFamily="34" charset="-120"/>
              </a:rPr>
              <a:t>NewsNest</a:t>
            </a:r>
            <a:endParaRPr lang="en-US" sz="1000" dirty="0"/>
          </a:p>
        </p:txBody>
      </p:sp>
      <p:sp>
        <p:nvSpPr>
          <p:cNvPr id="40" name="Text 38"/>
          <p:cNvSpPr/>
          <p:nvPr/>
        </p:nvSpPr>
        <p:spPr>
          <a:xfrm>
            <a:off x="11183112" y="6528816"/>
            <a:ext cx="457200" cy="274320"/>
          </a:xfrm>
          <a:prstGeom prst="rect">
            <a:avLst/>
          </a:prstGeom>
          <a:noFill/>
          <a:ln/>
        </p:spPr>
        <p:txBody>
          <a:bodyPr wrap="square" lIns="0" tIns="0" rIns="0" bIns="0" rtlCol="0" anchor="ctr"/>
          <a:lstStyle/>
          <a:p>
            <a:pPr marL="0" indent="0" algn="r">
              <a:buNone/>
            </a:pPr>
            <a:r>
              <a:rPr lang="en-US" sz="1000" dirty="0">
                <a:solidFill>
                  <a:srgbClr val="6B6480"/>
                </a:solidFill>
                <a:latin typeface="Calibri" pitchFamily="34" charset="0"/>
                <a:ea typeface="Calibri" pitchFamily="34" charset="-122"/>
                <a:cs typeface="Calibri" pitchFamily="34" charset="-120"/>
              </a:rPr>
              <a:t>11</a:t>
            </a:r>
            <a:endParaRPr lang="en-US" sz="1000" dirty="0"/>
          </a:p>
        </p:txBody>
      </p:sp>
      <p:pic>
        <p:nvPicPr>
          <p:cNvPr id="42" name="Picture 41">
            <a:extLst>
              <a:ext uri="{FF2B5EF4-FFF2-40B4-BE49-F238E27FC236}">
                <a16:creationId xmlns:a16="http://schemas.microsoft.com/office/drawing/2014/main" id="{A235F008-5380-9B1D-8218-6FCEDAA67D1C}"/>
              </a:ext>
            </a:extLst>
          </p:cNvPr>
          <p:cNvPicPr>
            <a:picLocks noChangeAspect="1"/>
          </p:cNvPicPr>
          <p:nvPr/>
        </p:nvPicPr>
        <p:blipFill>
          <a:blip r:embed="rId3"/>
          <a:stretch>
            <a:fillRect/>
          </a:stretch>
        </p:blipFill>
        <p:spPr>
          <a:xfrm>
            <a:off x="6602187" y="1289304"/>
            <a:ext cx="5524500" cy="507339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91672" cy="685800"/>
          </a:xfrm>
          <a:prstGeom prst="rect">
            <a:avLst/>
          </a:prstGeom>
          <a:noFill/>
          <a:ln/>
        </p:spPr>
        <p:txBody>
          <a:bodyPr wrap="square" lIns="0" tIns="0" rIns="0" bIns="0" rtlCol="0" anchor="ctr"/>
          <a:lstStyle/>
          <a:p>
            <a:pPr marL="0" indent="0" algn="l">
              <a:buNone/>
            </a:pPr>
            <a:r>
              <a:rPr lang="en-US" sz="3200" b="1" dirty="0">
                <a:solidFill>
                  <a:srgbClr val="2A1B5D"/>
                </a:solidFill>
                <a:latin typeface="Cambria" pitchFamily="34" charset="0"/>
                <a:ea typeface="Cambria" pitchFamily="34" charset="-122"/>
                <a:cs typeface="Cambria" pitchFamily="34" charset="-120"/>
              </a:rPr>
              <a:t>Backend Features</a:t>
            </a:r>
            <a:endParaRPr lang="en-US" sz="3200" dirty="0"/>
          </a:p>
        </p:txBody>
      </p:sp>
      <p:sp>
        <p:nvSpPr>
          <p:cNvPr id="3" name="Shape 1"/>
          <p:cNvSpPr/>
          <p:nvPr/>
        </p:nvSpPr>
        <p:spPr>
          <a:xfrm>
            <a:off x="548640" y="1042416"/>
            <a:ext cx="502920" cy="41148"/>
          </a:xfrm>
          <a:prstGeom prst="rect">
            <a:avLst/>
          </a:prstGeom>
          <a:solidFill>
            <a:srgbClr val="EC4899"/>
          </a:solidFill>
          <a:ln/>
        </p:spPr>
      </p:sp>
      <p:sp>
        <p:nvSpPr>
          <p:cNvPr id="4" name="Text 2"/>
          <p:cNvSpPr/>
          <p:nvPr/>
        </p:nvSpPr>
        <p:spPr>
          <a:xfrm>
            <a:off x="548640" y="1097280"/>
            <a:ext cx="11091672" cy="365760"/>
          </a:xfrm>
          <a:prstGeom prst="rect">
            <a:avLst/>
          </a:prstGeom>
          <a:noFill/>
          <a:ln/>
        </p:spPr>
        <p:txBody>
          <a:bodyPr wrap="square" lIns="0" tIns="0" rIns="0" bIns="0" rtlCol="0" anchor="ctr"/>
          <a:lstStyle/>
          <a:p>
            <a:pPr marL="0" indent="0" algn="l">
              <a:buNone/>
            </a:pPr>
            <a:r>
              <a:rPr lang="en-US" sz="1400" i="1" dirty="0">
                <a:solidFill>
                  <a:srgbClr val="6B6480"/>
                </a:solidFill>
                <a:latin typeface="Calibri" pitchFamily="34" charset="0"/>
                <a:ea typeface="Calibri" pitchFamily="34" charset="-122"/>
                <a:cs typeface="Calibri" pitchFamily="34" charset="-120"/>
              </a:rPr>
              <a:t>What the API Gateway and services handle under the hood</a:t>
            </a:r>
            <a:endParaRPr lang="en-US" sz="1400" dirty="0"/>
          </a:p>
        </p:txBody>
      </p:sp>
      <p:sp>
        <p:nvSpPr>
          <p:cNvPr id="5" name="Shape 3"/>
          <p:cNvSpPr/>
          <p:nvPr/>
        </p:nvSpPr>
        <p:spPr>
          <a:xfrm>
            <a:off x="548640" y="1554480"/>
            <a:ext cx="3483864" cy="1298448"/>
          </a:xfrm>
          <a:prstGeom prst="roundRect">
            <a:avLst>
              <a:gd name="adj" fmla="val 7042"/>
            </a:avLst>
          </a:prstGeom>
          <a:solidFill>
            <a:srgbClr val="F6F4FC"/>
          </a:solidFill>
          <a:ln/>
          <a:effectLst>
            <a:outerShdw blurRad="76200" dist="25400" dir="5400000" algn="bl" rotWithShape="0">
              <a:srgbClr val="3A2E6E">
                <a:alpha val="12000"/>
              </a:srgbClr>
            </a:outerShdw>
          </a:effectLst>
        </p:spPr>
      </p:sp>
      <p:sp>
        <p:nvSpPr>
          <p:cNvPr id="6" name="Shape 4"/>
          <p:cNvSpPr/>
          <p:nvPr/>
        </p:nvSpPr>
        <p:spPr>
          <a:xfrm>
            <a:off x="749808" y="1755648"/>
            <a:ext cx="502920" cy="502920"/>
          </a:xfrm>
          <a:prstGeom prst="ellipse">
            <a:avLst/>
          </a:prstGeom>
          <a:solidFill>
            <a:srgbClr val="6C3CE9"/>
          </a:solidFill>
          <a:ln/>
        </p:spPr>
      </p:sp>
      <p:sp>
        <p:nvSpPr>
          <p:cNvPr id="7" name="Text 5"/>
          <p:cNvSpPr/>
          <p:nvPr/>
        </p:nvSpPr>
        <p:spPr>
          <a:xfrm>
            <a:off x="749808" y="1737360"/>
            <a:ext cx="502920" cy="502920"/>
          </a:xfrm>
          <a:prstGeom prst="rect">
            <a:avLst/>
          </a:prstGeom>
          <a:noFill/>
          <a:ln/>
        </p:spPr>
        <p:txBody>
          <a:bodyPr wrap="square" lIns="0" tIns="0" rIns="0" bIns="0" rtlCol="0" anchor="ctr"/>
          <a:lstStyle/>
          <a:p>
            <a:pPr marL="0" indent="0" algn="ctr">
              <a:buNone/>
            </a:pPr>
            <a:r>
              <a:rPr lang="en-US" sz="1400" dirty="0">
                <a:solidFill>
                  <a:srgbClr val="000000"/>
                </a:solidFill>
                <a:latin typeface="Segoe UI Emoji" pitchFamily="34" charset="0"/>
                <a:ea typeface="Segoe UI Emoji" pitchFamily="34" charset="-122"/>
                <a:cs typeface="Segoe UI Emoji" pitchFamily="34" charset="-120"/>
              </a:rPr>
              <a:t>🚪</a:t>
            </a:r>
            <a:endParaRPr lang="en-US" sz="1400" dirty="0"/>
          </a:p>
        </p:txBody>
      </p:sp>
      <p:sp>
        <p:nvSpPr>
          <p:cNvPr id="8" name="Text 6"/>
          <p:cNvSpPr/>
          <p:nvPr/>
        </p:nvSpPr>
        <p:spPr>
          <a:xfrm>
            <a:off x="1417320" y="1700784"/>
            <a:ext cx="2432304" cy="365760"/>
          </a:xfrm>
          <a:prstGeom prst="rect">
            <a:avLst/>
          </a:prstGeom>
          <a:noFill/>
          <a:ln/>
        </p:spPr>
        <p:txBody>
          <a:bodyPr wrap="square" lIns="0" tIns="0" rIns="0" bIns="0" rtlCol="0" anchor="ctr"/>
          <a:lstStyle/>
          <a:p>
            <a:pPr marL="0" indent="0">
              <a:buNone/>
            </a:pPr>
            <a:r>
              <a:rPr lang="en-US" sz="1500" b="1" dirty="0">
                <a:solidFill>
                  <a:srgbClr val="1F1B3A"/>
                </a:solidFill>
                <a:latin typeface="Calibri" pitchFamily="34" charset="0"/>
                <a:ea typeface="Calibri" pitchFamily="34" charset="-122"/>
                <a:cs typeface="Calibri" pitchFamily="34" charset="-120"/>
              </a:rPr>
              <a:t>API Gateway</a:t>
            </a:r>
            <a:endParaRPr lang="en-US" sz="1500" dirty="0"/>
          </a:p>
        </p:txBody>
      </p:sp>
      <p:sp>
        <p:nvSpPr>
          <p:cNvPr id="9" name="Text 7"/>
          <p:cNvSpPr/>
          <p:nvPr/>
        </p:nvSpPr>
        <p:spPr>
          <a:xfrm>
            <a:off x="749808" y="2240280"/>
            <a:ext cx="3081528" cy="475488"/>
          </a:xfrm>
          <a:prstGeom prst="rect">
            <a:avLst/>
          </a:prstGeom>
          <a:noFill/>
          <a:ln/>
        </p:spPr>
        <p:txBody>
          <a:bodyPr wrap="square" lIns="0" tIns="0" rIns="0" bIns="0" rtlCol="0" anchor="t"/>
          <a:lstStyle/>
          <a:p>
            <a:pPr marL="0" indent="0">
              <a:buNone/>
            </a:pPr>
            <a:r>
              <a:rPr lang="en-US" sz="1150" dirty="0">
                <a:solidFill>
                  <a:srgbClr val="6B6480"/>
                </a:solidFill>
                <a:latin typeface="Calibri" pitchFamily="34" charset="0"/>
                <a:ea typeface="Calibri" pitchFamily="34" charset="-122"/>
                <a:cs typeface="Calibri" pitchFamily="34" charset="-120"/>
              </a:rPr>
              <a:t>Single entry point for every frontend request.</a:t>
            </a:r>
            <a:endParaRPr lang="en-US" sz="1150" dirty="0"/>
          </a:p>
        </p:txBody>
      </p:sp>
      <p:sp>
        <p:nvSpPr>
          <p:cNvPr id="10" name="Shape 8"/>
          <p:cNvSpPr/>
          <p:nvPr/>
        </p:nvSpPr>
        <p:spPr>
          <a:xfrm>
            <a:off x="4352544" y="1554480"/>
            <a:ext cx="3483864" cy="1298448"/>
          </a:xfrm>
          <a:prstGeom prst="roundRect">
            <a:avLst>
              <a:gd name="adj" fmla="val 7042"/>
            </a:avLst>
          </a:prstGeom>
          <a:solidFill>
            <a:srgbClr val="F6F4FC"/>
          </a:solidFill>
          <a:ln/>
          <a:effectLst>
            <a:outerShdw blurRad="76200" dist="25400" dir="5400000" algn="bl" rotWithShape="0">
              <a:srgbClr val="3A2E6E">
                <a:alpha val="12000"/>
              </a:srgbClr>
            </a:outerShdw>
          </a:effectLst>
        </p:spPr>
      </p:sp>
      <p:sp>
        <p:nvSpPr>
          <p:cNvPr id="11" name="Shape 9"/>
          <p:cNvSpPr/>
          <p:nvPr/>
        </p:nvSpPr>
        <p:spPr>
          <a:xfrm>
            <a:off x="4553712" y="1755648"/>
            <a:ext cx="502920" cy="502920"/>
          </a:xfrm>
          <a:prstGeom prst="ellipse">
            <a:avLst/>
          </a:prstGeom>
          <a:solidFill>
            <a:srgbClr val="6C3CE9"/>
          </a:solidFill>
          <a:ln/>
        </p:spPr>
      </p:sp>
      <p:sp>
        <p:nvSpPr>
          <p:cNvPr id="12" name="Text 10"/>
          <p:cNvSpPr/>
          <p:nvPr/>
        </p:nvSpPr>
        <p:spPr>
          <a:xfrm>
            <a:off x="4553712" y="1737360"/>
            <a:ext cx="502920" cy="502920"/>
          </a:xfrm>
          <a:prstGeom prst="rect">
            <a:avLst/>
          </a:prstGeom>
          <a:noFill/>
          <a:ln/>
        </p:spPr>
        <p:txBody>
          <a:bodyPr wrap="square" lIns="0" tIns="0" rIns="0" bIns="0" rtlCol="0" anchor="ctr"/>
          <a:lstStyle/>
          <a:p>
            <a:pPr marL="0" indent="0" algn="ctr">
              <a:buNone/>
            </a:pPr>
            <a:r>
              <a:rPr lang="en-US" sz="1400" dirty="0">
                <a:solidFill>
                  <a:srgbClr val="000000"/>
                </a:solidFill>
                <a:latin typeface="Segoe UI Emoji" pitchFamily="34" charset="0"/>
                <a:ea typeface="Segoe UI Emoji" pitchFamily="34" charset="-122"/>
                <a:cs typeface="Segoe UI Emoji" pitchFamily="34" charset="-120"/>
              </a:rPr>
              <a:t>🔗</a:t>
            </a:r>
            <a:endParaRPr lang="en-US" sz="1400" dirty="0"/>
          </a:p>
        </p:txBody>
      </p:sp>
      <p:sp>
        <p:nvSpPr>
          <p:cNvPr id="13" name="Text 11"/>
          <p:cNvSpPr/>
          <p:nvPr/>
        </p:nvSpPr>
        <p:spPr>
          <a:xfrm>
            <a:off x="5221224" y="1700784"/>
            <a:ext cx="2432304" cy="365760"/>
          </a:xfrm>
          <a:prstGeom prst="rect">
            <a:avLst/>
          </a:prstGeom>
          <a:noFill/>
          <a:ln/>
        </p:spPr>
        <p:txBody>
          <a:bodyPr wrap="square" lIns="0" tIns="0" rIns="0" bIns="0" rtlCol="0" anchor="ctr"/>
          <a:lstStyle/>
          <a:p>
            <a:pPr marL="0" indent="0">
              <a:buNone/>
            </a:pPr>
            <a:r>
              <a:rPr lang="en-US" sz="1500" b="1" dirty="0">
                <a:solidFill>
                  <a:srgbClr val="1F1B3A"/>
                </a:solidFill>
                <a:latin typeface="Calibri" pitchFamily="34" charset="0"/>
                <a:ea typeface="Calibri" pitchFamily="34" charset="-122"/>
                <a:cs typeface="Calibri" pitchFamily="34" charset="-120"/>
              </a:rPr>
              <a:t>REST APIs</a:t>
            </a:r>
            <a:endParaRPr lang="en-US" sz="1500" dirty="0"/>
          </a:p>
        </p:txBody>
      </p:sp>
      <p:sp>
        <p:nvSpPr>
          <p:cNvPr id="14" name="Text 12"/>
          <p:cNvSpPr/>
          <p:nvPr/>
        </p:nvSpPr>
        <p:spPr>
          <a:xfrm>
            <a:off x="4553712" y="2240280"/>
            <a:ext cx="3081528" cy="475488"/>
          </a:xfrm>
          <a:prstGeom prst="rect">
            <a:avLst/>
          </a:prstGeom>
          <a:noFill/>
          <a:ln/>
        </p:spPr>
        <p:txBody>
          <a:bodyPr wrap="square" lIns="0" tIns="0" rIns="0" bIns="0" rtlCol="0" anchor="t"/>
          <a:lstStyle/>
          <a:p>
            <a:pPr marL="0" indent="0">
              <a:buNone/>
            </a:pPr>
            <a:r>
              <a:rPr lang="en-US" sz="1150" dirty="0">
                <a:solidFill>
                  <a:srgbClr val="6B6480"/>
                </a:solidFill>
                <a:latin typeface="Calibri" pitchFamily="34" charset="0"/>
                <a:ea typeface="Calibri" pitchFamily="34" charset="-122"/>
                <a:cs typeface="Calibri" pitchFamily="34" charset="-120"/>
              </a:rPr>
              <a:t>Clean, versioned endpoints (/api/v1/...).</a:t>
            </a:r>
            <a:endParaRPr lang="en-US" sz="1150" dirty="0"/>
          </a:p>
        </p:txBody>
      </p:sp>
      <p:sp>
        <p:nvSpPr>
          <p:cNvPr id="15" name="Shape 13"/>
          <p:cNvSpPr/>
          <p:nvPr/>
        </p:nvSpPr>
        <p:spPr>
          <a:xfrm>
            <a:off x="8156448" y="1554480"/>
            <a:ext cx="3483864" cy="1298448"/>
          </a:xfrm>
          <a:prstGeom prst="roundRect">
            <a:avLst>
              <a:gd name="adj" fmla="val 7042"/>
            </a:avLst>
          </a:prstGeom>
          <a:solidFill>
            <a:srgbClr val="F6F4FC"/>
          </a:solidFill>
          <a:ln/>
          <a:effectLst>
            <a:outerShdw blurRad="76200" dist="25400" dir="5400000" algn="bl" rotWithShape="0">
              <a:srgbClr val="3A2E6E">
                <a:alpha val="12000"/>
              </a:srgbClr>
            </a:outerShdw>
          </a:effectLst>
        </p:spPr>
      </p:sp>
      <p:sp>
        <p:nvSpPr>
          <p:cNvPr id="16" name="Shape 14"/>
          <p:cNvSpPr/>
          <p:nvPr/>
        </p:nvSpPr>
        <p:spPr>
          <a:xfrm>
            <a:off x="8357616" y="1755648"/>
            <a:ext cx="502920" cy="502920"/>
          </a:xfrm>
          <a:prstGeom prst="ellipse">
            <a:avLst/>
          </a:prstGeom>
          <a:solidFill>
            <a:srgbClr val="6C3CE9"/>
          </a:solidFill>
          <a:ln/>
        </p:spPr>
      </p:sp>
      <p:sp>
        <p:nvSpPr>
          <p:cNvPr id="17" name="Text 15"/>
          <p:cNvSpPr/>
          <p:nvPr/>
        </p:nvSpPr>
        <p:spPr>
          <a:xfrm>
            <a:off x="8357616" y="1737360"/>
            <a:ext cx="502920" cy="502920"/>
          </a:xfrm>
          <a:prstGeom prst="rect">
            <a:avLst/>
          </a:prstGeom>
          <a:noFill/>
          <a:ln/>
        </p:spPr>
        <p:txBody>
          <a:bodyPr wrap="square" lIns="0" tIns="0" rIns="0" bIns="0" rtlCol="0" anchor="ctr"/>
          <a:lstStyle/>
          <a:p>
            <a:pPr marL="0" indent="0" algn="ctr">
              <a:buNone/>
            </a:pPr>
            <a:r>
              <a:rPr lang="en-US" sz="1400" dirty="0">
                <a:solidFill>
                  <a:srgbClr val="000000"/>
                </a:solidFill>
                <a:latin typeface="Segoe UI Emoji" pitchFamily="34" charset="0"/>
                <a:ea typeface="Segoe UI Emoji" pitchFamily="34" charset="-122"/>
                <a:cs typeface="Segoe UI Emoji" pitchFamily="34" charset="-120"/>
              </a:rPr>
              <a:t>⚡</a:t>
            </a:r>
            <a:endParaRPr lang="en-US" sz="1400" dirty="0"/>
          </a:p>
        </p:txBody>
      </p:sp>
      <p:sp>
        <p:nvSpPr>
          <p:cNvPr id="18" name="Text 16"/>
          <p:cNvSpPr/>
          <p:nvPr/>
        </p:nvSpPr>
        <p:spPr>
          <a:xfrm>
            <a:off x="9025128" y="1700784"/>
            <a:ext cx="2432304" cy="365760"/>
          </a:xfrm>
          <a:prstGeom prst="rect">
            <a:avLst/>
          </a:prstGeom>
          <a:noFill/>
          <a:ln/>
        </p:spPr>
        <p:txBody>
          <a:bodyPr wrap="square" lIns="0" tIns="0" rIns="0" bIns="0" rtlCol="0" anchor="ctr"/>
          <a:lstStyle/>
          <a:p>
            <a:pPr marL="0" indent="0">
              <a:buNone/>
            </a:pPr>
            <a:r>
              <a:rPr lang="en-US" sz="1500" b="1" dirty="0">
                <a:solidFill>
                  <a:srgbClr val="1F1B3A"/>
                </a:solidFill>
                <a:latin typeface="Calibri" pitchFamily="34" charset="0"/>
                <a:ea typeface="Calibri" pitchFamily="34" charset="-122"/>
                <a:cs typeface="Calibri" pitchFamily="34" charset="-120"/>
              </a:rPr>
              <a:t>In-Memory Caching</a:t>
            </a:r>
            <a:endParaRPr lang="en-US" sz="1500" dirty="0"/>
          </a:p>
        </p:txBody>
      </p:sp>
      <p:sp>
        <p:nvSpPr>
          <p:cNvPr id="19" name="Text 17"/>
          <p:cNvSpPr/>
          <p:nvPr/>
        </p:nvSpPr>
        <p:spPr>
          <a:xfrm>
            <a:off x="8357616" y="2240280"/>
            <a:ext cx="3081528" cy="475488"/>
          </a:xfrm>
          <a:prstGeom prst="rect">
            <a:avLst/>
          </a:prstGeom>
          <a:noFill/>
          <a:ln/>
        </p:spPr>
        <p:txBody>
          <a:bodyPr wrap="square" lIns="0" tIns="0" rIns="0" bIns="0" rtlCol="0" anchor="t"/>
          <a:lstStyle/>
          <a:p>
            <a:pPr marL="0" indent="0">
              <a:buNone/>
            </a:pPr>
            <a:r>
              <a:rPr lang="en-US" sz="1150" dirty="0">
                <a:solidFill>
                  <a:srgbClr val="6B6480"/>
                </a:solidFill>
                <a:latin typeface="Calibri" pitchFamily="34" charset="0"/>
                <a:ea typeface="Calibri" pitchFamily="34" charset="-122"/>
                <a:cs typeface="Calibri" pitchFamily="34" charset="-120"/>
              </a:rPr>
              <a:t>5-minute cache reduces redundant API calls.</a:t>
            </a:r>
            <a:endParaRPr lang="en-US" sz="1150" dirty="0"/>
          </a:p>
        </p:txBody>
      </p:sp>
      <p:sp>
        <p:nvSpPr>
          <p:cNvPr id="20" name="Shape 18"/>
          <p:cNvSpPr/>
          <p:nvPr/>
        </p:nvSpPr>
        <p:spPr>
          <a:xfrm>
            <a:off x="548640" y="3054096"/>
            <a:ext cx="3483864" cy="1298448"/>
          </a:xfrm>
          <a:prstGeom prst="roundRect">
            <a:avLst>
              <a:gd name="adj" fmla="val 7042"/>
            </a:avLst>
          </a:prstGeom>
          <a:solidFill>
            <a:srgbClr val="F6F4FC"/>
          </a:solidFill>
          <a:ln/>
          <a:effectLst>
            <a:outerShdw blurRad="76200" dist="25400" dir="5400000" algn="bl" rotWithShape="0">
              <a:srgbClr val="3A2E6E">
                <a:alpha val="12000"/>
              </a:srgbClr>
            </a:outerShdw>
          </a:effectLst>
        </p:spPr>
      </p:sp>
      <p:sp>
        <p:nvSpPr>
          <p:cNvPr id="21" name="Shape 19"/>
          <p:cNvSpPr/>
          <p:nvPr/>
        </p:nvSpPr>
        <p:spPr>
          <a:xfrm>
            <a:off x="749808" y="3255264"/>
            <a:ext cx="502920" cy="502920"/>
          </a:xfrm>
          <a:prstGeom prst="ellipse">
            <a:avLst/>
          </a:prstGeom>
          <a:solidFill>
            <a:srgbClr val="6C3CE9"/>
          </a:solidFill>
          <a:ln/>
        </p:spPr>
      </p:sp>
      <p:sp>
        <p:nvSpPr>
          <p:cNvPr id="22" name="Text 20"/>
          <p:cNvSpPr/>
          <p:nvPr/>
        </p:nvSpPr>
        <p:spPr>
          <a:xfrm>
            <a:off x="749808" y="3236976"/>
            <a:ext cx="502920" cy="502920"/>
          </a:xfrm>
          <a:prstGeom prst="rect">
            <a:avLst/>
          </a:prstGeom>
          <a:noFill/>
          <a:ln/>
        </p:spPr>
        <p:txBody>
          <a:bodyPr wrap="square" lIns="0" tIns="0" rIns="0" bIns="0" rtlCol="0" anchor="ctr"/>
          <a:lstStyle/>
          <a:p>
            <a:pPr marL="0" indent="0" algn="ctr">
              <a:buNone/>
            </a:pPr>
            <a:r>
              <a:rPr lang="en-US" sz="1400" dirty="0">
                <a:solidFill>
                  <a:srgbClr val="000000"/>
                </a:solidFill>
                <a:latin typeface="Segoe UI Emoji" pitchFamily="34" charset="0"/>
                <a:ea typeface="Segoe UI Emoji" pitchFamily="34" charset="-122"/>
                <a:cs typeface="Segoe UI Emoji" pitchFamily="34" charset="-120"/>
              </a:rPr>
              <a:t>🧭</a:t>
            </a:r>
            <a:endParaRPr lang="en-US" sz="1400" dirty="0"/>
          </a:p>
        </p:txBody>
      </p:sp>
      <p:sp>
        <p:nvSpPr>
          <p:cNvPr id="23" name="Text 21"/>
          <p:cNvSpPr/>
          <p:nvPr/>
        </p:nvSpPr>
        <p:spPr>
          <a:xfrm>
            <a:off x="1417320" y="3200400"/>
            <a:ext cx="2432304" cy="365760"/>
          </a:xfrm>
          <a:prstGeom prst="rect">
            <a:avLst/>
          </a:prstGeom>
          <a:noFill/>
          <a:ln/>
        </p:spPr>
        <p:txBody>
          <a:bodyPr wrap="square" lIns="0" tIns="0" rIns="0" bIns="0" rtlCol="0" anchor="ctr"/>
          <a:lstStyle/>
          <a:p>
            <a:pPr marL="0" indent="0">
              <a:buNone/>
            </a:pPr>
            <a:r>
              <a:rPr lang="en-US" sz="1500" b="1" dirty="0">
                <a:solidFill>
                  <a:srgbClr val="1F1B3A"/>
                </a:solidFill>
                <a:latin typeface="Calibri" pitchFamily="34" charset="0"/>
                <a:ea typeface="Calibri" pitchFamily="34" charset="-122"/>
                <a:cs typeface="Calibri" pitchFamily="34" charset="-120"/>
              </a:rPr>
              <a:t>Routing</a:t>
            </a:r>
            <a:endParaRPr lang="en-US" sz="1500" dirty="0"/>
          </a:p>
        </p:txBody>
      </p:sp>
      <p:sp>
        <p:nvSpPr>
          <p:cNvPr id="24" name="Text 22"/>
          <p:cNvSpPr/>
          <p:nvPr/>
        </p:nvSpPr>
        <p:spPr>
          <a:xfrm>
            <a:off x="749808" y="3739896"/>
            <a:ext cx="3081528" cy="475488"/>
          </a:xfrm>
          <a:prstGeom prst="rect">
            <a:avLst/>
          </a:prstGeom>
          <a:noFill/>
          <a:ln/>
        </p:spPr>
        <p:txBody>
          <a:bodyPr wrap="square" lIns="0" tIns="0" rIns="0" bIns="0" rtlCol="0" anchor="t"/>
          <a:lstStyle/>
          <a:p>
            <a:pPr marL="0" indent="0">
              <a:buNone/>
            </a:pPr>
            <a:r>
              <a:rPr lang="en-US" sz="1150" dirty="0">
                <a:solidFill>
                  <a:srgbClr val="6B6480"/>
                </a:solidFill>
                <a:latin typeface="Calibri" pitchFamily="34" charset="0"/>
                <a:ea typeface="Calibri" pitchFamily="34" charset="-122"/>
                <a:cs typeface="Calibri" pitchFamily="34" charset="-120"/>
              </a:rPr>
              <a:t>Forwards requests to the correct microservice.</a:t>
            </a:r>
            <a:endParaRPr lang="en-US" sz="1150" dirty="0"/>
          </a:p>
        </p:txBody>
      </p:sp>
      <p:sp>
        <p:nvSpPr>
          <p:cNvPr id="25" name="Shape 23"/>
          <p:cNvSpPr/>
          <p:nvPr/>
        </p:nvSpPr>
        <p:spPr>
          <a:xfrm>
            <a:off x="4352544" y="3054096"/>
            <a:ext cx="3483864" cy="1298448"/>
          </a:xfrm>
          <a:prstGeom prst="roundRect">
            <a:avLst>
              <a:gd name="adj" fmla="val 7042"/>
            </a:avLst>
          </a:prstGeom>
          <a:solidFill>
            <a:srgbClr val="F6F4FC"/>
          </a:solidFill>
          <a:ln/>
          <a:effectLst>
            <a:outerShdw blurRad="76200" dist="25400" dir="5400000" algn="bl" rotWithShape="0">
              <a:srgbClr val="3A2E6E">
                <a:alpha val="12000"/>
              </a:srgbClr>
            </a:outerShdw>
          </a:effectLst>
        </p:spPr>
      </p:sp>
      <p:sp>
        <p:nvSpPr>
          <p:cNvPr id="26" name="Shape 24"/>
          <p:cNvSpPr/>
          <p:nvPr/>
        </p:nvSpPr>
        <p:spPr>
          <a:xfrm>
            <a:off x="4553712" y="3255264"/>
            <a:ext cx="502920" cy="502920"/>
          </a:xfrm>
          <a:prstGeom prst="ellipse">
            <a:avLst/>
          </a:prstGeom>
          <a:solidFill>
            <a:srgbClr val="6C3CE9"/>
          </a:solidFill>
          <a:ln/>
        </p:spPr>
      </p:sp>
      <p:sp>
        <p:nvSpPr>
          <p:cNvPr id="27" name="Text 25"/>
          <p:cNvSpPr/>
          <p:nvPr/>
        </p:nvSpPr>
        <p:spPr>
          <a:xfrm>
            <a:off x="4553712" y="3236976"/>
            <a:ext cx="502920" cy="502920"/>
          </a:xfrm>
          <a:prstGeom prst="rect">
            <a:avLst/>
          </a:prstGeom>
          <a:noFill/>
          <a:ln/>
        </p:spPr>
        <p:txBody>
          <a:bodyPr wrap="square" lIns="0" tIns="0" rIns="0" bIns="0" rtlCol="0" anchor="ctr"/>
          <a:lstStyle/>
          <a:p>
            <a:pPr marL="0" indent="0" algn="ctr">
              <a:buNone/>
            </a:pPr>
            <a:r>
              <a:rPr lang="en-US" sz="1400" dirty="0">
                <a:solidFill>
                  <a:srgbClr val="000000"/>
                </a:solidFill>
                <a:latin typeface="Segoe UI Emoji" pitchFamily="34" charset="0"/>
                <a:ea typeface="Segoe UI Emoji" pitchFamily="34" charset="-122"/>
                <a:cs typeface="Segoe UI Emoji" pitchFamily="34" charset="-120"/>
              </a:rPr>
              <a:t>🎚</a:t>
            </a:r>
            <a:endParaRPr lang="en-US" sz="1400" dirty="0"/>
          </a:p>
        </p:txBody>
      </p:sp>
      <p:sp>
        <p:nvSpPr>
          <p:cNvPr id="28" name="Text 26"/>
          <p:cNvSpPr/>
          <p:nvPr/>
        </p:nvSpPr>
        <p:spPr>
          <a:xfrm>
            <a:off x="5221224" y="3200400"/>
            <a:ext cx="2432304" cy="365760"/>
          </a:xfrm>
          <a:prstGeom prst="rect">
            <a:avLst/>
          </a:prstGeom>
          <a:noFill/>
          <a:ln/>
        </p:spPr>
        <p:txBody>
          <a:bodyPr wrap="square" lIns="0" tIns="0" rIns="0" bIns="0" rtlCol="0" anchor="ctr"/>
          <a:lstStyle/>
          <a:p>
            <a:pPr marL="0" indent="0">
              <a:buNone/>
            </a:pPr>
            <a:r>
              <a:rPr lang="en-US" sz="1500" b="1" dirty="0">
                <a:solidFill>
                  <a:srgbClr val="1F1B3A"/>
                </a:solidFill>
                <a:latin typeface="Calibri" pitchFamily="34" charset="0"/>
                <a:ea typeface="Calibri" pitchFamily="34" charset="-122"/>
                <a:cs typeface="Calibri" pitchFamily="34" charset="-120"/>
              </a:rPr>
              <a:t>Filtering</a:t>
            </a:r>
            <a:endParaRPr lang="en-US" sz="1500" dirty="0"/>
          </a:p>
        </p:txBody>
      </p:sp>
      <p:sp>
        <p:nvSpPr>
          <p:cNvPr id="29" name="Text 27"/>
          <p:cNvSpPr/>
          <p:nvPr/>
        </p:nvSpPr>
        <p:spPr>
          <a:xfrm>
            <a:off x="4553712" y="3739896"/>
            <a:ext cx="3081528" cy="475488"/>
          </a:xfrm>
          <a:prstGeom prst="rect">
            <a:avLst/>
          </a:prstGeom>
          <a:noFill/>
          <a:ln/>
        </p:spPr>
        <p:txBody>
          <a:bodyPr wrap="square" lIns="0" tIns="0" rIns="0" bIns="0" rtlCol="0" anchor="t"/>
          <a:lstStyle/>
          <a:p>
            <a:pPr marL="0" indent="0">
              <a:buNone/>
            </a:pPr>
            <a:r>
              <a:rPr lang="en-US" sz="1150" dirty="0">
                <a:solidFill>
                  <a:srgbClr val="6B6480"/>
                </a:solidFill>
                <a:latin typeface="Calibri" pitchFamily="34" charset="0"/>
                <a:ea typeface="Calibri" pitchFamily="34" charset="-122"/>
                <a:cs typeface="Calibri" pitchFamily="34" charset="-120"/>
              </a:rPr>
              <a:t>By interest, category, and search keywords.</a:t>
            </a:r>
            <a:endParaRPr lang="en-US" sz="1150" dirty="0"/>
          </a:p>
        </p:txBody>
      </p:sp>
      <p:sp>
        <p:nvSpPr>
          <p:cNvPr id="30" name="Shape 28"/>
          <p:cNvSpPr/>
          <p:nvPr/>
        </p:nvSpPr>
        <p:spPr>
          <a:xfrm>
            <a:off x="8156448" y="3054096"/>
            <a:ext cx="3483864" cy="1298448"/>
          </a:xfrm>
          <a:prstGeom prst="roundRect">
            <a:avLst>
              <a:gd name="adj" fmla="val 7042"/>
            </a:avLst>
          </a:prstGeom>
          <a:solidFill>
            <a:srgbClr val="F6F4FC"/>
          </a:solidFill>
          <a:ln/>
          <a:effectLst>
            <a:outerShdw blurRad="76200" dist="25400" dir="5400000" algn="bl" rotWithShape="0">
              <a:srgbClr val="3A2E6E">
                <a:alpha val="12000"/>
              </a:srgbClr>
            </a:outerShdw>
          </a:effectLst>
        </p:spPr>
      </p:sp>
      <p:sp>
        <p:nvSpPr>
          <p:cNvPr id="31" name="Shape 29"/>
          <p:cNvSpPr/>
          <p:nvPr/>
        </p:nvSpPr>
        <p:spPr>
          <a:xfrm>
            <a:off x="8357616" y="3255264"/>
            <a:ext cx="502920" cy="502920"/>
          </a:xfrm>
          <a:prstGeom prst="ellipse">
            <a:avLst/>
          </a:prstGeom>
          <a:solidFill>
            <a:srgbClr val="6C3CE9"/>
          </a:solidFill>
          <a:ln/>
        </p:spPr>
      </p:sp>
      <p:sp>
        <p:nvSpPr>
          <p:cNvPr id="32" name="Text 30"/>
          <p:cNvSpPr/>
          <p:nvPr/>
        </p:nvSpPr>
        <p:spPr>
          <a:xfrm>
            <a:off x="8357616" y="3236976"/>
            <a:ext cx="502920" cy="502920"/>
          </a:xfrm>
          <a:prstGeom prst="rect">
            <a:avLst/>
          </a:prstGeom>
          <a:noFill/>
          <a:ln/>
        </p:spPr>
        <p:txBody>
          <a:bodyPr wrap="square" lIns="0" tIns="0" rIns="0" bIns="0" rtlCol="0" anchor="ctr"/>
          <a:lstStyle/>
          <a:p>
            <a:pPr marL="0" indent="0" algn="ctr">
              <a:buNone/>
            </a:pPr>
            <a:r>
              <a:rPr lang="en-US" sz="1400" dirty="0">
                <a:solidFill>
                  <a:srgbClr val="000000"/>
                </a:solidFill>
                <a:latin typeface="Segoe UI Emoji" pitchFamily="34" charset="0"/>
                <a:ea typeface="Segoe UI Emoji" pitchFamily="34" charset="-122"/>
                <a:cs typeface="Segoe UI Emoji" pitchFamily="34" charset="-120"/>
              </a:rPr>
              <a:t>🛡</a:t>
            </a:r>
            <a:endParaRPr lang="en-US" sz="1400" dirty="0"/>
          </a:p>
        </p:txBody>
      </p:sp>
      <p:sp>
        <p:nvSpPr>
          <p:cNvPr id="33" name="Text 31"/>
          <p:cNvSpPr/>
          <p:nvPr/>
        </p:nvSpPr>
        <p:spPr>
          <a:xfrm>
            <a:off x="9025128" y="3200400"/>
            <a:ext cx="2432304" cy="365760"/>
          </a:xfrm>
          <a:prstGeom prst="rect">
            <a:avLst/>
          </a:prstGeom>
          <a:noFill/>
          <a:ln/>
        </p:spPr>
        <p:txBody>
          <a:bodyPr wrap="square" lIns="0" tIns="0" rIns="0" bIns="0" rtlCol="0" anchor="ctr"/>
          <a:lstStyle/>
          <a:p>
            <a:pPr marL="0" indent="0">
              <a:buNone/>
            </a:pPr>
            <a:r>
              <a:rPr lang="en-US" sz="1500" b="1" dirty="0">
                <a:solidFill>
                  <a:srgbClr val="1F1B3A"/>
                </a:solidFill>
                <a:latin typeface="Calibri" pitchFamily="34" charset="0"/>
                <a:ea typeface="Calibri" pitchFamily="34" charset="-122"/>
                <a:cs typeface="Calibri" pitchFamily="34" charset="-120"/>
              </a:rPr>
              <a:t>Error Handling</a:t>
            </a:r>
            <a:endParaRPr lang="en-US" sz="1500" dirty="0"/>
          </a:p>
        </p:txBody>
      </p:sp>
      <p:sp>
        <p:nvSpPr>
          <p:cNvPr id="34" name="Text 32"/>
          <p:cNvSpPr/>
          <p:nvPr/>
        </p:nvSpPr>
        <p:spPr>
          <a:xfrm>
            <a:off x="8357616" y="3739896"/>
            <a:ext cx="3081528" cy="475488"/>
          </a:xfrm>
          <a:prstGeom prst="rect">
            <a:avLst/>
          </a:prstGeom>
          <a:noFill/>
          <a:ln/>
        </p:spPr>
        <p:txBody>
          <a:bodyPr wrap="square" lIns="0" tIns="0" rIns="0" bIns="0" rtlCol="0" anchor="t"/>
          <a:lstStyle/>
          <a:p>
            <a:pPr marL="0" indent="0">
              <a:buNone/>
            </a:pPr>
            <a:r>
              <a:rPr lang="en-US" sz="1150" dirty="0">
                <a:solidFill>
                  <a:srgbClr val="6B6480"/>
                </a:solidFill>
                <a:latin typeface="Calibri" pitchFamily="34" charset="0"/>
                <a:ea typeface="Calibri" pitchFamily="34" charset="-122"/>
                <a:cs typeface="Calibri" pitchFamily="34" charset="-120"/>
              </a:rPr>
              <a:t>Centralized, consistent error responses.</a:t>
            </a:r>
            <a:endParaRPr lang="en-US" sz="1150" dirty="0"/>
          </a:p>
        </p:txBody>
      </p:sp>
      <p:sp>
        <p:nvSpPr>
          <p:cNvPr id="35" name="Shape 33"/>
          <p:cNvSpPr/>
          <p:nvPr/>
        </p:nvSpPr>
        <p:spPr>
          <a:xfrm>
            <a:off x="548640" y="4553712"/>
            <a:ext cx="3483864" cy="1298448"/>
          </a:xfrm>
          <a:prstGeom prst="roundRect">
            <a:avLst>
              <a:gd name="adj" fmla="val 7042"/>
            </a:avLst>
          </a:prstGeom>
          <a:solidFill>
            <a:srgbClr val="F6F4FC"/>
          </a:solidFill>
          <a:ln/>
          <a:effectLst>
            <a:outerShdw blurRad="76200" dist="25400" dir="5400000" algn="bl" rotWithShape="0">
              <a:srgbClr val="3A2E6E">
                <a:alpha val="12000"/>
              </a:srgbClr>
            </a:outerShdw>
          </a:effectLst>
        </p:spPr>
      </p:sp>
      <p:sp>
        <p:nvSpPr>
          <p:cNvPr id="36" name="Shape 34"/>
          <p:cNvSpPr/>
          <p:nvPr/>
        </p:nvSpPr>
        <p:spPr>
          <a:xfrm>
            <a:off x="749808" y="4754880"/>
            <a:ext cx="502920" cy="502920"/>
          </a:xfrm>
          <a:prstGeom prst="ellipse">
            <a:avLst/>
          </a:prstGeom>
          <a:solidFill>
            <a:srgbClr val="6C3CE9"/>
          </a:solidFill>
          <a:ln/>
        </p:spPr>
      </p:sp>
      <p:sp>
        <p:nvSpPr>
          <p:cNvPr id="37" name="Text 35"/>
          <p:cNvSpPr/>
          <p:nvPr/>
        </p:nvSpPr>
        <p:spPr>
          <a:xfrm>
            <a:off x="749808" y="4736592"/>
            <a:ext cx="502920" cy="502920"/>
          </a:xfrm>
          <a:prstGeom prst="rect">
            <a:avLst/>
          </a:prstGeom>
          <a:noFill/>
          <a:ln/>
        </p:spPr>
        <p:txBody>
          <a:bodyPr wrap="square" lIns="0" tIns="0" rIns="0" bIns="0" rtlCol="0" anchor="ctr"/>
          <a:lstStyle/>
          <a:p>
            <a:pPr marL="0" indent="0" algn="ctr">
              <a:buNone/>
            </a:pPr>
            <a:r>
              <a:rPr lang="en-US" sz="1400" dirty="0">
                <a:solidFill>
                  <a:srgbClr val="000000"/>
                </a:solidFill>
                <a:latin typeface="Segoe UI Emoji" pitchFamily="34" charset="0"/>
                <a:ea typeface="Segoe UI Emoji" pitchFamily="34" charset="-122"/>
                <a:cs typeface="Segoe UI Emoji" pitchFamily="34" charset="-120"/>
              </a:rPr>
              <a:t>⏱</a:t>
            </a:r>
            <a:endParaRPr lang="en-US" sz="1400" dirty="0"/>
          </a:p>
        </p:txBody>
      </p:sp>
      <p:sp>
        <p:nvSpPr>
          <p:cNvPr id="38" name="Text 36"/>
          <p:cNvSpPr/>
          <p:nvPr/>
        </p:nvSpPr>
        <p:spPr>
          <a:xfrm>
            <a:off x="1417320" y="4700016"/>
            <a:ext cx="2432304" cy="365760"/>
          </a:xfrm>
          <a:prstGeom prst="rect">
            <a:avLst/>
          </a:prstGeom>
          <a:noFill/>
          <a:ln/>
        </p:spPr>
        <p:txBody>
          <a:bodyPr wrap="square" lIns="0" tIns="0" rIns="0" bIns="0" rtlCol="0" anchor="ctr"/>
          <a:lstStyle/>
          <a:p>
            <a:pPr marL="0" indent="0">
              <a:buNone/>
            </a:pPr>
            <a:r>
              <a:rPr lang="en-US" sz="1500" b="1" dirty="0">
                <a:solidFill>
                  <a:srgbClr val="1F1B3A"/>
                </a:solidFill>
                <a:latin typeface="Calibri" pitchFamily="34" charset="0"/>
                <a:ea typeface="Calibri" pitchFamily="34" charset="-122"/>
                <a:cs typeface="Calibri" pitchFamily="34" charset="-120"/>
              </a:rPr>
              <a:t>Rate Limiting</a:t>
            </a:r>
            <a:endParaRPr lang="en-US" sz="1500" dirty="0"/>
          </a:p>
        </p:txBody>
      </p:sp>
      <p:sp>
        <p:nvSpPr>
          <p:cNvPr id="39" name="Text 37"/>
          <p:cNvSpPr/>
          <p:nvPr/>
        </p:nvSpPr>
        <p:spPr>
          <a:xfrm>
            <a:off x="749808" y="5239512"/>
            <a:ext cx="3081528" cy="475488"/>
          </a:xfrm>
          <a:prstGeom prst="rect">
            <a:avLst/>
          </a:prstGeom>
          <a:noFill/>
          <a:ln/>
        </p:spPr>
        <p:txBody>
          <a:bodyPr wrap="square" lIns="0" tIns="0" rIns="0" bIns="0" rtlCol="0" anchor="t"/>
          <a:lstStyle/>
          <a:p>
            <a:pPr marL="0" indent="0">
              <a:buNone/>
            </a:pPr>
            <a:r>
              <a:rPr lang="en-US" sz="1150" dirty="0">
                <a:solidFill>
                  <a:srgbClr val="6B6480"/>
                </a:solidFill>
                <a:latin typeface="Calibri" pitchFamily="34" charset="0"/>
                <a:ea typeface="Calibri" pitchFamily="34" charset="-122"/>
                <a:cs typeface="Calibri" pitchFamily="34" charset="-120"/>
              </a:rPr>
              <a:t>Protects services from request flooding.</a:t>
            </a:r>
            <a:endParaRPr lang="en-US" sz="1150" dirty="0"/>
          </a:p>
        </p:txBody>
      </p:sp>
      <p:sp>
        <p:nvSpPr>
          <p:cNvPr id="40" name="Shape 38"/>
          <p:cNvSpPr/>
          <p:nvPr/>
        </p:nvSpPr>
        <p:spPr>
          <a:xfrm>
            <a:off x="4352544" y="4553712"/>
            <a:ext cx="3483864" cy="1298448"/>
          </a:xfrm>
          <a:prstGeom prst="roundRect">
            <a:avLst>
              <a:gd name="adj" fmla="val 7042"/>
            </a:avLst>
          </a:prstGeom>
          <a:solidFill>
            <a:srgbClr val="F6F4FC"/>
          </a:solidFill>
          <a:ln/>
          <a:effectLst>
            <a:outerShdw blurRad="76200" dist="25400" dir="5400000" algn="bl" rotWithShape="0">
              <a:srgbClr val="3A2E6E">
                <a:alpha val="12000"/>
              </a:srgbClr>
            </a:outerShdw>
          </a:effectLst>
        </p:spPr>
      </p:sp>
      <p:sp>
        <p:nvSpPr>
          <p:cNvPr id="41" name="Shape 39"/>
          <p:cNvSpPr/>
          <p:nvPr/>
        </p:nvSpPr>
        <p:spPr>
          <a:xfrm>
            <a:off x="4553712" y="4754880"/>
            <a:ext cx="502920" cy="502920"/>
          </a:xfrm>
          <a:prstGeom prst="ellipse">
            <a:avLst/>
          </a:prstGeom>
          <a:solidFill>
            <a:srgbClr val="6C3CE9"/>
          </a:solidFill>
          <a:ln/>
        </p:spPr>
      </p:sp>
      <p:sp>
        <p:nvSpPr>
          <p:cNvPr id="42" name="Text 40"/>
          <p:cNvSpPr/>
          <p:nvPr/>
        </p:nvSpPr>
        <p:spPr>
          <a:xfrm>
            <a:off x="4553712" y="4736592"/>
            <a:ext cx="502920" cy="502920"/>
          </a:xfrm>
          <a:prstGeom prst="rect">
            <a:avLst/>
          </a:prstGeom>
          <a:noFill/>
          <a:ln/>
        </p:spPr>
        <p:txBody>
          <a:bodyPr wrap="square" lIns="0" tIns="0" rIns="0" bIns="0" rtlCol="0" anchor="ctr"/>
          <a:lstStyle/>
          <a:p>
            <a:pPr marL="0" indent="0" algn="ctr">
              <a:buNone/>
            </a:pPr>
            <a:r>
              <a:rPr lang="en-US" sz="1400" dirty="0">
                <a:solidFill>
                  <a:srgbClr val="000000"/>
                </a:solidFill>
                <a:latin typeface="Segoe UI Emoji" pitchFamily="34" charset="0"/>
                <a:ea typeface="Segoe UI Emoji" pitchFamily="34" charset="-122"/>
                <a:cs typeface="Segoe UI Emoji" pitchFamily="34" charset="-120"/>
              </a:rPr>
              <a:t>🪖</a:t>
            </a:r>
            <a:endParaRPr lang="en-US" sz="1400" dirty="0"/>
          </a:p>
        </p:txBody>
      </p:sp>
      <p:sp>
        <p:nvSpPr>
          <p:cNvPr id="43" name="Text 41"/>
          <p:cNvSpPr/>
          <p:nvPr/>
        </p:nvSpPr>
        <p:spPr>
          <a:xfrm>
            <a:off x="5221224" y="4700016"/>
            <a:ext cx="2432304" cy="365760"/>
          </a:xfrm>
          <a:prstGeom prst="rect">
            <a:avLst/>
          </a:prstGeom>
          <a:noFill/>
          <a:ln/>
        </p:spPr>
        <p:txBody>
          <a:bodyPr wrap="square" lIns="0" tIns="0" rIns="0" bIns="0" rtlCol="0" anchor="ctr"/>
          <a:lstStyle/>
          <a:p>
            <a:pPr marL="0" indent="0">
              <a:buNone/>
            </a:pPr>
            <a:r>
              <a:rPr lang="en-US" sz="1500" b="1" dirty="0">
                <a:solidFill>
                  <a:srgbClr val="1F1B3A"/>
                </a:solidFill>
                <a:latin typeface="Calibri" pitchFamily="34" charset="0"/>
                <a:ea typeface="Calibri" pitchFamily="34" charset="-122"/>
                <a:cs typeface="Calibri" pitchFamily="34" charset="-120"/>
              </a:rPr>
              <a:t>Helmet Security</a:t>
            </a:r>
            <a:endParaRPr lang="en-US" sz="1500" dirty="0"/>
          </a:p>
        </p:txBody>
      </p:sp>
      <p:sp>
        <p:nvSpPr>
          <p:cNvPr id="44" name="Text 42"/>
          <p:cNvSpPr/>
          <p:nvPr/>
        </p:nvSpPr>
        <p:spPr>
          <a:xfrm>
            <a:off x="4553712" y="5239512"/>
            <a:ext cx="3081528" cy="475488"/>
          </a:xfrm>
          <a:prstGeom prst="rect">
            <a:avLst/>
          </a:prstGeom>
          <a:noFill/>
          <a:ln/>
        </p:spPr>
        <p:txBody>
          <a:bodyPr wrap="square" lIns="0" tIns="0" rIns="0" bIns="0" rtlCol="0" anchor="t"/>
          <a:lstStyle/>
          <a:p>
            <a:pPr marL="0" indent="0">
              <a:buNone/>
            </a:pPr>
            <a:r>
              <a:rPr lang="en-US" sz="1150" dirty="0">
                <a:solidFill>
                  <a:srgbClr val="6B6480"/>
                </a:solidFill>
                <a:latin typeface="Calibri" pitchFamily="34" charset="0"/>
                <a:ea typeface="Calibri" pitchFamily="34" charset="-122"/>
                <a:cs typeface="Calibri" pitchFamily="34" charset="-120"/>
              </a:rPr>
              <a:t>Secure HTTP headers on every service.</a:t>
            </a:r>
            <a:endParaRPr lang="en-US" sz="1150" dirty="0"/>
          </a:p>
        </p:txBody>
      </p:sp>
      <p:sp>
        <p:nvSpPr>
          <p:cNvPr id="45" name="Shape 43"/>
          <p:cNvSpPr/>
          <p:nvPr/>
        </p:nvSpPr>
        <p:spPr>
          <a:xfrm>
            <a:off x="8156448" y="4553712"/>
            <a:ext cx="3483864" cy="1298448"/>
          </a:xfrm>
          <a:prstGeom prst="roundRect">
            <a:avLst>
              <a:gd name="adj" fmla="val 7042"/>
            </a:avLst>
          </a:prstGeom>
          <a:solidFill>
            <a:srgbClr val="F6F4FC"/>
          </a:solidFill>
          <a:ln/>
          <a:effectLst>
            <a:outerShdw blurRad="76200" dist="25400" dir="5400000" algn="bl" rotWithShape="0">
              <a:srgbClr val="3A2E6E">
                <a:alpha val="12000"/>
              </a:srgbClr>
            </a:outerShdw>
          </a:effectLst>
        </p:spPr>
      </p:sp>
      <p:sp>
        <p:nvSpPr>
          <p:cNvPr id="46" name="Shape 44"/>
          <p:cNvSpPr/>
          <p:nvPr/>
        </p:nvSpPr>
        <p:spPr>
          <a:xfrm>
            <a:off x="8357616" y="4754880"/>
            <a:ext cx="502920" cy="502920"/>
          </a:xfrm>
          <a:prstGeom prst="ellipse">
            <a:avLst/>
          </a:prstGeom>
          <a:solidFill>
            <a:srgbClr val="6C3CE9"/>
          </a:solidFill>
          <a:ln/>
        </p:spPr>
      </p:sp>
      <p:sp>
        <p:nvSpPr>
          <p:cNvPr id="47" name="Text 45"/>
          <p:cNvSpPr/>
          <p:nvPr/>
        </p:nvSpPr>
        <p:spPr>
          <a:xfrm>
            <a:off x="8357616" y="4736592"/>
            <a:ext cx="502920" cy="502920"/>
          </a:xfrm>
          <a:prstGeom prst="rect">
            <a:avLst/>
          </a:prstGeom>
          <a:noFill/>
          <a:ln/>
        </p:spPr>
        <p:txBody>
          <a:bodyPr wrap="square" lIns="0" tIns="0" rIns="0" bIns="0" rtlCol="0" anchor="ctr"/>
          <a:lstStyle/>
          <a:p>
            <a:pPr marL="0" indent="0" algn="ctr">
              <a:buNone/>
            </a:pPr>
            <a:r>
              <a:rPr lang="en-US" sz="1400" dirty="0">
                <a:solidFill>
                  <a:srgbClr val="000000"/>
                </a:solidFill>
                <a:latin typeface="Segoe UI Emoji" pitchFamily="34" charset="0"/>
                <a:ea typeface="Segoe UI Emoji" pitchFamily="34" charset="-122"/>
                <a:cs typeface="Segoe UI Emoji" pitchFamily="34" charset="-120"/>
              </a:rPr>
              <a:t>🔓</a:t>
            </a:r>
            <a:endParaRPr lang="en-US" sz="1400" dirty="0"/>
          </a:p>
        </p:txBody>
      </p:sp>
      <p:sp>
        <p:nvSpPr>
          <p:cNvPr id="48" name="Text 46"/>
          <p:cNvSpPr/>
          <p:nvPr/>
        </p:nvSpPr>
        <p:spPr>
          <a:xfrm>
            <a:off x="9025128" y="4700016"/>
            <a:ext cx="2432304" cy="365760"/>
          </a:xfrm>
          <a:prstGeom prst="rect">
            <a:avLst/>
          </a:prstGeom>
          <a:noFill/>
          <a:ln/>
        </p:spPr>
        <p:txBody>
          <a:bodyPr wrap="square" lIns="0" tIns="0" rIns="0" bIns="0" rtlCol="0" anchor="ctr"/>
          <a:lstStyle/>
          <a:p>
            <a:pPr marL="0" indent="0">
              <a:buNone/>
            </a:pPr>
            <a:r>
              <a:rPr lang="en-US" sz="1500" b="1" dirty="0">
                <a:solidFill>
                  <a:srgbClr val="1F1B3A"/>
                </a:solidFill>
                <a:latin typeface="Calibri" pitchFamily="34" charset="0"/>
                <a:ea typeface="Calibri" pitchFamily="34" charset="-122"/>
                <a:cs typeface="Calibri" pitchFamily="34" charset="-120"/>
              </a:rPr>
              <a:t>CORS &amp; Validation</a:t>
            </a:r>
            <a:endParaRPr lang="en-US" sz="1500" dirty="0"/>
          </a:p>
        </p:txBody>
      </p:sp>
      <p:sp>
        <p:nvSpPr>
          <p:cNvPr id="49" name="Text 47"/>
          <p:cNvSpPr/>
          <p:nvPr/>
        </p:nvSpPr>
        <p:spPr>
          <a:xfrm>
            <a:off x="8357616" y="5239512"/>
            <a:ext cx="3081528" cy="475488"/>
          </a:xfrm>
          <a:prstGeom prst="rect">
            <a:avLst/>
          </a:prstGeom>
          <a:noFill/>
          <a:ln/>
        </p:spPr>
        <p:txBody>
          <a:bodyPr wrap="square" lIns="0" tIns="0" rIns="0" bIns="0" rtlCol="0" anchor="t"/>
          <a:lstStyle/>
          <a:p>
            <a:pPr marL="0" indent="0">
              <a:buNone/>
            </a:pPr>
            <a:r>
              <a:rPr lang="en-US" sz="1150" dirty="0">
                <a:solidFill>
                  <a:srgbClr val="6B6480"/>
                </a:solidFill>
                <a:latin typeface="Calibri" pitchFamily="34" charset="0"/>
                <a:ea typeface="Calibri" pitchFamily="34" charset="-122"/>
                <a:cs typeface="Calibri" pitchFamily="34" charset="-120"/>
              </a:rPr>
              <a:t>Controlled origins and input validation.</a:t>
            </a:r>
            <a:endParaRPr lang="en-US" sz="1150" dirty="0"/>
          </a:p>
        </p:txBody>
      </p:sp>
      <p:sp>
        <p:nvSpPr>
          <p:cNvPr id="50" name="Text 48"/>
          <p:cNvSpPr/>
          <p:nvPr/>
        </p:nvSpPr>
        <p:spPr>
          <a:xfrm>
            <a:off x="548640" y="6528816"/>
            <a:ext cx="2743200" cy="274320"/>
          </a:xfrm>
          <a:prstGeom prst="rect">
            <a:avLst/>
          </a:prstGeom>
          <a:noFill/>
          <a:ln/>
        </p:spPr>
        <p:txBody>
          <a:bodyPr wrap="square" lIns="0" tIns="0" rIns="0" bIns="0" rtlCol="0" anchor="ctr"/>
          <a:lstStyle/>
          <a:p>
            <a:pPr marL="0" indent="0" algn="l">
              <a:buNone/>
            </a:pPr>
            <a:r>
              <a:rPr lang="en-US" sz="1000" dirty="0">
                <a:solidFill>
                  <a:srgbClr val="6B6480"/>
                </a:solidFill>
                <a:latin typeface="Calibri" pitchFamily="34" charset="0"/>
                <a:ea typeface="Calibri" pitchFamily="34" charset="-122"/>
                <a:cs typeface="Calibri" pitchFamily="34" charset="-120"/>
              </a:rPr>
              <a:t>NewsNest</a:t>
            </a:r>
            <a:endParaRPr lang="en-US" sz="1000" dirty="0"/>
          </a:p>
        </p:txBody>
      </p:sp>
      <p:sp>
        <p:nvSpPr>
          <p:cNvPr id="51" name="Text 49"/>
          <p:cNvSpPr/>
          <p:nvPr/>
        </p:nvSpPr>
        <p:spPr>
          <a:xfrm>
            <a:off x="11183112" y="6528816"/>
            <a:ext cx="457200" cy="274320"/>
          </a:xfrm>
          <a:prstGeom prst="rect">
            <a:avLst/>
          </a:prstGeom>
          <a:noFill/>
          <a:ln/>
        </p:spPr>
        <p:txBody>
          <a:bodyPr wrap="square" lIns="0" tIns="0" rIns="0" bIns="0" rtlCol="0" anchor="ctr"/>
          <a:lstStyle/>
          <a:p>
            <a:pPr marL="0" indent="0" algn="r">
              <a:buNone/>
            </a:pPr>
            <a:r>
              <a:rPr lang="en-US" sz="1000" dirty="0">
                <a:solidFill>
                  <a:srgbClr val="6B6480"/>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91672" cy="685800"/>
          </a:xfrm>
          <a:prstGeom prst="rect">
            <a:avLst/>
          </a:prstGeom>
          <a:noFill/>
          <a:ln/>
        </p:spPr>
        <p:txBody>
          <a:bodyPr wrap="square" lIns="0" tIns="0" rIns="0" bIns="0" rtlCol="0" anchor="ctr"/>
          <a:lstStyle/>
          <a:p>
            <a:pPr marL="0" indent="0" algn="l">
              <a:buNone/>
            </a:pPr>
            <a:r>
              <a:rPr lang="en-US" sz="3200" b="1" dirty="0">
                <a:solidFill>
                  <a:srgbClr val="2A1B5D"/>
                </a:solidFill>
                <a:latin typeface="Cambria" pitchFamily="34" charset="0"/>
                <a:ea typeface="Cambria" pitchFamily="34" charset="-122"/>
                <a:cs typeface="Cambria" pitchFamily="34" charset="-120"/>
              </a:rPr>
              <a:t>How Personalization Works</a:t>
            </a:r>
            <a:endParaRPr lang="en-US" sz="3200" dirty="0"/>
          </a:p>
        </p:txBody>
      </p:sp>
      <p:sp>
        <p:nvSpPr>
          <p:cNvPr id="3" name="Shape 1"/>
          <p:cNvSpPr/>
          <p:nvPr/>
        </p:nvSpPr>
        <p:spPr>
          <a:xfrm>
            <a:off x="548640" y="1042416"/>
            <a:ext cx="502920" cy="41148"/>
          </a:xfrm>
          <a:prstGeom prst="rect">
            <a:avLst/>
          </a:prstGeom>
          <a:solidFill>
            <a:srgbClr val="EC4899"/>
          </a:solidFill>
          <a:ln/>
        </p:spPr>
      </p:sp>
      <p:sp>
        <p:nvSpPr>
          <p:cNvPr id="4" name="Text 2"/>
          <p:cNvSpPr/>
          <p:nvPr/>
        </p:nvSpPr>
        <p:spPr>
          <a:xfrm>
            <a:off x="548640" y="1097280"/>
            <a:ext cx="11091672" cy="365760"/>
          </a:xfrm>
          <a:prstGeom prst="rect">
            <a:avLst/>
          </a:prstGeom>
          <a:noFill/>
          <a:ln/>
        </p:spPr>
        <p:txBody>
          <a:bodyPr wrap="square" lIns="0" tIns="0" rIns="0" bIns="0" rtlCol="0" anchor="ctr"/>
          <a:lstStyle/>
          <a:p>
            <a:pPr marL="0" indent="0" algn="l">
              <a:buNone/>
            </a:pPr>
            <a:r>
              <a:rPr lang="en-US" sz="1400" i="1" dirty="0">
                <a:solidFill>
                  <a:srgbClr val="6B6480"/>
                </a:solidFill>
                <a:latin typeface="Calibri" pitchFamily="34" charset="0"/>
                <a:ea typeface="Calibri" pitchFamily="34" charset="-122"/>
                <a:cs typeface="Calibri" pitchFamily="34" charset="-120"/>
              </a:rPr>
              <a:t>From a simple interest selection to a tailored news feed</a:t>
            </a:r>
            <a:endParaRPr lang="en-US" sz="1400" dirty="0"/>
          </a:p>
        </p:txBody>
      </p:sp>
      <p:sp>
        <p:nvSpPr>
          <p:cNvPr id="5" name="Shape 3"/>
          <p:cNvSpPr/>
          <p:nvPr/>
        </p:nvSpPr>
        <p:spPr>
          <a:xfrm>
            <a:off x="548640" y="2743200"/>
            <a:ext cx="1874520" cy="1554480"/>
          </a:xfrm>
          <a:prstGeom prst="roundRect">
            <a:avLst>
              <a:gd name="adj" fmla="val 5882"/>
            </a:avLst>
          </a:prstGeom>
          <a:solidFill>
            <a:srgbClr val="F6F4FC"/>
          </a:solidFill>
          <a:ln/>
        </p:spPr>
      </p:sp>
      <p:sp>
        <p:nvSpPr>
          <p:cNvPr id="6" name="Shape 4"/>
          <p:cNvSpPr/>
          <p:nvPr/>
        </p:nvSpPr>
        <p:spPr>
          <a:xfrm>
            <a:off x="1193292" y="2944368"/>
            <a:ext cx="585216" cy="585216"/>
          </a:xfrm>
          <a:prstGeom prst="ellipse">
            <a:avLst/>
          </a:prstGeom>
          <a:solidFill>
            <a:srgbClr val="6C3CE9"/>
          </a:solidFill>
          <a:ln/>
        </p:spPr>
      </p:sp>
      <p:sp>
        <p:nvSpPr>
          <p:cNvPr id="7" name="Text 5"/>
          <p:cNvSpPr/>
          <p:nvPr/>
        </p:nvSpPr>
        <p:spPr>
          <a:xfrm>
            <a:off x="1193292" y="2926080"/>
            <a:ext cx="585216" cy="585216"/>
          </a:xfrm>
          <a:prstGeom prst="rect">
            <a:avLst/>
          </a:prstGeom>
          <a:noFill/>
          <a:ln/>
        </p:spPr>
        <p:txBody>
          <a:bodyPr wrap="square" lIns="0" tIns="0" rIns="0" bIns="0" rtlCol="0" anchor="ctr"/>
          <a:lstStyle/>
          <a:p>
            <a:pPr marL="0" indent="0" algn="ctr">
              <a:buNone/>
            </a:pPr>
            <a:r>
              <a:rPr lang="en-US" sz="2600" dirty="0">
                <a:solidFill>
                  <a:srgbClr val="000000"/>
                </a:solidFill>
                <a:latin typeface="Segoe UI Emoji" pitchFamily="34" charset="0"/>
                <a:ea typeface="Segoe UI Emoji" pitchFamily="34" charset="-122"/>
                <a:cs typeface="Segoe UI Emoji" pitchFamily="34" charset="-120"/>
              </a:rPr>
              <a:t>🖱</a:t>
            </a:r>
            <a:endParaRPr lang="en-US" sz="2600" dirty="0"/>
          </a:p>
        </p:txBody>
      </p:sp>
      <p:sp>
        <p:nvSpPr>
          <p:cNvPr id="8" name="Text 6"/>
          <p:cNvSpPr/>
          <p:nvPr/>
        </p:nvSpPr>
        <p:spPr>
          <a:xfrm>
            <a:off x="548640" y="3657600"/>
            <a:ext cx="1874520" cy="548640"/>
          </a:xfrm>
          <a:prstGeom prst="rect">
            <a:avLst/>
          </a:prstGeom>
          <a:noFill/>
          <a:ln/>
        </p:spPr>
        <p:txBody>
          <a:bodyPr wrap="square" lIns="0" tIns="0" rIns="0" bIns="0" rtlCol="0" anchor="ctr"/>
          <a:lstStyle/>
          <a:p>
            <a:pPr marL="0" indent="0" algn="ctr">
              <a:buNone/>
            </a:pPr>
            <a:r>
              <a:rPr lang="en-US" sz="1200" b="1" dirty="0">
                <a:solidFill>
                  <a:srgbClr val="1F1B3A"/>
                </a:solidFill>
                <a:latin typeface="Calibri" pitchFamily="34" charset="0"/>
                <a:ea typeface="Calibri" pitchFamily="34" charset="-122"/>
                <a:cs typeface="Calibri" pitchFamily="34" charset="-120"/>
              </a:rPr>
              <a:t>Interest</a:t>
            </a:r>
            <a:endParaRPr lang="en-US" sz="1200" dirty="0"/>
          </a:p>
          <a:p>
            <a:pPr marL="0" indent="0" algn="ctr">
              <a:buNone/>
            </a:pPr>
            <a:r>
              <a:rPr lang="en-US" sz="1200" b="1" dirty="0">
                <a:solidFill>
                  <a:srgbClr val="1F1B3A"/>
                </a:solidFill>
                <a:latin typeface="Calibri" pitchFamily="34" charset="0"/>
                <a:ea typeface="Calibri" pitchFamily="34" charset="-122"/>
                <a:cs typeface="Calibri" pitchFamily="34" charset="-120"/>
              </a:rPr>
              <a:t>Selection</a:t>
            </a:r>
            <a:endParaRPr lang="en-US" sz="1200" dirty="0"/>
          </a:p>
        </p:txBody>
      </p:sp>
      <p:sp>
        <p:nvSpPr>
          <p:cNvPr id="9" name="Text 7"/>
          <p:cNvSpPr/>
          <p:nvPr/>
        </p:nvSpPr>
        <p:spPr>
          <a:xfrm>
            <a:off x="2423160" y="3246120"/>
            <a:ext cx="429768" cy="548640"/>
          </a:xfrm>
          <a:prstGeom prst="rect">
            <a:avLst/>
          </a:prstGeom>
          <a:noFill/>
          <a:ln/>
        </p:spPr>
        <p:txBody>
          <a:bodyPr wrap="square" lIns="0" tIns="0" rIns="0" bIns="0" rtlCol="0" anchor="ctr"/>
          <a:lstStyle/>
          <a:p>
            <a:pPr marL="0" indent="0" algn="ctr">
              <a:buNone/>
            </a:pPr>
            <a:r>
              <a:rPr lang="en-US" sz="2000" b="1" dirty="0">
                <a:solidFill>
                  <a:srgbClr val="EC4899"/>
                </a:solidFill>
              </a:rPr>
              <a:t>→</a:t>
            </a:r>
            <a:endParaRPr lang="en-US" sz="2000" dirty="0"/>
          </a:p>
        </p:txBody>
      </p:sp>
      <p:sp>
        <p:nvSpPr>
          <p:cNvPr id="10" name="Shape 8"/>
          <p:cNvSpPr/>
          <p:nvPr/>
        </p:nvSpPr>
        <p:spPr>
          <a:xfrm>
            <a:off x="2852928" y="2743200"/>
            <a:ext cx="1874520" cy="1554480"/>
          </a:xfrm>
          <a:prstGeom prst="roundRect">
            <a:avLst>
              <a:gd name="adj" fmla="val 5882"/>
            </a:avLst>
          </a:prstGeom>
          <a:solidFill>
            <a:srgbClr val="F6F4FC"/>
          </a:solidFill>
          <a:ln/>
        </p:spPr>
      </p:sp>
      <p:sp>
        <p:nvSpPr>
          <p:cNvPr id="11" name="Shape 9"/>
          <p:cNvSpPr/>
          <p:nvPr/>
        </p:nvSpPr>
        <p:spPr>
          <a:xfrm>
            <a:off x="3497580" y="2944368"/>
            <a:ext cx="585216" cy="585216"/>
          </a:xfrm>
          <a:prstGeom prst="ellipse">
            <a:avLst/>
          </a:prstGeom>
          <a:solidFill>
            <a:srgbClr val="6C3CE9"/>
          </a:solidFill>
          <a:ln/>
        </p:spPr>
      </p:sp>
      <p:sp>
        <p:nvSpPr>
          <p:cNvPr id="12" name="Text 10"/>
          <p:cNvSpPr/>
          <p:nvPr/>
        </p:nvSpPr>
        <p:spPr>
          <a:xfrm>
            <a:off x="3497580" y="2926080"/>
            <a:ext cx="585216" cy="585216"/>
          </a:xfrm>
          <a:prstGeom prst="rect">
            <a:avLst/>
          </a:prstGeom>
          <a:noFill/>
          <a:ln/>
        </p:spPr>
        <p:txBody>
          <a:bodyPr wrap="square" lIns="0" tIns="0" rIns="0" bIns="0" rtlCol="0" anchor="ctr"/>
          <a:lstStyle/>
          <a:p>
            <a:pPr marL="0" indent="0" algn="ctr">
              <a:buNone/>
            </a:pPr>
            <a:r>
              <a:rPr lang="en-US" sz="2600" dirty="0">
                <a:solidFill>
                  <a:srgbClr val="000000"/>
                </a:solidFill>
                <a:latin typeface="Segoe UI Emoji" pitchFamily="34" charset="0"/>
                <a:ea typeface="Segoe UI Emoji" pitchFamily="34" charset="-122"/>
                <a:cs typeface="Segoe UI Emoji" pitchFamily="34" charset="-120"/>
              </a:rPr>
              <a:t>🔑</a:t>
            </a:r>
            <a:endParaRPr lang="en-US" sz="2600" dirty="0"/>
          </a:p>
        </p:txBody>
      </p:sp>
      <p:sp>
        <p:nvSpPr>
          <p:cNvPr id="13" name="Text 11"/>
          <p:cNvSpPr/>
          <p:nvPr/>
        </p:nvSpPr>
        <p:spPr>
          <a:xfrm>
            <a:off x="2852928" y="3657600"/>
            <a:ext cx="1874520" cy="548640"/>
          </a:xfrm>
          <a:prstGeom prst="rect">
            <a:avLst/>
          </a:prstGeom>
          <a:noFill/>
          <a:ln/>
        </p:spPr>
        <p:txBody>
          <a:bodyPr wrap="square" lIns="0" tIns="0" rIns="0" bIns="0" rtlCol="0" anchor="ctr"/>
          <a:lstStyle/>
          <a:p>
            <a:pPr marL="0" indent="0" algn="ctr">
              <a:buNone/>
            </a:pPr>
            <a:r>
              <a:rPr lang="en-US" sz="1200" b="1" dirty="0">
                <a:solidFill>
                  <a:srgbClr val="1F1B3A"/>
                </a:solidFill>
                <a:latin typeface="Calibri" pitchFamily="34" charset="0"/>
                <a:ea typeface="Calibri" pitchFamily="34" charset="-122"/>
                <a:cs typeface="Calibri" pitchFamily="34" charset="-120"/>
              </a:rPr>
              <a:t>Keyword</a:t>
            </a:r>
            <a:endParaRPr lang="en-US" sz="1200" dirty="0"/>
          </a:p>
          <a:p>
            <a:pPr marL="0" indent="0" algn="ctr">
              <a:buNone/>
            </a:pPr>
            <a:r>
              <a:rPr lang="en-US" sz="1200" b="1" dirty="0">
                <a:solidFill>
                  <a:srgbClr val="1F1B3A"/>
                </a:solidFill>
                <a:latin typeface="Calibri" pitchFamily="34" charset="0"/>
                <a:ea typeface="Calibri" pitchFamily="34" charset="-122"/>
                <a:cs typeface="Calibri" pitchFamily="34" charset="-120"/>
              </a:rPr>
              <a:t>Mapping</a:t>
            </a:r>
            <a:endParaRPr lang="en-US" sz="1200" dirty="0"/>
          </a:p>
        </p:txBody>
      </p:sp>
      <p:sp>
        <p:nvSpPr>
          <p:cNvPr id="14" name="Text 12"/>
          <p:cNvSpPr/>
          <p:nvPr/>
        </p:nvSpPr>
        <p:spPr>
          <a:xfrm>
            <a:off x="4727448" y="3246120"/>
            <a:ext cx="429768" cy="548640"/>
          </a:xfrm>
          <a:prstGeom prst="rect">
            <a:avLst/>
          </a:prstGeom>
          <a:noFill/>
          <a:ln/>
        </p:spPr>
        <p:txBody>
          <a:bodyPr wrap="square" lIns="0" tIns="0" rIns="0" bIns="0" rtlCol="0" anchor="ctr"/>
          <a:lstStyle/>
          <a:p>
            <a:pPr marL="0" indent="0" algn="ctr">
              <a:buNone/>
            </a:pPr>
            <a:r>
              <a:rPr lang="en-US" sz="2000" b="1" dirty="0">
                <a:solidFill>
                  <a:srgbClr val="EC4899"/>
                </a:solidFill>
              </a:rPr>
              <a:t>→</a:t>
            </a:r>
            <a:endParaRPr lang="en-US" sz="2000" dirty="0"/>
          </a:p>
        </p:txBody>
      </p:sp>
      <p:sp>
        <p:nvSpPr>
          <p:cNvPr id="15" name="Shape 13"/>
          <p:cNvSpPr/>
          <p:nvPr/>
        </p:nvSpPr>
        <p:spPr>
          <a:xfrm>
            <a:off x="5157216" y="2743200"/>
            <a:ext cx="1874520" cy="1554480"/>
          </a:xfrm>
          <a:prstGeom prst="roundRect">
            <a:avLst>
              <a:gd name="adj" fmla="val 5882"/>
            </a:avLst>
          </a:prstGeom>
          <a:solidFill>
            <a:srgbClr val="F6F4FC"/>
          </a:solidFill>
          <a:ln/>
        </p:spPr>
      </p:sp>
      <p:sp>
        <p:nvSpPr>
          <p:cNvPr id="16" name="Shape 14"/>
          <p:cNvSpPr/>
          <p:nvPr/>
        </p:nvSpPr>
        <p:spPr>
          <a:xfrm>
            <a:off x="5801868" y="2944368"/>
            <a:ext cx="585216" cy="585216"/>
          </a:xfrm>
          <a:prstGeom prst="ellipse">
            <a:avLst/>
          </a:prstGeom>
          <a:solidFill>
            <a:srgbClr val="6C3CE9"/>
          </a:solidFill>
          <a:ln/>
        </p:spPr>
      </p:sp>
      <p:sp>
        <p:nvSpPr>
          <p:cNvPr id="17" name="Text 15"/>
          <p:cNvSpPr/>
          <p:nvPr/>
        </p:nvSpPr>
        <p:spPr>
          <a:xfrm>
            <a:off x="5801868" y="2926080"/>
            <a:ext cx="585216" cy="585216"/>
          </a:xfrm>
          <a:prstGeom prst="rect">
            <a:avLst/>
          </a:prstGeom>
          <a:noFill/>
          <a:ln/>
        </p:spPr>
        <p:txBody>
          <a:bodyPr wrap="square" lIns="0" tIns="0" rIns="0" bIns="0" rtlCol="0" anchor="ctr"/>
          <a:lstStyle/>
          <a:p>
            <a:pPr marL="0" indent="0" algn="ctr">
              <a:buNone/>
            </a:pPr>
            <a:r>
              <a:rPr lang="en-US" sz="2600" dirty="0">
                <a:solidFill>
                  <a:srgbClr val="000000"/>
                </a:solidFill>
                <a:latin typeface="Segoe UI Emoji" pitchFamily="34" charset="0"/>
                <a:ea typeface="Segoe UI Emoji" pitchFamily="34" charset="-122"/>
                <a:cs typeface="Segoe UI Emoji" pitchFamily="34" charset="-120"/>
              </a:rPr>
              <a:t>🗂</a:t>
            </a:r>
            <a:endParaRPr lang="en-US" sz="2600" dirty="0"/>
          </a:p>
        </p:txBody>
      </p:sp>
      <p:sp>
        <p:nvSpPr>
          <p:cNvPr id="18" name="Text 16"/>
          <p:cNvSpPr/>
          <p:nvPr/>
        </p:nvSpPr>
        <p:spPr>
          <a:xfrm>
            <a:off x="5157216" y="3657600"/>
            <a:ext cx="1874520" cy="548640"/>
          </a:xfrm>
          <a:prstGeom prst="rect">
            <a:avLst/>
          </a:prstGeom>
          <a:noFill/>
          <a:ln/>
        </p:spPr>
        <p:txBody>
          <a:bodyPr wrap="square" lIns="0" tIns="0" rIns="0" bIns="0" rtlCol="0" anchor="ctr"/>
          <a:lstStyle/>
          <a:p>
            <a:pPr marL="0" indent="0" algn="ctr">
              <a:buNone/>
            </a:pPr>
            <a:r>
              <a:rPr lang="en-US" sz="1200" b="1" dirty="0">
                <a:solidFill>
                  <a:srgbClr val="1F1B3A"/>
                </a:solidFill>
                <a:latin typeface="Calibri" pitchFamily="34" charset="0"/>
                <a:ea typeface="Calibri" pitchFamily="34" charset="-122"/>
                <a:cs typeface="Calibri" pitchFamily="34" charset="-120"/>
              </a:rPr>
              <a:t>Category</a:t>
            </a:r>
            <a:endParaRPr lang="en-US" sz="1200" dirty="0"/>
          </a:p>
          <a:p>
            <a:pPr marL="0" indent="0" algn="ctr">
              <a:buNone/>
            </a:pPr>
            <a:r>
              <a:rPr lang="en-US" sz="1200" b="1" dirty="0">
                <a:solidFill>
                  <a:srgbClr val="1F1B3A"/>
                </a:solidFill>
                <a:latin typeface="Calibri" pitchFamily="34" charset="0"/>
                <a:ea typeface="Calibri" pitchFamily="34" charset="-122"/>
                <a:cs typeface="Calibri" pitchFamily="34" charset="-120"/>
              </a:rPr>
              <a:t>Mapping</a:t>
            </a:r>
            <a:endParaRPr lang="en-US" sz="1200" dirty="0"/>
          </a:p>
        </p:txBody>
      </p:sp>
      <p:sp>
        <p:nvSpPr>
          <p:cNvPr id="19" name="Text 17"/>
          <p:cNvSpPr/>
          <p:nvPr/>
        </p:nvSpPr>
        <p:spPr>
          <a:xfrm>
            <a:off x="7031736" y="3246120"/>
            <a:ext cx="429768" cy="548640"/>
          </a:xfrm>
          <a:prstGeom prst="rect">
            <a:avLst/>
          </a:prstGeom>
          <a:noFill/>
          <a:ln/>
        </p:spPr>
        <p:txBody>
          <a:bodyPr wrap="square" lIns="0" tIns="0" rIns="0" bIns="0" rtlCol="0" anchor="ctr"/>
          <a:lstStyle/>
          <a:p>
            <a:pPr marL="0" indent="0" algn="ctr">
              <a:buNone/>
            </a:pPr>
            <a:r>
              <a:rPr lang="en-US" sz="2000" b="1" dirty="0">
                <a:solidFill>
                  <a:srgbClr val="EC4899"/>
                </a:solidFill>
              </a:rPr>
              <a:t>→</a:t>
            </a:r>
            <a:endParaRPr lang="en-US" sz="2000" dirty="0"/>
          </a:p>
        </p:txBody>
      </p:sp>
      <p:sp>
        <p:nvSpPr>
          <p:cNvPr id="20" name="Shape 18"/>
          <p:cNvSpPr/>
          <p:nvPr/>
        </p:nvSpPr>
        <p:spPr>
          <a:xfrm>
            <a:off x="7461504" y="2743200"/>
            <a:ext cx="1874520" cy="1554480"/>
          </a:xfrm>
          <a:prstGeom prst="roundRect">
            <a:avLst>
              <a:gd name="adj" fmla="val 5882"/>
            </a:avLst>
          </a:prstGeom>
          <a:solidFill>
            <a:srgbClr val="F6F4FC"/>
          </a:solidFill>
          <a:ln/>
        </p:spPr>
      </p:sp>
      <p:sp>
        <p:nvSpPr>
          <p:cNvPr id="21" name="Shape 19"/>
          <p:cNvSpPr/>
          <p:nvPr/>
        </p:nvSpPr>
        <p:spPr>
          <a:xfrm>
            <a:off x="8106156" y="2944368"/>
            <a:ext cx="585216" cy="585216"/>
          </a:xfrm>
          <a:prstGeom prst="ellipse">
            <a:avLst/>
          </a:prstGeom>
          <a:solidFill>
            <a:srgbClr val="6C3CE9"/>
          </a:solidFill>
          <a:ln/>
        </p:spPr>
      </p:sp>
      <p:sp>
        <p:nvSpPr>
          <p:cNvPr id="22" name="Text 20"/>
          <p:cNvSpPr/>
          <p:nvPr/>
        </p:nvSpPr>
        <p:spPr>
          <a:xfrm>
            <a:off x="8106156" y="2926080"/>
            <a:ext cx="585216" cy="585216"/>
          </a:xfrm>
          <a:prstGeom prst="rect">
            <a:avLst/>
          </a:prstGeom>
          <a:noFill/>
          <a:ln/>
        </p:spPr>
        <p:txBody>
          <a:bodyPr wrap="square" lIns="0" tIns="0" rIns="0" bIns="0" rtlCol="0" anchor="ctr"/>
          <a:lstStyle/>
          <a:p>
            <a:pPr marL="0" indent="0" algn="ctr">
              <a:buNone/>
            </a:pPr>
            <a:r>
              <a:rPr lang="en-US" sz="2600" dirty="0">
                <a:solidFill>
                  <a:srgbClr val="000000"/>
                </a:solidFill>
                <a:latin typeface="Segoe UI Emoji" pitchFamily="34" charset="0"/>
                <a:ea typeface="Segoe UI Emoji" pitchFamily="34" charset="-122"/>
                <a:cs typeface="Segoe UI Emoji" pitchFamily="34" charset="-120"/>
              </a:rPr>
              <a:t>🎚</a:t>
            </a:r>
            <a:endParaRPr lang="en-US" sz="2600" dirty="0"/>
          </a:p>
        </p:txBody>
      </p:sp>
      <p:sp>
        <p:nvSpPr>
          <p:cNvPr id="23" name="Text 21"/>
          <p:cNvSpPr/>
          <p:nvPr/>
        </p:nvSpPr>
        <p:spPr>
          <a:xfrm>
            <a:off x="7461504" y="3657600"/>
            <a:ext cx="1874520" cy="548640"/>
          </a:xfrm>
          <a:prstGeom prst="rect">
            <a:avLst/>
          </a:prstGeom>
          <a:noFill/>
          <a:ln/>
        </p:spPr>
        <p:txBody>
          <a:bodyPr wrap="square" lIns="0" tIns="0" rIns="0" bIns="0" rtlCol="0" anchor="ctr"/>
          <a:lstStyle/>
          <a:p>
            <a:pPr marL="0" indent="0" algn="ctr">
              <a:buNone/>
            </a:pPr>
            <a:r>
              <a:rPr lang="en-US" sz="1200" b="1" dirty="0">
                <a:solidFill>
                  <a:srgbClr val="1F1B3A"/>
                </a:solidFill>
                <a:latin typeface="Calibri" pitchFamily="34" charset="0"/>
                <a:ea typeface="Calibri" pitchFamily="34" charset="-122"/>
                <a:cs typeface="Calibri" pitchFamily="34" charset="-120"/>
              </a:rPr>
              <a:t>News</a:t>
            </a:r>
            <a:endParaRPr lang="en-US" sz="1200" dirty="0"/>
          </a:p>
          <a:p>
            <a:pPr marL="0" indent="0" algn="ctr">
              <a:buNone/>
            </a:pPr>
            <a:r>
              <a:rPr lang="en-US" sz="1200" b="1" dirty="0">
                <a:solidFill>
                  <a:srgbClr val="1F1B3A"/>
                </a:solidFill>
                <a:latin typeface="Calibri" pitchFamily="34" charset="0"/>
                <a:ea typeface="Calibri" pitchFamily="34" charset="-122"/>
                <a:cs typeface="Calibri" pitchFamily="34" charset="-120"/>
              </a:rPr>
              <a:t>Filtering</a:t>
            </a:r>
            <a:endParaRPr lang="en-US" sz="1200" dirty="0"/>
          </a:p>
        </p:txBody>
      </p:sp>
      <p:sp>
        <p:nvSpPr>
          <p:cNvPr id="24" name="Text 22"/>
          <p:cNvSpPr/>
          <p:nvPr/>
        </p:nvSpPr>
        <p:spPr>
          <a:xfrm>
            <a:off x="9336024" y="3246120"/>
            <a:ext cx="429768" cy="548640"/>
          </a:xfrm>
          <a:prstGeom prst="rect">
            <a:avLst/>
          </a:prstGeom>
          <a:noFill/>
          <a:ln/>
        </p:spPr>
        <p:txBody>
          <a:bodyPr wrap="square" lIns="0" tIns="0" rIns="0" bIns="0" rtlCol="0" anchor="ctr"/>
          <a:lstStyle/>
          <a:p>
            <a:pPr marL="0" indent="0" algn="ctr">
              <a:buNone/>
            </a:pPr>
            <a:r>
              <a:rPr lang="en-US" sz="2000" b="1" dirty="0">
                <a:solidFill>
                  <a:srgbClr val="EC4899"/>
                </a:solidFill>
              </a:rPr>
              <a:t>→</a:t>
            </a:r>
            <a:endParaRPr lang="en-US" sz="2000" dirty="0"/>
          </a:p>
        </p:txBody>
      </p:sp>
      <p:sp>
        <p:nvSpPr>
          <p:cNvPr id="25" name="Shape 23"/>
          <p:cNvSpPr/>
          <p:nvPr/>
        </p:nvSpPr>
        <p:spPr>
          <a:xfrm>
            <a:off x="9765792" y="2743200"/>
            <a:ext cx="1874520" cy="1554480"/>
          </a:xfrm>
          <a:prstGeom prst="roundRect">
            <a:avLst>
              <a:gd name="adj" fmla="val 5882"/>
            </a:avLst>
          </a:prstGeom>
          <a:solidFill>
            <a:srgbClr val="6C3CE9"/>
          </a:solidFill>
          <a:ln/>
        </p:spPr>
      </p:sp>
      <p:sp>
        <p:nvSpPr>
          <p:cNvPr id="26" name="Shape 24"/>
          <p:cNvSpPr/>
          <p:nvPr/>
        </p:nvSpPr>
        <p:spPr>
          <a:xfrm>
            <a:off x="10410444" y="2944368"/>
            <a:ext cx="585216" cy="585216"/>
          </a:xfrm>
          <a:prstGeom prst="ellipse">
            <a:avLst/>
          </a:prstGeom>
          <a:solidFill>
            <a:srgbClr val="EC4899"/>
          </a:solidFill>
          <a:ln/>
        </p:spPr>
      </p:sp>
      <p:sp>
        <p:nvSpPr>
          <p:cNvPr id="27" name="Text 25"/>
          <p:cNvSpPr/>
          <p:nvPr/>
        </p:nvSpPr>
        <p:spPr>
          <a:xfrm>
            <a:off x="10410444" y="2926080"/>
            <a:ext cx="585216" cy="585216"/>
          </a:xfrm>
          <a:prstGeom prst="rect">
            <a:avLst/>
          </a:prstGeom>
          <a:noFill/>
          <a:ln/>
        </p:spPr>
        <p:txBody>
          <a:bodyPr wrap="square" lIns="0" tIns="0" rIns="0" bIns="0" rtlCol="0" anchor="ctr"/>
          <a:lstStyle/>
          <a:p>
            <a:pPr marL="0" indent="0" algn="ctr">
              <a:buNone/>
            </a:pPr>
            <a:r>
              <a:rPr lang="en-US" sz="2600" dirty="0">
                <a:solidFill>
                  <a:srgbClr val="000000"/>
                </a:solidFill>
                <a:latin typeface="Segoe UI Emoji" pitchFamily="34" charset="0"/>
                <a:ea typeface="Segoe UI Emoji" pitchFamily="34" charset="-122"/>
                <a:cs typeface="Segoe UI Emoji" pitchFamily="34" charset="-120"/>
              </a:rPr>
              <a:t>✨</a:t>
            </a:r>
            <a:endParaRPr lang="en-US" sz="2600" dirty="0"/>
          </a:p>
        </p:txBody>
      </p:sp>
      <p:sp>
        <p:nvSpPr>
          <p:cNvPr id="28" name="Text 26"/>
          <p:cNvSpPr/>
          <p:nvPr/>
        </p:nvSpPr>
        <p:spPr>
          <a:xfrm>
            <a:off x="9765792" y="3657600"/>
            <a:ext cx="1874520" cy="5486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Personalized</a:t>
            </a:r>
            <a:endParaRPr lang="en-US" sz="1200" dirty="0"/>
          </a:p>
          <a:p>
            <a:pPr marL="0" indent="0" algn="ctr">
              <a:buNone/>
            </a:pPr>
            <a:r>
              <a:rPr lang="en-US" sz="1200" b="1" dirty="0">
                <a:solidFill>
                  <a:srgbClr val="FFFFFF"/>
                </a:solidFill>
                <a:latin typeface="Calibri" pitchFamily="34" charset="0"/>
                <a:ea typeface="Calibri" pitchFamily="34" charset="-122"/>
                <a:cs typeface="Calibri" pitchFamily="34" charset="-120"/>
              </a:rPr>
              <a:t>Feed</a:t>
            </a:r>
            <a:endParaRPr lang="en-US" sz="1200" dirty="0"/>
          </a:p>
        </p:txBody>
      </p:sp>
      <p:sp>
        <p:nvSpPr>
          <p:cNvPr id="29" name="Text 27"/>
          <p:cNvSpPr/>
          <p:nvPr/>
        </p:nvSpPr>
        <p:spPr>
          <a:xfrm>
            <a:off x="1097280" y="4709160"/>
            <a:ext cx="9966960" cy="822960"/>
          </a:xfrm>
          <a:prstGeom prst="rect">
            <a:avLst/>
          </a:prstGeom>
          <a:noFill/>
          <a:ln/>
        </p:spPr>
        <p:txBody>
          <a:bodyPr wrap="square" lIns="0" tIns="0" rIns="0" bIns="0" rtlCol="0" anchor="ctr"/>
          <a:lstStyle/>
          <a:p>
            <a:pPr marL="0" indent="0" algn="ctr">
              <a:buNone/>
            </a:pPr>
            <a:r>
              <a:rPr lang="en-US" sz="1250" i="1" dirty="0">
                <a:solidFill>
                  <a:srgbClr val="6B6480"/>
                </a:solidFill>
                <a:latin typeface="Calibri" pitchFamily="34" charset="0"/>
                <a:ea typeface="Calibri" pitchFamily="34" charset="-122"/>
                <a:cs typeface="Calibri" pitchFamily="34" charset="-120"/>
              </a:rPr>
              <a:t>During onboarding, a user's chosen interests (e.g. Technology, Cricket) are converted by the Category Service into specific search keywords, which the News Service then uses to filter live articles into a feed unique to that user.</a:t>
            </a:r>
            <a:endParaRPr lang="en-US" sz="1250" dirty="0"/>
          </a:p>
        </p:txBody>
      </p:sp>
      <p:sp>
        <p:nvSpPr>
          <p:cNvPr id="30" name="Text 28"/>
          <p:cNvSpPr/>
          <p:nvPr/>
        </p:nvSpPr>
        <p:spPr>
          <a:xfrm>
            <a:off x="548640" y="6528816"/>
            <a:ext cx="2743200" cy="274320"/>
          </a:xfrm>
          <a:prstGeom prst="rect">
            <a:avLst/>
          </a:prstGeom>
          <a:noFill/>
          <a:ln/>
        </p:spPr>
        <p:txBody>
          <a:bodyPr wrap="square" lIns="0" tIns="0" rIns="0" bIns="0" rtlCol="0" anchor="ctr"/>
          <a:lstStyle/>
          <a:p>
            <a:pPr marL="0" indent="0" algn="l">
              <a:buNone/>
            </a:pPr>
            <a:r>
              <a:rPr lang="en-US" sz="1000" dirty="0">
                <a:solidFill>
                  <a:srgbClr val="6B6480"/>
                </a:solidFill>
                <a:latin typeface="Calibri" pitchFamily="34" charset="0"/>
                <a:ea typeface="Calibri" pitchFamily="34" charset="-122"/>
                <a:cs typeface="Calibri" pitchFamily="34" charset="-120"/>
              </a:rPr>
              <a:t>NewsNest</a:t>
            </a:r>
            <a:endParaRPr lang="en-US" sz="1000" dirty="0"/>
          </a:p>
        </p:txBody>
      </p:sp>
      <p:sp>
        <p:nvSpPr>
          <p:cNvPr id="31" name="Text 29"/>
          <p:cNvSpPr/>
          <p:nvPr/>
        </p:nvSpPr>
        <p:spPr>
          <a:xfrm>
            <a:off x="11183112" y="6528816"/>
            <a:ext cx="457200" cy="274320"/>
          </a:xfrm>
          <a:prstGeom prst="rect">
            <a:avLst/>
          </a:prstGeom>
          <a:noFill/>
          <a:ln/>
        </p:spPr>
        <p:txBody>
          <a:bodyPr wrap="square" lIns="0" tIns="0" rIns="0" bIns="0" rtlCol="0" anchor="ctr"/>
          <a:lstStyle/>
          <a:p>
            <a:pPr marL="0" indent="0" algn="r">
              <a:buNone/>
            </a:pPr>
            <a:r>
              <a:rPr lang="en-US" sz="1000" dirty="0">
                <a:solidFill>
                  <a:srgbClr val="6B6480"/>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91672" cy="685800"/>
          </a:xfrm>
          <a:prstGeom prst="rect">
            <a:avLst/>
          </a:prstGeom>
          <a:noFill/>
          <a:ln/>
        </p:spPr>
        <p:txBody>
          <a:bodyPr wrap="square" lIns="0" tIns="0" rIns="0" bIns="0" rtlCol="0" anchor="ctr"/>
          <a:lstStyle/>
          <a:p>
            <a:pPr marL="0" indent="0" algn="l">
              <a:buNone/>
            </a:pPr>
            <a:r>
              <a:rPr lang="en-US" sz="3200" b="1" dirty="0">
                <a:solidFill>
                  <a:srgbClr val="2A1B5D"/>
                </a:solidFill>
                <a:latin typeface="Cambria" pitchFamily="34" charset="0"/>
                <a:ea typeface="Cambria" pitchFamily="34" charset="-122"/>
                <a:cs typeface="Cambria" pitchFamily="34" charset="-120"/>
              </a:rPr>
              <a:t>Docker Implementation</a:t>
            </a:r>
            <a:endParaRPr lang="en-US" sz="3200" dirty="0"/>
          </a:p>
        </p:txBody>
      </p:sp>
      <p:sp>
        <p:nvSpPr>
          <p:cNvPr id="3" name="Shape 1"/>
          <p:cNvSpPr/>
          <p:nvPr/>
        </p:nvSpPr>
        <p:spPr>
          <a:xfrm>
            <a:off x="548640" y="1042416"/>
            <a:ext cx="502920" cy="41148"/>
          </a:xfrm>
          <a:prstGeom prst="rect">
            <a:avLst/>
          </a:prstGeom>
          <a:solidFill>
            <a:srgbClr val="EC4899"/>
          </a:solidFill>
          <a:ln/>
        </p:spPr>
      </p:sp>
      <p:sp>
        <p:nvSpPr>
          <p:cNvPr id="4" name="Text 2"/>
          <p:cNvSpPr/>
          <p:nvPr/>
        </p:nvSpPr>
        <p:spPr>
          <a:xfrm>
            <a:off x="548640" y="1097280"/>
            <a:ext cx="11091672" cy="365760"/>
          </a:xfrm>
          <a:prstGeom prst="rect">
            <a:avLst/>
          </a:prstGeom>
          <a:noFill/>
          <a:ln/>
        </p:spPr>
        <p:txBody>
          <a:bodyPr wrap="square" lIns="0" tIns="0" rIns="0" bIns="0" rtlCol="0" anchor="ctr"/>
          <a:lstStyle/>
          <a:p>
            <a:pPr marL="0" indent="0" algn="l">
              <a:buNone/>
            </a:pPr>
            <a:r>
              <a:rPr lang="en-US" sz="1400" i="1" dirty="0">
                <a:solidFill>
                  <a:srgbClr val="6B6480"/>
                </a:solidFill>
                <a:latin typeface="Calibri" pitchFamily="34" charset="0"/>
                <a:ea typeface="Calibri" pitchFamily="34" charset="-122"/>
                <a:cs typeface="Calibri" pitchFamily="34" charset="-120"/>
              </a:rPr>
              <a:t>Every microservice runs in its own isolated container</a:t>
            </a:r>
            <a:endParaRPr lang="en-US" sz="1400" dirty="0"/>
          </a:p>
        </p:txBody>
      </p:sp>
      <p:sp>
        <p:nvSpPr>
          <p:cNvPr id="5" name="Shape 3"/>
          <p:cNvSpPr/>
          <p:nvPr/>
        </p:nvSpPr>
        <p:spPr>
          <a:xfrm>
            <a:off x="548640" y="1691640"/>
            <a:ext cx="3200400" cy="594360"/>
          </a:xfrm>
          <a:prstGeom prst="roundRect">
            <a:avLst>
              <a:gd name="adj" fmla="val 49231"/>
            </a:avLst>
          </a:prstGeom>
          <a:solidFill>
            <a:srgbClr val="F6F4FC"/>
          </a:solidFill>
          <a:ln w="12700">
            <a:solidFill>
              <a:srgbClr val="6C3CE9"/>
            </a:solidFill>
            <a:prstDash val="solid"/>
          </a:ln>
        </p:spPr>
      </p:sp>
      <p:sp>
        <p:nvSpPr>
          <p:cNvPr id="6" name="Text 4"/>
          <p:cNvSpPr/>
          <p:nvPr/>
        </p:nvSpPr>
        <p:spPr>
          <a:xfrm>
            <a:off x="548640" y="1691640"/>
            <a:ext cx="3200400" cy="594360"/>
          </a:xfrm>
          <a:prstGeom prst="rect">
            <a:avLst/>
          </a:prstGeom>
          <a:noFill/>
          <a:ln/>
        </p:spPr>
        <p:txBody>
          <a:bodyPr wrap="square" lIns="0" tIns="0" rIns="0" bIns="0" rtlCol="0" anchor="ctr"/>
          <a:lstStyle/>
          <a:p>
            <a:pPr marL="0" indent="0" algn="ctr">
              <a:buNone/>
            </a:pPr>
            <a:r>
              <a:rPr lang="en-US" sz="1250" b="1" dirty="0">
                <a:solidFill>
                  <a:srgbClr val="1F1B3A"/>
                </a:solidFill>
                <a:latin typeface="Calibri" pitchFamily="34" charset="0"/>
                <a:ea typeface="Calibri" pitchFamily="34" charset="-122"/>
                <a:cs typeface="Calibri" pitchFamily="34" charset="-120"/>
              </a:rPr>
              <a:t>🖥 Frontend</a:t>
            </a:r>
            <a:endParaRPr lang="en-US" sz="1250" dirty="0"/>
          </a:p>
        </p:txBody>
      </p:sp>
      <p:sp>
        <p:nvSpPr>
          <p:cNvPr id="7" name="Text 5"/>
          <p:cNvSpPr/>
          <p:nvPr/>
        </p:nvSpPr>
        <p:spPr>
          <a:xfrm>
            <a:off x="3749040" y="1691640"/>
            <a:ext cx="457200" cy="594360"/>
          </a:xfrm>
          <a:prstGeom prst="rect">
            <a:avLst/>
          </a:prstGeom>
          <a:noFill/>
          <a:ln/>
        </p:spPr>
        <p:txBody>
          <a:bodyPr wrap="square" lIns="0" tIns="0" rIns="0" bIns="0" rtlCol="0" anchor="ctr"/>
          <a:lstStyle/>
          <a:p>
            <a:pPr marL="0" indent="0" algn="ctr">
              <a:buNone/>
            </a:pPr>
            <a:r>
              <a:rPr lang="en-US" sz="1600" dirty="0">
                <a:solidFill>
                  <a:srgbClr val="EC4899"/>
                </a:solidFill>
              </a:rPr>
              <a:t>→</a:t>
            </a:r>
            <a:endParaRPr lang="en-US" sz="1600" dirty="0"/>
          </a:p>
        </p:txBody>
      </p:sp>
      <p:sp>
        <p:nvSpPr>
          <p:cNvPr id="8" name="Shape 6"/>
          <p:cNvSpPr/>
          <p:nvPr/>
        </p:nvSpPr>
        <p:spPr>
          <a:xfrm>
            <a:off x="548640" y="2468880"/>
            <a:ext cx="3200400" cy="594360"/>
          </a:xfrm>
          <a:prstGeom prst="roundRect">
            <a:avLst>
              <a:gd name="adj" fmla="val 49231"/>
            </a:avLst>
          </a:prstGeom>
          <a:solidFill>
            <a:srgbClr val="F6F4FC"/>
          </a:solidFill>
          <a:ln w="12700">
            <a:solidFill>
              <a:srgbClr val="6C3CE9"/>
            </a:solidFill>
            <a:prstDash val="solid"/>
          </a:ln>
        </p:spPr>
      </p:sp>
      <p:sp>
        <p:nvSpPr>
          <p:cNvPr id="9" name="Text 7"/>
          <p:cNvSpPr/>
          <p:nvPr/>
        </p:nvSpPr>
        <p:spPr>
          <a:xfrm>
            <a:off x="548640" y="2468880"/>
            <a:ext cx="3200400" cy="594360"/>
          </a:xfrm>
          <a:prstGeom prst="rect">
            <a:avLst/>
          </a:prstGeom>
          <a:noFill/>
          <a:ln/>
        </p:spPr>
        <p:txBody>
          <a:bodyPr wrap="square" lIns="0" tIns="0" rIns="0" bIns="0" rtlCol="0" anchor="ctr"/>
          <a:lstStyle/>
          <a:p>
            <a:pPr marL="0" indent="0" algn="ctr">
              <a:buNone/>
            </a:pPr>
            <a:r>
              <a:rPr lang="en-US" sz="1250" b="1" dirty="0">
                <a:solidFill>
                  <a:srgbClr val="1F1B3A"/>
                </a:solidFill>
                <a:latin typeface="Calibri" pitchFamily="34" charset="0"/>
                <a:ea typeface="Calibri" pitchFamily="34" charset="-122"/>
                <a:cs typeface="Calibri" pitchFamily="34" charset="-120"/>
              </a:rPr>
              <a:t>🚪 API Gateway</a:t>
            </a:r>
            <a:endParaRPr lang="en-US" sz="1250" dirty="0"/>
          </a:p>
        </p:txBody>
      </p:sp>
      <p:sp>
        <p:nvSpPr>
          <p:cNvPr id="10" name="Text 8"/>
          <p:cNvSpPr/>
          <p:nvPr/>
        </p:nvSpPr>
        <p:spPr>
          <a:xfrm>
            <a:off x="3749040" y="2468880"/>
            <a:ext cx="457200" cy="594360"/>
          </a:xfrm>
          <a:prstGeom prst="rect">
            <a:avLst/>
          </a:prstGeom>
          <a:noFill/>
          <a:ln/>
        </p:spPr>
        <p:txBody>
          <a:bodyPr wrap="square" lIns="0" tIns="0" rIns="0" bIns="0" rtlCol="0" anchor="ctr"/>
          <a:lstStyle/>
          <a:p>
            <a:pPr marL="0" indent="0" algn="ctr">
              <a:buNone/>
            </a:pPr>
            <a:r>
              <a:rPr lang="en-US" sz="1600" dirty="0">
                <a:solidFill>
                  <a:srgbClr val="EC4899"/>
                </a:solidFill>
              </a:rPr>
              <a:t>→</a:t>
            </a:r>
            <a:endParaRPr lang="en-US" sz="1600" dirty="0"/>
          </a:p>
        </p:txBody>
      </p:sp>
      <p:sp>
        <p:nvSpPr>
          <p:cNvPr id="11" name="Shape 9"/>
          <p:cNvSpPr/>
          <p:nvPr/>
        </p:nvSpPr>
        <p:spPr>
          <a:xfrm>
            <a:off x="548640" y="3246120"/>
            <a:ext cx="3200400" cy="594360"/>
          </a:xfrm>
          <a:prstGeom prst="roundRect">
            <a:avLst>
              <a:gd name="adj" fmla="val 49231"/>
            </a:avLst>
          </a:prstGeom>
          <a:solidFill>
            <a:srgbClr val="F6F4FC"/>
          </a:solidFill>
          <a:ln w="12700">
            <a:solidFill>
              <a:srgbClr val="6C3CE9"/>
            </a:solidFill>
            <a:prstDash val="solid"/>
          </a:ln>
        </p:spPr>
      </p:sp>
      <p:sp>
        <p:nvSpPr>
          <p:cNvPr id="12" name="Text 10"/>
          <p:cNvSpPr/>
          <p:nvPr/>
        </p:nvSpPr>
        <p:spPr>
          <a:xfrm>
            <a:off x="548640" y="3246120"/>
            <a:ext cx="3200400" cy="594360"/>
          </a:xfrm>
          <a:prstGeom prst="rect">
            <a:avLst/>
          </a:prstGeom>
          <a:noFill/>
          <a:ln/>
        </p:spPr>
        <p:txBody>
          <a:bodyPr wrap="square" lIns="0" tIns="0" rIns="0" bIns="0" rtlCol="0" anchor="ctr"/>
          <a:lstStyle/>
          <a:p>
            <a:pPr marL="0" indent="0" algn="ctr">
              <a:buNone/>
            </a:pPr>
            <a:r>
              <a:rPr lang="en-US" sz="1250" b="1" dirty="0">
                <a:solidFill>
                  <a:srgbClr val="1F1B3A"/>
                </a:solidFill>
                <a:latin typeface="Calibri" pitchFamily="34" charset="0"/>
                <a:ea typeface="Calibri" pitchFamily="34" charset="-122"/>
                <a:cs typeface="Calibri" pitchFamily="34" charset="-120"/>
              </a:rPr>
              <a:t>📡 News Service</a:t>
            </a:r>
            <a:endParaRPr lang="en-US" sz="1250" dirty="0"/>
          </a:p>
        </p:txBody>
      </p:sp>
      <p:sp>
        <p:nvSpPr>
          <p:cNvPr id="13" name="Text 11"/>
          <p:cNvSpPr/>
          <p:nvPr/>
        </p:nvSpPr>
        <p:spPr>
          <a:xfrm>
            <a:off x="3749040" y="3246120"/>
            <a:ext cx="457200" cy="594360"/>
          </a:xfrm>
          <a:prstGeom prst="rect">
            <a:avLst/>
          </a:prstGeom>
          <a:noFill/>
          <a:ln/>
        </p:spPr>
        <p:txBody>
          <a:bodyPr wrap="square" lIns="0" tIns="0" rIns="0" bIns="0" rtlCol="0" anchor="ctr"/>
          <a:lstStyle/>
          <a:p>
            <a:pPr marL="0" indent="0" algn="ctr">
              <a:buNone/>
            </a:pPr>
            <a:r>
              <a:rPr lang="en-US" sz="1600" dirty="0">
                <a:solidFill>
                  <a:srgbClr val="EC4899"/>
                </a:solidFill>
              </a:rPr>
              <a:t>→</a:t>
            </a:r>
            <a:endParaRPr lang="en-US" sz="1600" dirty="0"/>
          </a:p>
        </p:txBody>
      </p:sp>
      <p:sp>
        <p:nvSpPr>
          <p:cNvPr id="14" name="Shape 12"/>
          <p:cNvSpPr/>
          <p:nvPr/>
        </p:nvSpPr>
        <p:spPr>
          <a:xfrm>
            <a:off x="548640" y="4023360"/>
            <a:ext cx="3200400" cy="594360"/>
          </a:xfrm>
          <a:prstGeom prst="roundRect">
            <a:avLst>
              <a:gd name="adj" fmla="val 49231"/>
            </a:avLst>
          </a:prstGeom>
          <a:solidFill>
            <a:srgbClr val="F6F4FC"/>
          </a:solidFill>
          <a:ln w="12700">
            <a:solidFill>
              <a:srgbClr val="6C3CE9"/>
            </a:solidFill>
            <a:prstDash val="solid"/>
          </a:ln>
        </p:spPr>
      </p:sp>
      <p:sp>
        <p:nvSpPr>
          <p:cNvPr id="15" name="Text 13"/>
          <p:cNvSpPr/>
          <p:nvPr/>
        </p:nvSpPr>
        <p:spPr>
          <a:xfrm>
            <a:off x="548640" y="4023360"/>
            <a:ext cx="3200400" cy="594360"/>
          </a:xfrm>
          <a:prstGeom prst="rect">
            <a:avLst/>
          </a:prstGeom>
          <a:noFill/>
          <a:ln/>
        </p:spPr>
        <p:txBody>
          <a:bodyPr wrap="square" lIns="0" tIns="0" rIns="0" bIns="0" rtlCol="0" anchor="ctr"/>
          <a:lstStyle/>
          <a:p>
            <a:pPr marL="0" indent="0" algn="ctr">
              <a:buNone/>
            </a:pPr>
            <a:r>
              <a:rPr lang="en-US" sz="1250" b="1" dirty="0">
                <a:solidFill>
                  <a:srgbClr val="1F1B3A"/>
                </a:solidFill>
                <a:latin typeface="Calibri" pitchFamily="34" charset="0"/>
                <a:ea typeface="Calibri" pitchFamily="34" charset="-122"/>
                <a:cs typeface="Calibri" pitchFamily="34" charset="-120"/>
              </a:rPr>
              <a:t>🗂 Category Service</a:t>
            </a:r>
            <a:endParaRPr lang="en-US" sz="1250" dirty="0"/>
          </a:p>
        </p:txBody>
      </p:sp>
      <p:sp>
        <p:nvSpPr>
          <p:cNvPr id="16" name="Text 14"/>
          <p:cNvSpPr/>
          <p:nvPr/>
        </p:nvSpPr>
        <p:spPr>
          <a:xfrm>
            <a:off x="3749040" y="4023360"/>
            <a:ext cx="457200" cy="594360"/>
          </a:xfrm>
          <a:prstGeom prst="rect">
            <a:avLst/>
          </a:prstGeom>
          <a:noFill/>
          <a:ln/>
        </p:spPr>
        <p:txBody>
          <a:bodyPr wrap="square" lIns="0" tIns="0" rIns="0" bIns="0" rtlCol="0" anchor="ctr"/>
          <a:lstStyle/>
          <a:p>
            <a:pPr marL="0" indent="0" algn="ctr">
              <a:buNone/>
            </a:pPr>
            <a:r>
              <a:rPr lang="en-US" sz="1600" dirty="0">
                <a:solidFill>
                  <a:srgbClr val="EC4899"/>
                </a:solidFill>
              </a:rPr>
              <a:t>→</a:t>
            </a:r>
            <a:endParaRPr lang="en-US" sz="1600" dirty="0"/>
          </a:p>
        </p:txBody>
      </p:sp>
      <p:sp>
        <p:nvSpPr>
          <p:cNvPr id="17" name="Shape 15"/>
          <p:cNvSpPr/>
          <p:nvPr/>
        </p:nvSpPr>
        <p:spPr>
          <a:xfrm>
            <a:off x="4251960" y="1691640"/>
            <a:ext cx="1920240" cy="2971800"/>
          </a:xfrm>
          <a:prstGeom prst="roundRect">
            <a:avLst>
              <a:gd name="adj" fmla="val 4762"/>
            </a:avLst>
          </a:prstGeom>
          <a:solidFill>
            <a:srgbClr val="2A1B5D"/>
          </a:solidFill>
          <a:ln/>
        </p:spPr>
      </p:sp>
      <p:sp>
        <p:nvSpPr>
          <p:cNvPr id="18" name="Text 16"/>
          <p:cNvSpPr/>
          <p:nvPr/>
        </p:nvSpPr>
        <p:spPr>
          <a:xfrm>
            <a:off x="4251960" y="1920240"/>
            <a:ext cx="1920240" cy="640080"/>
          </a:xfrm>
          <a:prstGeom prst="rect">
            <a:avLst/>
          </a:prstGeom>
          <a:noFill/>
          <a:ln/>
        </p:spPr>
        <p:txBody>
          <a:bodyPr wrap="square" lIns="0" tIns="0" rIns="0" bIns="0" rtlCol="0" anchor="ctr"/>
          <a:lstStyle/>
          <a:p>
            <a:pPr marL="0" indent="0" algn="ctr">
              <a:buNone/>
            </a:pPr>
            <a:r>
              <a:rPr lang="en-US" sz="3000" dirty="0">
                <a:solidFill>
                  <a:srgbClr val="000000"/>
                </a:solidFill>
                <a:latin typeface="Segoe UI Emoji" pitchFamily="34" charset="0"/>
                <a:ea typeface="Segoe UI Emoji" pitchFamily="34" charset="-122"/>
                <a:cs typeface="Segoe UI Emoji" pitchFamily="34" charset="-120"/>
              </a:rPr>
              <a:t>🐳</a:t>
            </a:r>
            <a:endParaRPr lang="en-US" sz="3000" dirty="0"/>
          </a:p>
        </p:txBody>
      </p:sp>
      <p:sp>
        <p:nvSpPr>
          <p:cNvPr id="19" name="Text 17"/>
          <p:cNvSpPr/>
          <p:nvPr/>
        </p:nvSpPr>
        <p:spPr>
          <a:xfrm>
            <a:off x="4251960" y="2606040"/>
            <a:ext cx="1920240" cy="5486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Docker</a:t>
            </a:r>
            <a:endParaRPr lang="en-US" sz="1300" dirty="0"/>
          </a:p>
          <a:p>
            <a:pPr marL="0" indent="0" algn="ctr">
              <a:buNone/>
            </a:pPr>
            <a:r>
              <a:rPr lang="en-US" sz="1300" b="1" dirty="0">
                <a:solidFill>
                  <a:srgbClr val="FFFFFF"/>
                </a:solidFill>
                <a:latin typeface="Calibri" pitchFamily="34" charset="0"/>
                <a:ea typeface="Calibri" pitchFamily="34" charset="-122"/>
                <a:cs typeface="Calibri" pitchFamily="34" charset="-120"/>
              </a:rPr>
              <a:t>Network</a:t>
            </a:r>
            <a:endParaRPr lang="en-US" sz="1300" dirty="0"/>
          </a:p>
        </p:txBody>
      </p:sp>
      <p:sp>
        <p:nvSpPr>
          <p:cNvPr id="20" name="Text 18"/>
          <p:cNvSpPr/>
          <p:nvPr/>
        </p:nvSpPr>
        <p:spPr>
          <a:xfrm>
            <a:off x="4389120" y="3246120"/>
            <a:ext cx="1645920" cy="1280160"/>
          </a:xfrm>
          <a:prstGeom prst="rect">
            <a:avLst/>
          </a:prstGeom>
          <a:noFill/>
          <a:ln/>
        </p:spPr>
        <p:txBody>
          <a:bodyPr wrap="square" lIns="0" tIns="0" rIns="0" bIns="0" rtlCol="0" anchor="ctr"/>
          <a:lstStyle/>
          <a:p>
            <a:pPr marL="0" indent="0" algn="ctr">
              <a:buNone/>
            </a:pPr>
            <a:r>
              <a:rPr lang="en-US" sz="950" dirty="0">
                <a:solidFill>
                  <a:srgbClr val="D9D2F0"/>
                </a:solidFill>
                <a:latin typeface="Calibri" pitchFamily="34" charset="0"/>
                <a:ea typeface="Calibri" pitchFamily="34" charset="-122"/>
                <a:cs typeface="Calibri" pitchFamily="34" charset="-120"/>
              </a:rPr>
              <a:t>Isolated containers</a:t>
            </a:r>
            <a:endParaRPr lang="en-US" sz="950" dirty="0"/>
          </a:p>
          <a:p>
            <a:pPr marL="0" indent="0" algn="ctr">
              <a:buNone/>
            </a:pPr>
            <a:r>
              <a:rPr lang="en-US" sz="950" dirty="0">
                <a:solidFill>
                  <a:srgbClr val="D9D2F0"/>
                </a:solidFill>
                <a:latin typeface="Calibri" pitchFamily="34" charset="0"/>
                <a:ea typeface="Calibri" pitchFamily="34" charset="-122"/>
                <a:cs typeface="Calibri" pitchFamily="34" charset="-120"/>
              </a:rPr>
              <a:t>communicate via</a:t>
            </a:r>
            <a:endParaRPr lang="en-US" sz="950" dirty="0"/>
          </a:p>
          <a:p>
            <a:pPr marL="0" indent="0" algn="ctr">
              <a:buNone/>
            </a:pPr>
            <a:r>
              <a:rPr lang="en-US" sz="950" dirty="0">
                <a:solidFill>
                  <a:srgbClr val="D9D2F0"/>
                </a:solidFill>
                <a:latin typeface="Calibri" pitchFamily="34" charset="0"/>
                <a:ea typeface="Calibri" pitchFamily="34" charset="-122"/>
                <a:cs typeface="Calibri" pitchFamily="34" charset="-120"/>
              </a:rPr>
              <a:t>internal DNS names</a:t>
            </a:r>
            <a:endParaRPr lang="en-US" sz="950" dirty="0"/>
          </a:p>
          <a:p>
            <a:pPr marL="0" indent="0" algn="ctr">
              <a:buNone/>
            </a:pPr>
            <a:r>
              <a:rPr lang="en-US" sz="950" dirty="0">
                <a:solidFill>
                  <a:srgbClr val="D9D2F0"/>
                </a:solidFill>
                <a:latin typeface="Calibri" pitchFamily="34" charset="0"/>
                <a:ea typeface="Calibri" pitchFamily="34" charset="-122"/>
                <a:cs typeface="Calibri" pitchFamily="34" charset="-120"/>
              </a:rPr>
              <a:t>(e.g. news-service:4001)</a:t>
            </a:r>
            <a:endParaRPr lang="en-US" sz="950" dirty="0"/>
          </a:p>
        </p:txBody>
      </p:sp>
      <p:sp>
        <p:nvSpPr>
          <p:cNvPr id="21" name="Text 19"/>
          <p:cNvSpPr/>
          <p:nvPr/>
        </p:nvSpPr>
        <p:spPr>
          <a:xfrm>
            <a:off x="548640" y="4846320"/>
            <a:ext cx="5623560" cy="548640"/>
          </a:xfrm>
          <a:prstGeom prst="rect">
            <a:avLst/>
          </a:prstGeom>
          <a:noFill/>
          <a:ln/>
        </p:spPr>
        <p:txBody>
          <a:bodyPr wrap="square" lIns="0" tIns="0" rIns="0" bIns="0" rtlCol="0" anchor="ctr"/>
          <a:lstStyle/>
          <a:p>
            <a:pPr marL="0" indent="0">
              <a:buNone/>
            </a:pPr>
            <a:r>
              <a:rPr lang="en-US" sz="1150" i="1" dirty="0">
                <a:solidFill>
                  <a:srgbClr val="6B6480"/>
                </a:solidFill>
                <a:latin typeface="Calibri" pitchFamily="34" charset="0"/>
                <a:ea typeface="Calibri" pitchFamily="34" charset="-122"/>
                <a:cs typeface="Calibri" pitchFamily="34" charset="-120"/>
              </a:rPr>
              <a:t>Each service ships its own Dockerfile · Orchestrated together by a single docker-compose.yml</a:t>
            </a:r>
            <a:endParaRPr lang="en-US" sz="1150" dirty="0"/>
          </a:p>
        </p:txBody>
      </p:sp>
      <p:sp>
        <p:nvSpPr>
          <p:cNvPr id="22" name="Shape 20"/>
          <p:cNvSpPr/>
          <p:nvPr/>
        </p:nvSpPr>
        <p:spPr>
          <a:xfrm>
            <a:off x="6583680" y="1691640"/>
            <a:ext cx="5056632" cy="3703320"/>
          </a:xfrm>
          <a:prstGeom prst="roundRect">
            <a:avLst>
              <a:gd name="adj" fmla="val 1975"/>
            </a:avLst>
          </a:prstGeom>
          <a:solidFill>
            <a:srgbClr val="FBFAFE"/>
          </a:solidFill>
          <a:ln w="19050">
            <a:solidFill>
              <a:srgbClr val="C9BFEA"/>
            </a:solidFill>
            <a:prstDash val="dash"/>
          </a:ln>
        </p:spPr>
      </p:sp>
      <p:sp>
        <p:nvSpPr>
          <p:cNvPr id="23" name="Text 21"/>
          <p:cNvSpPr/>
          <p:nvPr/>
        </p:nvSpPr>
        <p:spPr>
          <a:xfrm>
            <a:off x="6583680" y="3268980"/>
            <a:ext cx="5056632" cy="548640"/>
          </a:xfrm>
          <a:prstGeom prst="rect">
            <a:avLst/>
          </a:prstGeom>
          <a:noFill/>
          <a:ln/>
        </p:spPr>
        <p:txBody>
          <a:bodyPr wrap="square" lIns="0" tIns="0" rIns="0" bIns="0" rtlCol="0" anchor="ctr"/>
          <a:lstStyle/>
          <a:p>
            <a:pPr marL="0" indent="0" algn="ctr">
              <a:buNone/>
            </a:pPr>
            <a:r>
              <a:rPr lang="en-US" sz="2000" dirty="0">
                <a:solidFill>
                  <a:srgbClr val="000000"/>
                </a:solidFill>
              </a:rPr>
              <a:t>📷  </a:t>
            </a:r>
            <a:r>
              <a:rPr lang="en-US" sz="1200" i="1" dirty="0">
                <a:solidFill>
                  <a:srgbClr val="6B6480"/>
                </a:solidFill>
                <a:latin typeface="Calibri" pitchFamily="34" charset="0"/>
                <a:ea typeface="Calibri" pitchFamily="34" charset="-122"/>
                <a:cs typeface="Calibri" pitchFamily="34" charset="-120"/>
              </a:rPr>
              <a:t>Insert Docker Desktop / "docker ps" Terminal Screenshot Here</a:t>
            </a:r>
            <a:endParaRPr lang="en-US" sz="2000" dirty="0"/>
          </a:p>
        </p:txBody>
      </p:sp>
      <p:sp>
        <p:nvSpPr>
          <p:cNvPr id="24" name="Text 22"/>
          <p:cNvSpPr/>
          <p:nvPr/>
        </p:nvSpPr>
        <p:spPr>
          <a:xfrm>
            <a:off x="548640" y="6528816"/>
            <a:ext cx="2743200" cy="274320"/>
          </a:xfrm>
          <a:prstGeom prst="rect">
            <a:avLst/>
          </a:prstGeom>
          <a:noFill/>
          <a:ln/>
        </p:spPr>
        <p:txBody>
          <a:bodyPr wrap="square" lIns="0" tIns="0" rIns="0" bIns="0" rtlCol="0" anchor="ctr"/>
          <a:lstStyle/>
          <a:p>
            <a:pPr marL="0" indent="0" algn="l">
              <a:buNone/>
            </a:pPr>
            <a:r>
              <a:rPr lang="en-US" sz="1000" dirty="0">
                <a:solidFill>
                  <a:srgbClr val="6B6480"/>
                </a:solidFill>
                <a:latin typeface="Calibri" pitchFamily="34" charset="0"/>
                <a:ea typeface="Calibri" pitchFamily="34" charset="-122"/>
                <a:cs typeface="Calibri" pitchFamily="34" charset="-120"/>
              </a:rPr>
              <a:t>NewsNest</a:t>
            </a:r>
            <a:endParaRPr lang="en-US" sz="1000" dirty="0"/>
          </a:p>
        </p:txBody>
      </p:sp>
      <p:sp>
        <p:nvSpPr>
          <p:cNvPr id="25" name="Text 23"/>
          <p:cNvSpPr/>
          <p:nvPr/>
        </p:nvSpPr>
        <p:spPr>
          <a:xfrm>
            <a:off x="11183112" y="6528816"/>
            <a:ext cx="457200" cy="274320"/>
          </a:xfrm>
          <a:prstGeom prst="rect">
            <a:avLst/>
          </a:prstGeom>
          <a:noFill/>
          <a:ln/>
        </p:spPr>
        <p:txBody>
          <a:bodyPr wrap="square" lIns="0" tIns="0" rIns="0" bIns="0" rtlCol="0" anchor="ctr"/>
          <a:lstStyle/>
          <a:p>
            <a:pPr marL="0" indent="0" algn="r">
              <a:buNone/>
            </a:pPr>
            <a:r>
              <a:rPr lang="en-US" sz="1000" dirty="0">
                <a:solidFill>
                  <a:srgbClr val="6B6480"/>
                </a:solidFill>
                <a:latin typeface="Calibri" pitchFamily="34" charset="0"/>
                <a:ea typeface="Calibri" pitchFamily="34" charset="-122"/>
                <a:cs typeface="Calibri" pitchFamily="34" charset="-120"/>
              </a:rPr>
              <a:t>15</a:t>
            </a:r>
            <a:endParaRPr lang="en-US" sz="1000" dirty="0"/>
          </a:p>
        </p:txBody>
      </p:sp>
      <p:pic>
        <p:nvPicPr>
          <p:cNvPr id="27" name="Picture 26">
            <a:extLst>
              <a:ext uri="{FF2B5EF4-FFF2-40B4-BE49-F238E27FC236}">
                <a16:creationId xmlns:a16="http://schemas.microsoft.com/office/drawing/2014/main" id="{D19870F3-2F21-7BB7-704F-071FA06AA0C3}"/>
              </a:ext>
            </a:extLst>
          </p:cNvPr>
          <p:cNvPicPr>
            <a:picLocks noChangeAspect="1"/>
          </p:cNvPicPr>
          <p:nvPr/>
        </p:nvPicPr>
        <p:blipFill>
          <a:blip r:embed="rId3"/>
          <a:stretch>
            <a:fillRect/>
          </a:stretch>
        </p:blipFill>
        <p:spPr>
          <a:xfrm>
            <a:off x="6429102" y="1388147"/>
            <a:ext cx="5601423" cy="418011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91672" cy="685800"/>
          </a:xfrm>
          <a:prstGeom prst="rect">
            <a:avLst/>
          </a:prstGeom>
          <a:noFill/>
          <a:ln/>
        </p:spPr>
        <p:txBody>
          <a:bodyPr wrap="square" lIns="0" tIns="0" rIns="0" bIns="0" rtlCol="0" anchor="ctr"/>
          <a:lstStyle/>
          <a:p>
            <a:pPr marL="0" indent="0" algn="l">
              <a:buNone/>
            </a:pPr>
            <a:r>
              <a:rPr lang="en-US" sz="3200" b="1" dirty="0">
                <a:solidFill>
                  <a:srgbClr val="2A1B5D"/>
                </a:solidFill>
                <a:latin typeface="Cambria" pitchFamily="34" charset="0"/>
                <a:ea typeface="Cambria" pitchFamily="34" charset="-122"/>
                <a:cs typeface="Cambria" pitchFamily="34" charset="-120"/>
              </a:rPr>
              <a:t>Kubernetes Deployment</a:t>
            </a:r>
            <a:endParaRPr lang="en-US" sz="3200" dirty="0"/>
          </a:p>
        </p:txBody>
      </p:sp>
      <p:sp>
        <p:nvSpPr>
          <p:cNvPr id="3" name="Shape 1"/>
          <p:cNvSpPr/>
          <p:nvPr/>
        </p:nvSpPr>
        <p:spPr>
          <a:xfrm>
            <a:off x="548640" y="1042416"/>
            <a:ext cx="502920" cy="41148"/>
          </a:xfrm>
          <a:prstGeom prst="rect">
            <a:avLst/>
          </a:prstGeom>
          <a:solidFill>
            <a:srgbClr val="EC4899"/>
          </a:solidFill>
          <a:ln/>
        </p:spPr>
      </p:sp>
      <p:sp>
        <p:nvSpPr>
          <p:cNvPr id="4" name="Text 2"/>
          <p:cNvSpPr/>
          <p:nvPr/>
        </p:nvSpPr>
        <p:spPr>
          <a:xfrm>
            <a:off x="548640" y="1097280"/>
            <a:ext cx="11091672" cy="365760"/>
          </a:xfrm>
          <a:prstGeom prst="rect">
            <a:avLst/>
          </a:prstGeom>
          <a:noFill/>
          <a:ln/>
        </p:spPr>
        <p:txBody>
          <a:bodyPr wrap="square" lIns="0" tIns="0" rIns="0" bIns="0" rtlCol="0" anchor="ctr"/>
          <a:lstStyle/>
          <a:p>
            <a:pPr marL="0" indent="0" algn="l">
              <a:buNone/>
            </a:pPr>
            <a:r>
              <a:rPr lang="en-US" sz="1400" i="1" dirty="0">
                <a:solidFill>
                  <a:srgbClr val="6B6480"/>
                </a:solidFill>
                <a:latin typeface="Calibri" pitchFamily="34" charset="0"/>
                <a:ea typeface="Calibri" pitchFamily="34" charset="-122"/>
                <a:cs typeface="Calibri" pitchFamily="34" charset="-120"/>
              </a:rPr>
              <a:t>Production-grade orchestration for scale and resilience</a:t>
            </a:r>
            <a:endParaRPr lang="en-US" sz="1400" dirty="0"/>
          </a:p>
        </p:txBody>
      </p:sp>
      <p:sp>
        <p:nvSpPr>
          <p:cNvPr id="5" name="Shape 3"/>
          <p:cNvSpPr/>
          <p:nvPr/>
        </p:nvSpPr>
        <p:spPr>
          <a:xfrm>
            <a:off x="548640" y="1691640"/>
            <a:ext cx="2377440" cy="914400"/>
          </a:xfrm>
          <a:prstGeom prst="roundRect">
            <a:avLst>
              <a:gd name="adj" fmla="val 10000"/>
            </a:avLst>
          </a:prstGeom>
          <a:solidFill>
            <a:srgbClr val="6C3CE9"/>
          </a:solidFill>
          <a:ln/>
        </p:spPr>
      </p:sp>
      <p:sp>
        <p:nvSpPr>
          <p:cNvPr id="6" name="Text 4"/>
          <p:cNvSpPr/>
          <p:nvPr/>
        </p:nvSpPr>
        <p:spPr>
          <a:xfrm>
            <a:off x="548640" y="1764792"/>
            <a:ext cx="2377440" cy="36576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Pods (×2 each)</a:t>
            </a:r>
            <a:endParaRPr lang="en-US" sz="1250" dirty="0"/>
          </a:p>
        </p:txBody>
      </p:sp>
      <p:sp>
        <p:nvSpPr>
          <p:cNvPr id="7" name="Text 5"/>
          <p:cNvSpPr/>
          <p:nvPr/>
        </p:nvSpPr>
        <p:spPr>
          <a:xfrm>
            <a:off x="640080" y="2075688"/>
            <a:ext cx="2194560" cy="457200"/>
          </a:xfrm>
          <a:prstGeom prst="rect">
            <a:avLst/>
          </a:prstGeom>
          <a:noFill/>
          <a:ln/>
        </p:spPr>
        <p:txBody>
          <a:bodyPr wrap="square" lIns="0" tIns="0" rIns="0" bIns="0" rtlCol="0" anchor="ctr"/>
          <a:lstStyle/>
          <a:p>
            <a:pPr marL="0" indent="0" algn="ctr">
              <a:buNone/>
            </a:pPr>
            <a:r>
              <a:rPr lang="en-US" sz="900" dirty="0">
                <a:solidFill>
                  <a:srgbClr val="D9D2F0"/>
                </a:solidFill>
                <a:latin typeface="Calibri" pitchFamily="34" charset="0"/>
                <a:ea typeface="Calibri" pitchFamily="34" charset="-122"/>
                <a:cs typeface="Calibri" pitchFamily="34" charset="-120"/>
              </a:rPr>
              <a:t>Frontend · Gateway</a:t>
            </a:r>
            <a:endParaRPr lang="en-US" sz="900" dirty="0"/>
          </a:p>
          <a:p>
            <a:pPr marL="0" indent="0" algn="ctr">
              <a:buNone/>
            </a:pPr>
            <a:r>
              <a:rPr lang="en-US" sz="900" dirty="0">
                <a:solidFill>
                  <a:srgbClr val="D9D2F0"/>
                </a:solidFill>
                <a:latin typeface="Calibri" pitchFamily="34" charset="0"/>
                <a:ea typeface="Calibri" pitchFamily="34" charset="-122"/>
                <a:cs typeface="Calibri" pitchFamily="34" charset="-120"/>
              </a:rPr>
              <a:t>News · Category</a:t>
            </a:r>
            <a:endParaRPr lang="en-US" sz="900" dirty="0"/>
          </a:p>
        </p:txBody>
      </p:sp>
      <p:sp>
        <p:nvSpPr>
          <p:cNvPr id="8" name="Text 6"/>
          <p:cNvSpPr/>
          <p:nvPr/>
        </p:nvSpPr>
        <p:spPr>
          <a:xfrm>
            <a:off x="2971800" y="1783080"/>
            <a:ext cx="457200" cy="731520"/>
          </a:xfrm>
          <a:prstGeom prst="rect">
            <a:avLst/>
          </a:prstGeom>
          <a:noFill/>
          <a:ln/>
        </p:spPr>
        <p:txBody>
          <a:bodyPr wrap="square" lIns="0" tIns="0" rIns="0" bIns="0" rtlCol="0" anchor="ctr"/>
          <a:lstStyle/>
          <a:p>
            <a:pPr marL="0" indent="0" algn="ctr">
              <a:buNone/>
            </a:pPr>
            <a:r>
              <a:rPr lang="en-US" sz="1800" dirty="0">
                <a:solidFill>
                  <a:srgbClr val="EC4899"/>
                </a:solidFill>
              </a:rPr>
              <a:t>→</a:t>
            </a:r>
            <a:endParaRPr lang="en-US" sz="1800" dirty="0"/>
          </a:p>
        </p:txBody>
      </p:sp>
      <p:sp>
        <p:nvSpPr>
          <p:cNvPr id="9" name="Shape 7"/>
          <p:cNvSpPr/>
          <p:nvPr/>
        </p:nvSpPr>
        <p:spPr>
          <a:xfrm>
            <a:off x="3474720" y="1691640"/>
            <a:ext cx="2377440" cy="914400"/>
          </a:xfrm>
          <a:prstGeom prst="roundRect">
            <a:avLst>
              <a:gd name="adj" fmla="val 10000"/>
            </a:avLst>
          </a:prstGeom>
          <a:solidFill>
            <a:srgbClr val="2A1B5D"/>
          </a:solidFill>
          <a:ln/>
        </p:spPr>
      </p:sp>
      <p:sp>
        <p:nvSpPr>
          <p:cNvPr id="10" name="Text 8"/>
          <p:cNvSpPr/>
          <p:nvPr/>
        </p:nvSpPr>
        <p:spPr>
          <a:xfrm>
            <a:off x="3474720" y="1764792"/>
            <a:ext cx="2377440" cy="36576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Services</a:t>
            </a:r>
            <a:endParaRPr lang="en-US" sz="1250" dirty="0"/>
          </a:p>
        </p:txBody>
      </p:sp>
      <p:sp>
        <p:nvSpPr>
          <p:cNvPr id="11" name="Text 9"/>
          <p:cNvSpPr/>
          <p:nvPr/>
        </p:nvSpPr>
        <p:spPr>
          <a:xfrm>
            <a:off x="3566160" y="2075688"/>
            <a:ext cx="2194560" cy="457200"/>
          </a:xfrm>
          <a:prstGeom prst="rect">
            <a:avLst/>
          </a:prstGeom>
          <a:noFill/>
          <a:ln/>
        </p:spPr>
        <p:txBody>
          <a:bodyPr wrap="square" lIns="0" tIns="0" rIns="0" bIns="0" rtlCol="0" anchor="ctr"/>
          <a:lstStyle/>
          <a:p>
            <a:pPr marL="0" indent="0" algn="ctr">
              <a:buNone/>
            </a:pPr>
            <a:r>
              <a:rPr lang="en-US" sz="900" dirty="0">
                <a:solidFill>
                  <a:srgbClr val="D9D2F0"/>
                </a:solidFill>
                <a:latin typeface="Calibri" pitchFamily="34" charset="0"/>
                <a:ea typeface="Calibri" pitchFamily="34" charset="-122"/>
                <a:cs typeface="Calibri" pitchFamily="34" charset="-120"/>
              </a:rPr>
              <a:t>Stable internal</a:t>
            </a:r>
            <a:endParaRPr lang="en-US" sz="900" dirty="0"/>
          </a:p>
          <a:p>
            <a:pPr marL="0" indent="0" algn="ctr">
              <a:buNone/>
            </a:pPr>
            <a:r>
              <a:rPr lang="en-US" sz="900" dirty="0">
                <a:solidFill>
                  <a:srgbClr val="D9D2F0"/>
                </a:solidFill>
                <a:latin typeface="Calibri" pitchFamily="34" charset="0"/>
                <a:ea typeface="Calibri" pitchFamily="34" charset="-122"/>
                <a:cs typeface="Calibri" pitchFamily="34" charset="-120"/>
              </a:rPr>
              <a:t>ClusterIP endpoints</a:t>
            </a:r>
            <a:endParaRPr lang="en-US" sz="900" dirty="0"/>
          </a:p>
        </p:txBody>
      </p:sp>
      <p:sp>
        <p:nvSpPr>
          <p:cNvPr id="12" name="Text 10"/>
          <p:cNvSpPr/>
          <p:nvPr/>
        </p:nvSpPr>
        <p:spPr>
          <a:xfrm>
            <a:off x="5897880" y="1783080"/>
            <a:ext cx="457200" cy="731520"/>
          </a:xfrm>
          <a:prstGeom prst="rect">
            <a:avLst/>
          </a:prstGeom>
          <a:noFill/>
          <a:ln/>
        </p:spPr>
        <p:txBody>
          <a:bodyPr wrap="square" lIns="0" tIns="0" rIns="0" bIns="0" rtlCol="0" anchor="ctr"/>
          <a:lstStyle/>
          <a:p>
            <a:pPr marL="0" indent="0" algn="ctr">
              <a:buNone/>
            </a:pPr>
            <a:r>
              <a:rPr lang="en-US" sz="1800" dirty="0">
                <a:solidFill>
                  <a:srgbClr val="EC4899"/>
                </a:solidFill>
              </a:rPr>
              <a:t>→</a:t>
            </a:r>
            <a:endParaRPr lang="en-US" sz="1800" dirty="0"/>
          </a:p>
        </p:txBody>
      </p:sp>
      <p:sp>
        <p:nvSpPr>
          <p:cNvPr id="13" name="Shape 11"/>
          <p:cNvSpPr/>
          <p:nvPr/>
        </p:nvSpPr>
        <p:spPr>
          <a:xfrm>
            <a:off x="6400800" y="1691640"/>
            <a:ext cx="2651760" cy="914400"/>
          </a:xfrm>
          <a:prstGeom prst="roundRect">
            <a:avLst>
              <a:gd name="adj" fmla="val 10000"/>
            </a:avLst>
          </a:prstGeom>
          <a:solidFill>
            <a:srgbClr val="1F1444"/>
          </a:solidFill>
          <a:ln/>
        </p:spPr>
      </p:sp>
      <p:sp>
        <p:nvSpPr>
          <p:cNvPr id="14" name="Text 12"/>
          <p:cNvSpPr/>
          <p:nvPr/>
        </p:nvSpPr>
        <p:spPr>
          <a:xfrm>
            <a:off x="6400800" y="1764792"/>
            <a:ext cx="2651760" cy="36576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Ingress Controller</a:t>
            </a:r>
            <a:endParaRPr lang="en-US" sz="1250" dirty="0"/>
          </a:p>
        </p:txBody>
      </p:sp>
      <p:sp>
        <p:nvSpPr>
          <p:cNvPr id="15" name="Text 13"/>
          <p:cNvSpPr/>
          <p:nvPr/>
        </p:nvSpPr>
        <p:spPr>
          <a:xfrm>
            <a:off x="6492240" y="2075688"/>
            <a:ext cx="2468880" cy="457200"/>
          </a:xfrm>
          <a:prstGeom prst="rect">
            <a:avLst/>
          </a:prstGeom>
          <a:noFill/>
          <a:ln/>
        </p:spPr>
        <p:txBody>
          <a:bodyPr wrap="square" lIns="0" tIns="0" rIns="0" bIns="0" rtlCol="0" anchor="ctr"/>
          <a:lstStyle/>
          <a:p>
            <a:pPr marL="0" indent="0" algn="ctr">
              <a:buNone/>
            </a:pPr>
            <a:r>
              <a:rPr lang="en-US" sz="900" dirty="0">
                <a:solidFill>
                  <a:srgbClr val="D9D2F0"/>
                </a:solidFill>
                <a:latin typeface="Calibri" pitchFamily="34" charset="0"/>
                <a:ea typeface="Calibri" pitchFamily="34" charset="-122"/>
                <a:cs typeface="Calibri" pitchFamily="34" charset="-120"/>
              </a:rPr>
              <a:t>Single entry point</a:t>
            </a:r>
            <a:endParaRPr lang="en-US" sz="900" dirty="0"/>
          </a:p>
          <a:p>
            <a:pPr marL="0" indent="0" algn="ctr">
              <a:buNone/>
            </a:pPr>
            <a:r>
              <a:rPr lang="en-US" sz="900" dirty="0">
                <a:solidFill>
                  <a:srgbClr val="D9D2F0"/>
                </a:solidFill>
                <a:latin typeface="Calibri" pitchFamily="34" charset="0"/>
                <a:ea typeface="Calibri" pitchFamily="34" charset="-122"/>
                <a:cs typeface="Calibri" pitchFamily="34" charset="-120"/>
              </a:rPr>
              <a:t>newsnest.local</a:t>
            </a:r>
            <a:endParaRPr lang="en-US" sz="900" dirty="0"/>
          </a:p>
        </p:txBody>
      </p:sp>
      <p:sp>
        <p:nvSpPr>
          <p:cNvPr id="16" name="Text 14"/>
          <p:cNvSpPr/>
          <p:nvPr/>
        </p:nvSpPr>
        <p:spPr>
          <a:xfrm>
            <a:off x="9098280" y="1783080"/>
            <a:ext cx="457200" cy="731520"/>
          </a:xfrm>
          <a:prstGeom prst="rect">
            <a:avLst/>
          </a:prstGeom>
          <a:noFill/>
          <a:ln/>
        </p:spPr>
        <p:txBody>
          <a:bodyPr wrap="square" lIns="0" tIns="0" rIns="0" bIns="0" rtlCol="0" anchor="ctr"/>
          <a:lstStyle/>
          <a:p>
            <a:pPr marL="0" indent="0" algn="ctr">
              <a:buNone/>
            </a:pPr>
            <a:r>
              <a:rPr lang="en-US" sz="1800" dirty="0">
                <a:solidFill>
                  <a:srgbClr val="EC4899"/>
                </a:solidFill>
              </a:rPr>
              <a:t>→</a:t>
            </a:r>
            <a:endParaRPr lang="en-US" sz="1800" dirty="0"/>
          </a:p>
        </p:txBody>
      </p:sp>
      <p:sp>
        <p:nvSpPr>
          <p:cNvPr id="17" name="Shape 15"/>
          <p:cNvSpPr/>
          <p:nvPr/>
        </p:nvSpPr>
        <p:spPr>
          <a:xfrm>
            <a:off x="9601200" y="1691640"/>
            <a:ext cx="2011680" cy="914400"/>
          </a:xfrm>
          <a:prstGeom prst="roundRect">
            <a:avLst>
              <a:gd name="adj" fmla="val 10000"/>
            </a:avLst>
          </a:prstGeom>
          <a:solidFill>
            <a:srgbClr val="17A673"/>
          </a:solidFill>
          <a:ln/>
        </p:spPr>
      </p:sp>
      <p:sp>
        <p:nvSpPr>
          <p:cNvPr id="18" name="Text 16"/>
          <p:cNvSpPr/>
          <p:nvPr/>
        </p:nvSpPr>
        <p:spPr>
          <a:xfrm>
            <a:off x="9601200" y="1764792"/>
            <a:ext cx="2011680" cy="36576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 User</a:t>
            </a:r>
            <a:endParaRPr lang="en-US" sz="1250" dirty="0"/>
          </a:p>
        </p:txBody>
      </p:sp>
      <p:sp>
        <p:nvSpPr>
          <p:cNvPr id="19" name="Text 17"/>
          <p:cNvSpPr/>
          <p:nvPr/>
        </p:nvSpPr>
        <p:spPr>
          <a:xfrm>
            <a:off x="9692640" y="2075688"/>
            <a:ext cx="1828800" cy="457200"/>
          </a:xfrm>
          <a:prstGeom prst="rect">
            <a:avLst/>
          </a:prstGeom>
          <a:noFill/>
          <a:ln/>
        </p:spPr>
        <p:txBody>
          <a:bodyPr wrap="square" lIns="0" tIns="0" rIns="0" bIns="0" rtlCol="0" anchor="ctr"/>
          <a:lstStyle/>
          <a:p>
            <a:pPr marL="0" indent="0" algn="ctr">
              <a:buNone/>
            </a:pPr>
            <a:r>
              <a:rPr lang="en-US" sz="900" dirty="0">
                <a:solidFill>
                  <a:srgbClr val="D9D2F0"/>
                </a:solidFill>
                <a:latin typeface="Calibri" pitchFamily="34" charset="0"/>
                <a:ea typeface="Calibri" pitchFamily="34" charset="-122"/>
                <a:cs typeface="Calibri" pitchFamily="34" charset="-120"/>
              </a:rPr>
              <a:t>External</a:t>
            </a:r>
            <a:endParaRPr lang="en-US" sz="900" dirty="0"/>
          </a:p>
          <a:p>
            <a:pPr marL="0" indent="0" algn="ctr">
              <a:buNone/>
            </a:pPr>
            <a:r>
              <a:rPr lang="en-US" sz="900" dirty="0">
                <a:solidFill>
                  <a:srgbClr val="D9D2F0"/>
                </a:solidFill>
                <a:latin typeface="Calibri" pitchFamily="34" charset="0"/>
                <a:ea typeface="Calibri" pitchFamily="34" charset="-122"/>
                <a:cs typeface="Calibri" pitchFamily="34" charset="-120"/>
              </a:rPr>
              <a:t>traffic</a:t>
            </a:r>
            <a:endParaRPr lang="en-US" sz="900" dirty="0"/>
          </a:p>
        </p:txBody>
      </p:sp>
      <p:sp>
        <p:nvSpPr>
          <p:cNvPr id="20" name="Shape 18"/>
          <p:cNvSpPr/>
          <p:nvPr/>
        </p:nvSpPr>
        <p:spPr>
          <a:xfrm>
            <a:off x="548640" y="3063240"/>
            <a:ext cx="411480" cy="411480"/>
          </a:xfrm>
          <a:prstGeom prst="ellipse">
            <a:avLst/>
          </a:prstGeom>
          <a:solidFill>
            <a:srgbClr val="6C3CE9"/>
          </a:solidFill>
          <a:ln/>
        </p:spPr>
      </p:sp>
      <p:sp>
        <p:nvSpPr>
          <p:cNvPr id="21" name="Text 19"/>
          <p:cNvSpPr/>
          <p:nvPr/>
        </p:nvSpPr>
        <p:spPr>
          <a:xfrm>
            <a:off x="548640" y="3044952"/>
            <a:ext cx="411480" cy="411480"/>
          </a:xfrm>
          <a:prstGeom prst="rect">
            <a:avLst/>
          </a:prstGeom>
          <a:noFill/>
          <a:ln/>
        </p:spPr>
        <p:txBody>
          <a:bodyPr wrap="square" lIns="0" tIns="0" rIns="0" bIns="0" rtlCol="0" anchor="ctr"/>
          <a:lstStyle/>
          <a:p>
            <a:pPr marL="0" indent="0" algn="ctr">
              <a:buNone/>
            </a:pPr>
            <a:r>
              <a:rPr lang="en-US" sz="1800" dirty="0">
                <a:solidFill>
                  <a:srgbClr val="000000"/>
                </a:solidFill>
                <a:latin typeface="Segoe UI Emoji" pitchFamily="34" charset="0"/>
                <a:ea typeface="Segoe UI Emoji" pitchFamily="34" charset="-122"/>
                <a:cs typeface="Segoe UI Emoji" pitchFamily="34" charset="-120"/>
              </a:rPr>
              <a:t>📈</a:t>
            </a:r>
            <a:endParaRPr lang="en-US" sz="1800" dirty="0"/>
          </a:p>
        </p:txBody>
      </p:sp>
      <p:sp>
        <p:nvSpPr>
          <p:cNvPr id="22" name="Text 20"/>
          <p:cNvSpPr/>
          <p:nvPr/>
        </p:nvSpPr>
        <p:spPr>
          <a:xfrm>
            <a:off x="1051560" y="3017520"/>
            <a:ext cx="4846320" cy="320040"/>
          </a:xfrm>
          <a:prstGeom prst="rect">
            <a:avLst/>
          </a:prstGeom>
          <a:noFill/>
          <a:ln/>
        </p:spPr>
        <p:txBody>
          <a:bodyPr wrap="square" lIns="0" tIns="0" rIns="0" bIns="0" rtlCol="0" anchor="ctr"/>
          <a:lstStyle/>
          <a:p>
            <a:pPr marL="0" indent="0">
              <a:buNone/>
            </a:pPr>
            <a:r>
              <a:rPr lang="en-US" sz="1250" b="1" dirty="0">
                <a:solidFill>
                  <a:srgbClr val="1F1B3A"/>
                </a:solidFill>
                <a:latin typeface="Calibri" pitchFamily="34" charset="0"/>
                <a:ea typeface="Calibri" pitchFamily="34" charset="-122"/>
                <a:cs typeface="Calibri" pitchFamily="34" charset="-120"/>
              </a:rPr>
              <a:t>Auto-Scaling</a:t>
            </a:r>
            <a:endParaRPr lang="en-US" sz="1250" dirty="0"/>
          </a:p>
        </p:txBody>
      </p:sp>
      <p:sp>
        <p:nvSpPr>
          <p:cNvPr id="23" name="Text 21"/>
          <p:cNvSpPr/>
          <p:nvPr/>
        </p:nvSpPr>
        <p:spPr>
          <a:xfrm>
            <a:off x="1051560" y="3310128"/>
            <a:ext cx="4846320" cy="320040"/>
          </a:xfrm>
          <a:prstGeom prst="rect">
            <a:avLst/>
          </a:prstGeom>
          <a:noFill/>
          <a:ln/>
        </p:spPr>
        <p:txBody>
          <a:bodyPr wrap="square" lIns="0" tIns="0" rIns="0" bIns="0" rtlCol="0" anchor="ctr"/>
          <a:lstStyle/>
          <a:p>
            <a:pPr marL="0" indent="0">
              <a:buNone/>
            </a:pPr>
            <a:r>
              <a:rPr lang="en-US" sz="1050" dirty="0">
                <a:solidFill>
                  <a:srgbClr val="6B6480"/>
                </a:solidFill>
                <a:latin typeface="Calibri" pitchFamily="34" charset="0"/>
                <a:ea typeface="Calibri" pitchFamily="34" charset="-122"/>
                <a:cs typeface="Calibri" pitchFamily="34" charset="-120"/>
              </a:rPr>
              <a:t>Replica counts scale with load.</a:t>
            </a:r>
            <a:endParaRPr lang="en-US" sz="1050" dirty="0"/>
          </a:p>
        </p:txBody>
      </p:sp>
      <p:sp>
        <p:nvSpPr>
          <p:cNvPr id="24" name="Shape 22"/>
          <p:cNvSpPr/>
          <p:nvPr/>
        </p:nvSpPr>
        <p:spPr>
          <a:xfrm>
            <a:off x="6035040" y="3063240"/>
            <a:ext cx="411480" cy="411480"/>
          </a:xfrm>
          <a:prstGeom prst="ellipse">
            <a:avLst/>
          </a:prstGeom>
          <a:solidFill>
            <a:srgbClr val="6C3CE9"/>
          </a:solidFill>
          <a:ln/>
        </p:spPr>
      </p:sp>
      <p:sp>
        <p:nvSpPr>
          <p:cNvPr id="25" name="Text 23"/>
          <p:cNvSpPr/>
          <p:nvPr/>
        </p:nvSpPr>
        <p:spPr>
          <a:xfrm>
            <a:off x="6035040" y="3044952"/>
            <a:ext cx="411480" cy="411480"/>
          </a:xfrm>
          <a:prstGeom prst="rect">
            <a:avLst/>
          </a:prstGeom>
          <a:noFill/>
          <a:ln/>
        </p:spPr>
        <p:txBody>
          <a:bodyPr wrap="square" lIns="0" tIns="0" rIns="0" bIns="0" rtlCol="0" anchor="ctr"/>
          <a:lstStyle/>
          <a:p>
            <a:pPr marL="0" indent="0" algn="ctr">
              <a:buNone/>
            </a:pPr>
            <a:r>
              <a:rPr lang="en-US" sz="1800" dirty="0">
                <a:solidFill>
                  <a:srgbClr val="000000"/>
                </a:solidFill>
                <a:latin typeface="Segoe UI Emoji" pitchFamily="34" charset="0"/>
                <a:ea typeface="Segoe UI Emoji" pitchFamily="34" charset="-122"/>
                <a:cs typeface="Segoe UI Emoji" pitchFamily="34" charset="-120"/>
              </a:rPr>
              <a:t>💚</a:t>
            </a:r>
            <a:endParaRPr lang="en-US" sz="1800" dirty="0"/>
          </a:p>
        </p:txBody>
      </p:sp>
      <p:sp>
        <p:nvSpPr>
          <p:cNvPr id="26" name="Text 24"/>
          <p:cNvSpPr/>
          <p:nvPr/>
        </p:nvSpPr>
        <p:spPr>
          <a:xfrm>
            <a:off x="6537960" y="3017520"/>
            <a:ext cx="4846320" cy="320040"/>
          </a:xfrm>
          <a:prstGeom prst="rect">
            <a:avLst/>
          </a:prstGeom>
          <a:noFill/>
          <a:ln/>
        </p:spPr>
        <p:txBody>
          <a:bodyPr wrap="square" lIns="0" tIns="0" rIns="0" bIns="0" rtlCol="0" anchor="ctr"/>
          <a:lstStyle/>
          <a:p>
            <a:pPr marL="0" indent="0">
              <a:buNone/>
            </a:pPr>
            <a:r>
              <a:rPr lang="en-US" sz="1250" b="1" dirty="0">
                <a:solidFill>
                  <a:srgbClr val="1F1B3A"/>
                </a:solidFill>
                <a:latin typeface="Calibri" pitchFamily="34" charset="0"/>
                <a:ea typeface="Calibri" pitchFamily="34" charset="-122"/>
                <a:cs typeface="Calibri" pitchFamily="34" charset="-120"/>
              </a:rPr>
              <a:t>Self-Healing</a:t>
            </a:r>
            <a:endParaRPr lang="en-US" sz="1250" dirty="0"/>
          </a:p>
        </p:txBody>
      </p:sp>
      <p:sp>
        <p:nvSpPr>
          <p:cNvPr id="27" name="Text 25"/>
          <p:cNvSpPr/>
          <p:nvPr/>
        </p:nvSpPr>
        <p:spPr>
          <a:xfrm>
            <a:off x="6537960" y="3310128"/>
            <a:ext cx="4846320" cy="320040"/>
          </a:xfrm>
          <a:prstGeom prst="rect">
            <a:avLst/>
          </a:prstGeom>
          <a:noFill/>
          <a:ln/>
        </p:spPr>
        <p:txBody>
          <a:bodyPr wrap="square" lIns="0" tIns="0" rIns="0" bIns="0" rtlCol="0" anchor="ctr"/>
          <a:lstStyle/>
          <a:p>
            <a:pPr marL="0" indent="0">
              <a:buNone/>
            </a:pPr>
            <a:r>
              <a:rPr lang="en-US" sz="1050" dirty="0">
                <a:solidFill>
                  <a:srgbClr val="6B6480"/>
                </a:solidFill>
                <a:latin typeface="Calibri" pitchFamily="34" charset="0"/>
                <a:ea typeface="Calibri" pitchFamily="34" charset="-122"/>
                <a:cs typeface="Calibri" pitchFamily="34" charset="-120"/>
              </a:rPr>
              <a:t>Crashed pods restart automatically.</a:t>
            </a:r>
            <a:endParaRPr lang="en-US" sz="1050" dirty="0"/>
          </a:p>
        </p:txBody>
      </p:sp>
      <p:sp>
        <p:nvSpPr>
          <p:cNvPr id="28" name="Shape 26"/>
          <p:cNvSpPr/>
          <p:nvPr/>
        </p:nvSpPr>
        <p:spPr>
          <a:xfrm>
            <a:off x="548640" y="4023360"/>
            <a:ext cx="411480" cy="411480"/>
          </a:xfrm>
          <a:prstGeom prst="ellipse">
            <a:avLst/>
          </a:prstGeom>
          <a:solidFill>
            <a:srgbClr val="6C3CE9"/>
          </a:solidFill>
          <a:ln/>
        </p:spPr>
      </p:sp>
      <p:sp>
        <p:nvSpPr>
          <p:cNvPr id="29" name="Text 27"/>
          <p:cNvSpPr/>
          <p:nvPr/>
        </p:nvSpPr>
        <p:spPr>
          <a:xfrm>
            <a:off x="548640" y="4005072"/>
            <a:ext cx="411480" cy="411480"/>
          </a:xfrm>
          <a:prstGeom prst="rect">
            <a:avLst/>
          </a:prstGeom>
          <a:noFill/>
          <a:ln/>
        </p:spPr>
        <p:txBody>
          <a:bodyPr wrap="square" lIns="0" tIns="0" rIns="0" bIns="0" rtlCol="0" anchor="ctr"/>
          <a:lstStyle/>
          <a:p>
            <a:pPr marL="0" indent="0" algn="ctr">
              <a:buNone/>
            </a:pPr>
            <a:r>
              <a:rPr lang="en-US" sz="1800" dirty="0">
                <a:solidFill>
                  <a:srgbClr val="000000"/>
                </a:solidFill>
                <a:latin typeface="Segoe UI Emoji" pitchFamily="34" charset="0"/>
                <a:ea typeface="Segoe UI Emoji" pitchFamily="34" charset="-122"/>
                <a:cs typeface="Segoe UI Emoji" pitchFamily="34" charset="-120"/>
              </a:rPr>
              <a:t>🔐</a:t>
            </a:r>
            <a:endParaRPr lang="en-US" sz="1800" dirty="0"/>
          </a:p>
        </p:txBody>
      </p:sp>
      <p:sp>
        <p:nvSpPr>
          <p:cNvPr id="30" name="Text 28"/>
          <p:cNvSpPr/>
          <p:nvPr/>
        </p:nvSpPr>
        <p:spPr>
          <a:xfrm>
            <a:off x="1051560" y="3977640"/>
            <a:ext cx="4846320" cy="320040"/>
          </a:xfrm>
          <a:prstGeom prst="rect">
            <a:avLst/>
          </a:prstGeom>
          <a:noFill/>
          <a:ln/>
        </p:spPr>
        <p:txBody>
          <a:bodyPr wrap="square" lIns="0" tIns="0" rIns="0" bIns="0" rtlCol="0" anchor="ctr"/>
          <a:lstStyle/>
          <a:p>
            <a:pPr marL="0" indent="0">
              <a:buNone/>
            </a:pPr>
            <a:r>
              <a:rPr lang="en-US" sz="1250" b="1" dirty="0">
                <a:solidFill>
                  <a:srgbClr val="1F1B3A"/>
                </a:solidFill>
                <a:latin typeface="Calibri" pitchFamily="34" charset="0"/>
                <a:ea typeface="Calibri" pitchFamily="34" charset="-122"/>
                <a:cs typeface="Calibri" pitchFamily="34" charset="-120"/>
              </a:rPr>
              <a:t>Config &amp; Secrets</a:t>
            </a:r>
            <a:endParaRPr lang="en-US" sz="1250" dirty="0"/>
          </a:p>
        </p:txBody>
      </p:sp>
      <p:sp>
        <p:nvSpPr>
          <p:cNvPr id="31" name="Text 29"/>
          <p:cNvSpPr/>
          <p:nvPr/>
        </p:nvSpPr>
        <p:spPr>
          <a:xfrm>
            <a:off x="1051560" y="4270248"/>
            <a:ext cx="4846320" cy="320040"/>
          </a:xfrm>
          <a:prstGeom prst="rect">
            <a:avLst/>
          </a:prstGeom>
          <a:noFill/>
          <a:ln/>
        </p:spPr>
        <p:txBody>
          <a:bodyPr wrap="square" lIns="0" tIns="0" rIns="0" bIns="0" rtlCol="0" anchor="ctr"/>
          <a:lstStyle/>
          <a:p>
            <a:pPr marL="0" indent="0">
              <a:buNone/>
            </a:pPr>
            <a:r>
              <a:rPr lang="en-US" sz="1050" dirty="0">
                <a:solidFill>
                  <a:srgbClr val="6B6480"/>
                </a:solidFill>
                <a:latin typeface="Calibri" pitchFamily="34" charset="0"/>
                <a:ea typeface="Calibri" pitchFamily="34" charset="-122"/>
                <a:cs typeface="Calibri" pitchFamily="34" charset="-120"/>
              </a:rPr>
              <a:t>ConfigMap + Secret keep keys out of code.</a:t>
            </a:r>
            <a:endParaRPr lang="en-US" sz="1050" dirty="0"/>
          </a:p>
        </p:txBody>
      </p:sp>
      <p:sp>
        <p:nvSpPr>
          <p:cNvPr id="32" name="Shape 30"/>
          <p:cNvSpPr/>
          <p:nvPr/>
        </p:nvSpPr>
        <p:spPr>
          <a:xfrm>
            <a:off x="6035040" y="4023360"/>
            <a:ext cx="411480" cy="411480"/>
          </a:xfrm>
          <a:prstGeom prst="ellipse">
            <a:avLst/>
          </a:prstGeom>
          <a:solidFill>
            <a:srgbClr val="6C3CE9"/>
          </a:solidFill>
          <a:ln/>
        </p:spPr>
      </p:sp>
      <p:sp>
        <p:nvSpPr>
          <p:cNvPr id="33" name="Text 31"/>
          <p:cNvSpPr/>
          <p:nvPr/>
        </p:nvSpPr>
        <p:spPr>
          <a:xfrm>
            <a:off x="6035040" y="4005072"/>
            <a:ext cx="411480" cy="411480"/>
          </a:xfrm>
          <a:prstGeom prst="rect">
            <a:avLst/>
          </a:prstGeom>
          <a:noFill/>
          <a:ln/>
        </p:spPr>
        <p:txBody>
          <a:bodyPr wrap="square" lIns="0" tIns="0" rIns="0" bIns="0" rtlCol="0" anchor="ctr"/>
          <a:lstStyle/>
          <a:p>
            <a:pPr marL="0" indent="0" algn="ctr">
              <a:buNone/>
            </a:pPr>
            <a:r>
              <a:rPr lang="en-US" sz="1800" dirty="0">
                <a:solidFill>
                  <a:srgbClr val="000000"/>
                </a:solidFill>
                <a:latin typeface="Segoe UI Emoji" pitchFamily="34" charset="0"/>
                <a:ea typeface="Segoe UI Emoji" pitchFamily="34" charset="-122"/>
                <a:cs typeface="Segoe UI Emoji" pitchFamily="34" charset="-120"/>
              </a:rPr>
              <a:t>🌐</a:t>
            </a:r>
            <a:endParaRPr lang="en-US" sz="1800" dirty="0"/>
          </a:p>
        </p:txBody>
      </p:sp>
      <p:sp>
        <p:nvSpPr>
          <p:cNvPr id="34" name="Text 32"/>
          <p:cNvSpPr/>
          <p:nvPr/>
        </p:nvSpPr>
        <p:spPr>
          <a:xfrm>
            <a:off x="6537960" y="3977640"/>
            <a:ext cx="4846320" cy="320040"/>
          </a:xfrm>
          <a:prstGeom prst="rect">
            <a:avLst/>
          </a:prstGeom>
          <a:noFill/>
          <a:ln/>
        </p:spPr>
        <p:txBody>
          <a:bodyPr wrap="square" lIns="0" tIns="0" rIns="0" bIns="0" rtlCol="0" anchor="ctr"/>
          <a:lstStyle/>
          <a:p>
            <a:pPr marL="0" indent="0">
              <a:buNone/>
            </a:pPr>
            <a:r>
              <a:rPr lang="en-US" sz="1250" b="1" dirty="0">
                <a:solidFill>
                  <a:srgbClr val="1F1B3A"/>
                </a:solidFill>
                <a:latin typeface="Calibri" pitchFamily="34" charset="0"/>
                <a:ea typeface="Calibri" pitchFamily="34" charset="-122"/>
                <a:cs typeface="Calibri" pitchFamily="34" charset="-120"/>
              </a:rPr>
              <a:t>Ingress Routing</a:t>
            </a:r>
            <a:endParaRPr lang="en-US" sz="1250" dirty="0"/>
          </a:p>
        </p:txBody>
      </p:sp>
      <p:sp>
        <p:nvSpPr>
          <p:cNvPr id="35" name="Text 33"/>
          <p:cNvSpPr/>
          <p:nvPr/>
        </p:nvSpPr>
        <p:spPr>
          <a:xfrm>
            <a:off x="6537960" y="4270248"/>
            <a:ext cx="4846320" cy="320040"/>
          </a:xfrm>
          <a:prstGeom prst="rect">
            <a:avLst/>
          </a:prstGeom>
          <a:noFill/>
          <a:ln/>
        </p:spPr>
        <p:txBody>
          <a:bodyPr wrap="square" lIns="0" tIns="0" rIns="0" bIns="0" rtlCol="0" anchor="ctr"/>
          <a:lstStyle/>
          <a:p>
            <a:pPr marL="0" indent="0">
              <a:buNone/>
            </a:pPr>
            <a:r>
              <a:rPr lang="en-US" sz="1050" dirty="0">
                <a:solidFill>
                  <a:srgbClr val="6B6480"/>
                </a:solidFill>
                <a:latin typeface="Calibri" pitchFamily="34" charset="0"/>
                <a:ea typeface="Calibri" pitchFamily="34" charset="-122"/>
                <a:cs typeface="Calibri" pitchFamily="34" charset="-120"/>
              </a:rPr>
              <a:t>One host routes to all 4 services.</a:t>
            </a:r>
            <a:endParaRPr lang="en-US" sz="1050" dirty="0"/>
          </a:p>
        </p:txBody>
      </p:sp>
      <p:sp>
        <p:nvSpPr>
          <p:cNvPr id="37" name="Text 35"/>
          <p:cNvSpPr/>
          <p:nvPr/>
        </p:nvSpPr>
        <p:spPr>
          <a:xfrm>
            <a:off x="548640" y="5463540"/>
            <a:ext cx="11091672" cy="548640"/>
          </a:xfrm>
          <a:prstGeom prst="rect">
            <a:avLst/>
          </a:prstGeom>
          <a:noFill/>
          <a:ln/>
        </p:spPr>
        <p:txBody>
          <a:bodyPr wrap="square" lIns="0" tIns="0" rIns="0" bIns="0" rtlCol="0" anchor="ctr"/>
          <a:lstStyle/>
          <a:p>
            <a:pPr marL="0" indent="0" algn="ctr">
              <a:buNone/>
            </a:pPr>
            <a:endParaRPr lang="en-US" sz="2000" dirty="0"/>
          </a:p>
        </p:txBody>
      </p:sp>
      <p:sp>
        <p:nvSpPr>
          <p:cNvPr id="38" name="Text 36"/>
          <p:cNvSpPr/>
          <p:nvPr/>
        </p:nvSpPr>
        <p:spPr>
          <a:xfrm>
            <a:off x="548640" y="6528816"/>
            <a:ext cx="2743200" cy="274320"/>
          </a:xfrm>
          <a:prstGeom prst="rect">
            <a:avLst/>
          </a:prstGeom>
          <a:noFill/>
          <a:ln/>
        </p:spPr>
        <p:txBody>
          <a:bodyPr wrap="square" lIns="0" tIns="0" rIns="0" bIns="0" rtlCol="0" anchor="ctr"/>
          <a:lstStyle/>
          <a:p>
            <a:pPr marL="0" indent="0" algn="l">
              <a:buNone/>
            </a:pPr>
            <a:r>
              <a:rPr lang="en-US" sz="1000" dirty="0">
                <a:solidFill>
                  <a:srgbClr val="6B6480"/>
                </a:solidFill>
                <a:latin typeface="Calibri" pitchFamily="34" charset="0"/>
                <a:ea typeface="Calibri" pitchFamily="34" charset="-122"/>
                <a:cs typeface="Calibri" pitchFamily="34" charset="-120"/>
              </a:rPr>
              <a:t>NewsNest</a:t>
            </a:r>
            <a:endParaRPr lang="en-US" sz="1000" dirty="0"/>
          </a:p>
        </p:txBody>
      </p:sp>
      <p:sp>
        <p:nvSpPr>
          <p:cNvPr id="39" name="Text 37"/>
          <p:cNvSpPr/>
          <p:nvPr/>
        </p:nvSpPr>
        <p:spPr>
          <a:xfrm>
            <a:off x="11183112" y="6528816"/>
            <a:ext cx="457200" cy="274320"/>
          </a:xfrm>
          <a:prstGeom prst="rect">
            <a:avLst/>
          </a:prstGeom>
          <a:noFill/>
          <a:ln/>
        </p:spPr>
        <p:txBody>
          <a:bodyPr wrap="square" lIns="0" tIns="0" rIns="0" bIns="0" rtlCol="0" anchor="ctr"/>
          <a:lstStyle/>
          <a:p>
            <a:pPr marL="0" indent="0" algn="r">
              <a:buNone/>
            </a:pPr>
            <a:r>
              <a:rPr lang="en-US" sz="1000" dirty="0">
                <a:solidFill>
                  <a:srgbClr val="6B6480"/>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91672" cy="685800"/>
          </a:xfrm>
          <a:prstGeom prst="rect">
            <a:avLst/>
          </a:prstGeom>
          <a:noFill/>
          <a:ln/>
        </p:spPr>
        <p:txBody>
          <a:bodyPr wrap="square" lIns="0" tIns="0" rIns="0" bIns="0" rtlCol="0" anchor="ctr"/>
          <a:lstStyle/>
          <a:p>
            <a:pPr marL="0" indent="0" algn="l">
              <a:buNone/>
            </a:pPr>
            <a:r>
              <a:rPr lang="en-US" sz="3200" b="1" dirty="0">
                <a:solidFill>
                  <a:srgbClr val="2A1B5D"/>
                </a:solidFill>
                <a:latin typeface="Cambria" pitchFamily="34" charset="0"/>
                <a:ea typeface="Cambria" pitchFamily="34" charset="-122"/>
                <a:cs typeface="Cambria" pitchFamily="34" charset="-120"/>
              </a:rPr>
              <a:t>GitHub Repository</a:t>
            </a:r>
            <a:endParaRPr lang="en-US" sz="3200" dirty="0"/>
          </a:p>
        </p:txBody>
      </p:sp>
      <p:sp>
        <p:nvSpPr>
          <p:cNvPr id="3" name="Shape 1"/>
          <p:cNvSpPr/>
          <p:nvPr/>
        </p:nvSpPr>
        <p:spPr>
          <a:xfrm>
            <a:off x="548640" y="1042416"/>
            <a:ext cx="502920" cy="41148"/>
          </a:xfrm>
          <a:prstGeom prst="rect">
            <a:avLst/>
          </a:prstGeom>
          <a:solidFill>
            <a:srgbClr val="EC4899"/>
          </a:solidFill>
          <a:ln/>
        </p:spPr>
      </p:sp>
      <p:sp>
        <p:nvSpPr>
          <p:cNvPr id="4" name="Text 2"/>
          <p:cNvSpPr/>
          <p:nvPr/>
        </p:nvSpPr>
        <p:spPr>
          <a:xfrm>
            <a:off x="548640" y="1097280"/>
            <a:ext cx="11091672" cy="365760"/>
          </a:xfrm>
          <a:prstGeom prst="rect">
            <a:avLst/>
          </a:prstGeom>
          <a:noFill/>
          <a:ln/>
        </p:spPr>
        <p:txBody>
          <a:bodyPr wrap="square" lIns="0" tIns="0" rIns="0" bIns="0" rtlCol="0" anchor="ctr"/>
          <a:lstStyle/>
          <a:p>
            <a:pPr marL="0" indent="0" algn="l">
              <a:buNone/>
            </a:pPr>
            <a:r>
              <a:rPr lang="en-US" sz="1400" i="1" dirty="0">
                <a:solidFill>
                  <a:srgbClr val="6B6480"/>
                </a:solidFill>
                <a:latin typeface="Calibri" pitchFamily="34" charset="0"/>
                <a:ea typeface="Calibri" pitchFamily="34" charset="-122"/>
                <a:cs typeface="Calibri" pitchFamily="34" charset="-120"/>
              </a:rPr>
              <a:t>Fully version-controlled and publicly accessible</a:t>
            </a:r>
            <a:endParaRPr lang="en-US" sz="1400" dirty="0"/>
          </a:p>
        </p:txBody>
      </p:sp>
      <p:sp>
        <p:nvSpPr>
          <p:cNvPr id="5" name="Shape 3"/>
          <p:cNvSpPr/>
          <p:nvPr/>
        </p:nvSpPr>
        <p:spPr>
          <a:xfrm>
            <a:off x="548640" y="1600200"/>
            <a:ext cx="5120640" cy="4572000"/>
          </a:xfrm>
          <a:prstGeom prst="roundRect">
            <a:avLst>
              <a:gd name="adj" fmla="val 2000"/>
            </a:avLst>
          </a:prstGeom>
          <a:solidFill>
            <a:srgbClr val="1F1444"/>
          </a:solidFill>
          <a:ln/>
        </p:spPr>
      </p:sp>
      <p:sp>
        <p:nvSpPr>
          <p:cNvPr id="6" name="Text 4"/>
          <p:cNvSpPr/>
          <p:nvPr/>
        </p:nvSpPr>
        <p:spPr>
          <a:xfrm>
            <a:off x="868680" y="1828800"/>
            <a:ext cx="4572000" cy="4114800"/>
          </a:xfrm>
          <a:prstGeom prst="rect">
            <a:avLst/>
          </a:prstGeom>
          <a:noFill/>
          <a:ln/>
        </p:spPr>
        <p:txBody>
          <a:bodyPr wrap="square" lIns="0" tIns="0" rIns="0" bIns="0" rtlCol="0" anchor="ctr"/>
          <a:lstStyle/>
          <a:p>
            <a:pPr marL="0" indent="0">
              <a:lnSpc>
                <a:spcPts val="2500"/>
              </a:lnSpc>
              <a:buNone/>
            </a:pPr>
            <a:r>
              <a:rPr lang="en-US" sz="1350" dirty="0">
                <a:solidFill>
                  <a:srgbClr val="FFFFFF"/>
                </a:solidFill>
                <a:latin typeface="Consolas" pitchFamily="34" charset="0"/>
                <a:ea typeface="Consolas" pitchFamily="34" charset="-122"/>
                <a:cs typeface="Consolas" pitchFamily="34" charset="-120"/>
              </a:rPr>
              <a:t>📁 newsnest/</a:t>
            </a:r>
            <a:endParaRPr lang="en-US" sz="1350" dirty="0"/>
          </a:p>
          <a:p>
            <a:pPr marL="0" indent="0">
              <a:lnSpc>
                <a:spcPts val="2500"/>
              </a:lnSpc>
              <a:buNone/>
            </a:pPr>
            <a:r>
              <a:rPr lang="en-US" sz="1350" dirty="0">
                <a:solidFill>
                  <a:srgbClr val="FFFFFF"/>
                </a:solidFill>
                <a:latin typeface="Consolas" pitchFamily="34" charset="0"/>
                <a:ea typeface="Consolas" pitchFamily="34" charset="-122"/>
                <a:cs typeface="Consolas" pitchFamily="34" charset="-120"/>
              </a:rPr>
              <a:t>  📁 frontend/</a:t>
            </a:r>
            <a:endParaRPr lang="en-US" sz="1350" dirty="0"/>
          </a:p>
          <a:p>
            <a:pPr marL="0" indent="0">
              <a:lnSpc>
                <a:spcPts val="2500"/>
              </a:lnSpc>
              <a:buNone/>
            </a:pPr>
            <a:r>
              <a:rPr lang="en-US" sz="1350" dirty="0">
                <a:solidFill>
                  <a:srgbClr val="FFFFFF"/>
                </a:solidFill>
                <a:latin typeface="Consolas" pitchFamily="34" charset="0"/>
                <a:ea typeface="Consolas" pitchFamily="34" charset="-122"/>
                <a:cs typeface="Consolas" pitchFamily="34" charset="-120"/>
              </a:rPr>
              <a:t>  📁 api-gateway/</a:t>
            </a:r>
            <a:endParaRPr lang="en-US" sz="1350" dirty="0"/>
          </a:p>
          <a:p>
            <a:pPr marL="0" indent="0">
              <a:lnSpc>
                <a:spcPts val="2500"/>
              </a:lnSpc>
              <a:buNone/>
            </a:pPr>
            <a:r>
              <a:rPr lang="en-US" sz="1350" dirty="0">
                <a:solidFill>
                  <a:srgbClr val="FFFFFF"/>
                </a:solidFill>
                <a:latin typeface="Consolas" pitchFamily="34" charset="0"/>
                <a:ea typeface="Consolas" pitchFamily="34" charset="-122"/>
                <a:cs typeface="Consolas" pitchFamily="34" charset="-120"/>
              </a:rPr>
              <a:t>  📁 news-service/</a:t>
            </a:r>
            <a:endParaRPr lang="en-US" sz="1350" dirty="0"/>
          </a:p>
          <a:p>
            <a:pPr marL="0" indent="0">
              <a:lnSpc>
                <a:spcPts val="2500"/>
              </a:lnSpc>
              <a:buNone/>
            </a:pPr>
            <a:r>
              <a:rPr lang="en-US" sz="1350" dirty="0">
                <a:solidFill>
                  <a:srgbClr val="FFFFFF"/>
                </a:solidFill>
                <a:latin typeface="Consolas" pitchFamily="34" charset="0"/>
                <a:ea typeface="Consolas" pitchFamily="34" charset="-122"/>
                <a:cs typeface="Consolas" pitchFamily="34" charset="-120"/>
              </a:rPr>
              <a:t>  📁 category-service/</a:t>
            </a:r>
            <a:endParaRPr lang="en-US" sz="1350" dirty="0"/>
          </a:p>
          <a:p>
            <a:pPr marL="0" indent="0">
              <a:lnSpc>
                <a:spcPts val="2500"/>
              </a:lnSpc>
              <a:buNone/>
            </a:pPr>
            <a:r>
              <a:rPr lang="en-US" sz="1350" dirty="0">
                <a:solidFill>
                  <a:srgbClr val="FFFFFF"/>
                </a:solidFill>
                <a:latin typeface="Consolas" pitchFamily="34" charset="0"/>
                <a:ea typeface="Consolas" pitchFamily="34" charset="-122"/>
                <a:cs typeface="Consolas" pitchFamily="34" charset="-120"/>
              </a:rPr>
              <a:t>  📁 kubernetes/</a:t>
            </a:r>
            <a:endParaRPr lang="en-US" sz="1350" dirty="0"/>
          </a:p>
          <a:p>
            <a:pPr marL="0" indent="0">
              <a:lnSpc>
                <a:spcPts val="2500"/>
              </a:lnSpc>
              <a:buNone/>
            </a:pPr>
            <a:r>
              <a:rPr lang="en-US" sz="1350" dirty="0">
                <a:solidFill>
                  <a:srgbClr val="FFFFFF"/>
                </a:solidFill>
                <a:latin typeface="Consolas" pitchFamily="34" charset="0"/>
                <a:ea typeface="Consolas" pitchFamily="34" charset="-122"/>
                <a:cs typeface="Consolas" pitchFamily="34" charset="-120"/>
              </a:rPr>
              <a:t>  📄 docker-compose.yml</a:t>
            </a:r>
            <a:endParaRPr lang="en-US" sz="1350" dirty="0"/>
          </a:p>
          <a:p>
            <a:pPr marL="0" indent="0">
              <a:lnSpc>
                <a:spcPts val="2500"/>
              </a:lnSpc>
              <a:buNone/>
            </a:pPr>
            <a:r>
              <a:rPr lang="en-US" sz="1350" dirty="0">
                <a:solidFill>
                  <a:srgbClr val="FFFFFF"/>
                </a:solidFill>
                <a:latin typeface="Consolas" pitchFamily="34" charset="0"/>
                <a:ea typeface="Consolas" pitchFamily="34" charset="-122"/>
                <a:cs typeface="Consolas" pitchFamily="34" charset="-120"/>
              </a:rPr>
              <a:t>  📄 README.md</a:t>
            </a:r>
            <a:endParaRPr lang="en-US" sz="1350" dirty="0"/>
          </a:p>
          <a:p>
            <a:pPr marL="0" indent="0">
              <a:lnSpc>
                <a:spcPts val="2500"/>
              </a:lnSpc>
              <a:buNone/>
            </a:pPr>
            <a:r>
              <a:rPr lang="en-US" sz="1350" dirty="0">
                <a:solidFill>
                  <a:srgbClr val="FFFFFF"/>
                </a:solidFill>
                <a:latin typeface="Consolas" pitchFamily="34" charset="0"/>
                <a:ea typeface="Consolas" pitchFamily="34" charset="-122"/>
                <a:cs typeface="Consolas" pitchFamily="34" charset="-120"/>
              </a:rPr>
              <a:t>  📄 LICENSE</a:t>
            </a:r>
            <a:endParaRPr lang="en-US" sz="1350" dirty="0"/>
          </a:p>
          <a:p>
            <a:pPr marL="0" indent="0">
              <a:lnSpc>
                <a:spcPts val="2500"/>
              </a:lnSpc>
              <a:buNone/>
            </a:pPr>
            <a:r>
              <a:rPr lang="en-US" sz="1350" dirty="0">
                <a:solidFill>
                  <a:srgbClr val="FFFFFF"/>
                </a:solidFill>
                <a:latin typeface="Consolas" pitchFamily="34" charset="0"/>
                <a:ea typeface="Consolas" pitchFamily="34" charset="-122"/>
                <a:cs typeface="Consolas" pitchFamily="34" charset="-120"/>
              </a:rPr>
              <a:t>  📄 .gitignore</a:t>
            </a:r>
            <a:endParaRPr lang="en-US" sz="1350" dirty="0"/>
          </a:p>
        </p:txBody>
      </p:sp>
      <p:sp>
        <p:nvSpPr>
          <p:cNvPr id="7" name="Shape 5"/>
          <p:cNvSpPr/>
          <p:nvPr/>
        </p:nvSpPr>
        <p:spPr>
          <a:xfrm>
            <a:off x="5989320" y="1600200"/>
            <a:ext cx="457200" cy="457200"/>
          </a:xfrm>
          <a:prstGeom prst="ellipse">
            <a:avLst/>
          </a:prstGeom>
          <a:solidFill>
            <a:srgbClr val="6C3CE9"/>
          </a:solidFill>
          <a:ln/>
        </p:spPr>
      </p:sp>
      <p:sp>
        <p:nvSpPr>
          <p:cNvPr id="8" name="Text 6"/>
          <p:cNvSpPr/>
          <p:nvPr/>
        </p:nvSpPr>
        <p:spPr>
          <a:xfrm>
            <a:off x="5989320" y="1581912"/>
            <a:ext cx="457200" cy="457200"/>
          </a:xfrm>
          <a:prstGeom prst="rect">
            <a:avLst/>
          </a:prstGeom>
          <a:noFill/>
          <a:ln/>
        </p:spPr>
        <p:txBody>
          <a:bodyPr wrap="square" lIns="0" tIns="0" rIns="0" bIns="0" rtlCol="0" anchor="ctr"/>
          <a:lstStyle/>
          <a:p>
            <a:pPr marL="0" indent="0" algn="ctr">
              <a:buNone/>
            </a:pPr>
            <a:r>
              <a:rPr lang="en-US" sz="2000" dirty="0">
                <a:solidFill>
                  <a:srgbClr val="000000"/>
                </a:solidFill>
                <a:latin typeface="Segoe UI Emoji" pitchFamily="34" charset="0"/>
                <a:ea typeface="Segoe UI Emoji" pitchFamily="34" charset="-122"/>
                <a:cs typeface="Segoe UI Emoji" pitchFamily="34" charset="-120"/>
              </a:rPr>
              <a:t>🌳</a:t>
            </a:r>
            <a:endParaRPr lang="en-US" sz="2000" dirty="0"/>
          </a:p>
        </p:txBody>
      </p:sp>
      <p:sp>
        <p:nvSpPr>
          <p:cNvPr id="9" name="Text 7"/>
          <p:cNvSpPr/>
          <p:nvPr/>
        </p:nvSpPr>
        <p:spPr>
          <a:xfrm>
            <a:off x="6537960" y="1581912"/>
            <a:ext cx="5029200" cy="320040"/>
          </a:xfrm>
          <a:prstGeom prst="rect">
            <a:avLst/>
          </a:prstGeom>
          <a:noFill/>
          <a:ln/>
        </p:spPr>
        <p:txBody>
          <a:bodyPr wrap="square" lIns="0" tIns="0" rIns="0" bIns="0" rtlCol="0" anchor="ctr"/>
          <a:lstStyle/>
          <a:p>
            <a:pPr marL="0" indent="0">
              <a:buNone/>
            </a:pPr>
            <a:r>
              <a:rPr lang="en-US" sz="1300" b="1" dirty="0">
                <a:solidFill>
                  <a:srgbClr val="1F1B3A"/>
                </a:solidFill>
                <a:latin typeface="Calibri" pitchFamily="34" charset="0"/>
                <a:ea typeface="Calibri" pitchFamily="34" charset="-122"/>
                <a:cs typeface="Calibri" pitchFamily="34" charset="-120"/>
              </a:rPr>
              <a:t>Clean Folder Structure</a:t>
            </a:r>
            <a:endParaRPr lang="en-US" sz="1300" dirty="0"/>
          </a:p>
        </p:txBody>
      </p:sp>
      <p:sp>
        <p:nvSpPr>
          <p:cNvPr id="10" name="Text 8"/>
          <p:cNvSpPr/>
          <p:nvPr/>
        </p:nvSpPr>
        <p:spPr>
          <a:xfrm>
            <a:off x="6537960" y="1892808"/>
            <a:ext cx="5029200" cy="457200"/>
          </a:xfrm>
          <a:prstGeom prst="rect">
            <a:avLst/>
          </a:prstGeom>
          <a:noFill/>
          <a:ln/>
        </p:spPr>
        <p:txBody>
          <a:bodyPr wrap="square" lIns="0" tIns="0" rIns="0" bIns="0" rtlCol="0" anchor="ctr"/>
          <a:lstStyle/>
          <a:p>
            <a:pPr marL="0" indent="0">
              <a:buNone/>
            </a:pPr>
            <a:r>
              <a:rPr lang="en-US" sz="1050" dirty="0">
                <a:solidFill>
                  <a:srgbClr val="6B6480"/>
                </a:solidFill>
                <a:latin typeface="Calibri" pitchFamily="34" charset="0"/>
                <a:ea typeface="Calibri" pitchFamily="34" charset="-122"/>
                <a:cs typeface="Calibri" pitchFamily="34" charset="-120"/>
              </a:rPr>
              <a:t>One directory per microservice, fully documented.</a:t>
            </a:r>
            <a:endParaRPr lang="en-US" sz="1050" dirty="0"/>
          </a:p>
        </p:txBody>
      </p:sp>
      <p:sp>
        <p:nvSpPr>
          <p:cNvPr id="11" name="Shape 9"/>
          <p:cNvSpPr/>
          <p:nvPr/>
        </p:nvSpPr>
        <p:spPr>
          <a:xfrm>
            <a:off x="5989320" y="2468880"/>
            <a:ext cx="457200" cy="457200"/>
          </a:xfrm>
          <a:prstGeom prst="ellipse">
            <a:avLst/>
          </a:prstGeom>
          <a:solidFill>
            <a:srgbClr val="6C3CE9"/>
          </a:solidFill>
          <a:ln/>
        </p:spPr>
      </p:sp>
      <p:sp>
        <p:nvSpPr>
          <p:cNvPr id="12" name="Text 10"/>
          <p:cNvSpPr/>
          <p:nvPr/>
        </p:nvSpPr>
        <p:spPr>
          <a:xfrm>
            <a:off x="5989320" y="2450592"/>
            <a:ext cx="457200" cy="457200"/>
          </a:xfrm>
          <a:prstGeom prst="rect">
            <a:avLst/>
          </a:prstGeom>
          <a:noFill/>
          <a:ln/>
        </p:spPr>
        <p:txBody>
          <a:bodyPr wrap="square" lIns="0" tIns="0" rIns="0" bIns="0" rtlCol="0" anchor="ctr"/>
          <a:lstStyle/>
          <a:p>
            <a:pPr marL="0" indent="0" algn="ctr">
              <a:buNone/>
            </a:pPr>
            <a:r>
              <a:rPr lang="en-US" sz="2000" dirty="0">
                <a:solidFill>
                  <a:srgbClr val="000000"/>
                </a:solidFill>
                <a:latin typeface="Segoe UI Emoji" pitchFamily="34" charset="0"/>
                <a:ea typeface="Segoe UI Emoji" pitchFamily="34" charset="-122"/>
                <a:cs typeface="Segoe UI Emoji" pitchFamily="34" charset="-120"/>
              </a:rPr>
              <a:t>📝</a:t>
            </a:r>
            <a:endParaRPr lang="en-US" sz="2000" dirty="0"/>
          </a:p>
        </p:txBody>
      </p:sp>
      <p:sp>
        <p:nvSpPr>
          <p:cNvPr id="13" name="Text 11"/>
          <p:cNvSpPr/>
          <p:nvPr/>
        </p:nvSpPr>
        <p:spPr>
          <a:xfrm>
            <a:off x="6537960" y="2450592"/>
            <a:ext cx="5029200" cy="320040"/>
          </a:xfrm>
          <a:prstGeom prst="rect">
            <a:avLst/>
          </a:prstGeom>
          <a:noFill/>
          <a:ln/>
        </p:spPr>
        <p:txBody>
          <a:bodyPr wrap="square" lIns="0" tIns="0" rIns="0" bIns="0" rtlCol="0" anchor="ctr"/>
          <a:lstStyle/>
          <a:p>
            <a:pPr marL="0" indent="0">
              <a:buNone/>
            </a:pPr>
            <a:r>
              <a:rPr lang="en-US" sz="1300" b="1" dirty="0">
                <a:solidFill>
                  <a:srgbClr val="1F1B3A"/>
                </a:solidFill>
                <a:latin typeface="Calibri" pitchFamily="34" charset="0"/>
                <a:ea typeface="Calibri" pitchFamily="34" charset="-122"/>
                <a:cs typeface="Calibri" pitchFamily="34" charset="-120"/>
              </a:rPr>
              <a:t>Version Control</a:t>
            </a:r>
            <a:endParaRPr lang="en-US" sz="1300" dirty="0"/>
          </a:p>
        </p:txBody>
      </p:sp>
      <p:sp>
        <p:nvSpPr>
          <p:cNvPr id="14" name="Text 12"/>
          <p:cNvSpPr/>
          <p:nvPr/>
        </p:nvSpPr>
        <p:spPr>
          <a:xfrm>
            <a:off x="6537960" y="2761488"/>
            <a:ext cx="5029200" cy="457200"/>
          </a:xfrm>
          <a:prstGeom prst="rect">
            <a:avLst/>
          </a:prstGeom>
          <a:noFill/>
          <a:ln/>
        </p:spPr>
        <p:txBody>
          <a:bodyPr wrap="square" lIns="0" tIns="0" rIns="0" bIns="0" rtlCol="0" anchor="ctr"/>
          <a:lstStyle/>
          <a:p>
            <a:pPr marL="0" indent="0">
              <a:buNone/>
            </a:pPr>
            <a:r>
              <a:rPr lang="en-US" sz="1050" dirty="0">
                <a:solidFill>
                  <a:srgbClr val="6B6480"/>
                </a:solidFill>
                <a:latin typeface="Calibri" pitchFamily="34" charset="0"/>
                <a:ea typeface="Calibri" pitchFamily="34" charset="-122"/>
                <a:cs typeface="Calibri" pitchFamily="34" charset="-120"/>
              </a:rPr>
              <a:t>Complete Git history from initial commit onward.</a:t>
            </a:r>
            <a:endParaRPr lang="en-US" sz="1050" dirty="0"/>
          </a:p>
        </p:txBody>
      </p:sp>
      <p:sp>
        <p:nvSpPr>
          <p:cNvPr id="15" name="Shape 13"/>
          <p:cNvSpPr/>
          <p:nvPr/>
        </p:nvSpPr>
        <p:spPr>
          <a:xfrm>
            <a:off x="5989320" y="3337560"/>
            <a:ext cx="457200" cy="457200"/>
          </a:xfrm>
          <a:prstGeom prst="ellipse">
            <a:avLst/>
          </a:prstGeom>
          <a:solidFill>
            <a:srgbClr val="6C3CE9"/>
          </a:solidFill>
          <a:ln/>
        </p:spPr>
      </p:sp>
      <p:sp>
        <p:nvSpPr>
          <p:cNvPr id="16" name="Text 14"/>
          <p:cNvSpPr/>
          <p:nvPr/>
        </p:nvSpPr>
        <p:spPr>
          <a:xfrm>
            <a:off x="5989320" y="3319272"/>
            <a:ext cx="457200" cy="457200"/>
          </a:xfrm>
          <a:prstGeom prst="rect">
            <a:avLst/>
          </a:prstGeom>
          <a:noFill/>
          <a:ln/>
        </p:spPr>
        <p:txBody>
          <a:bodyPr wrap="square" lIns="0" tIns="0" rIns="0" bIns="0" rtlCol="0" anchor="ctr"/>
          <a:lstStyle/>
          <a:p>
            <a:pPr marL="0" indent="0" algn="ctr">
              <a:buNone/>
            </a:pPr>
            <a:r>
              <a:rPr lang="en-US" sz="2000" dirty="0">
                <a:solidFill>
                  <a:srgbClr val="000000"/>
                </a:solidFill>
                <a:latin typeface="Segoe UI Emoji" pitchFamily="34" charset="0"/>
                <a:ea typeface="Segoe UI Emoji" pitchFamily="34" charset="-122"/>
                <a:cs typeface="Segoe UI Emoji" pitchFamily="34" charset="-120"/>
              </a:rPr>
              <a:t>📘</a:t>
            </a:r>
            <a:endParaRPr lang="en-US" sz="2000" dirty="0"/>
          </a:p>
        </p:txBody>
      </p:sp>
      <p:sp>
        <p:nvSpPr>
          <p:cNvPr id="17" name="Text 15"/>
          <p:cNvSpPr/>
          <p:nvPr/>
        </p:nvSpPr>
        <p:spPr>
          <a:xfrm>
            <a:off x="6537960" y="3319272"/>
            <a:ext cx="5029200" cy="320040"/>
          </a:xfrm>
          <a:prstGeom prst="rect">
            <a:avLst/>
          </a:prstGeom>
          <a:noFill/>
          <a:ln/>
        </p:spPr>
        <p:txBody>
          <a:bodyPr wrap="square" lIns="0" tIns="0" rIns="0" bIns="0" rtlCol="0" anchor="ctr"/>
          <a:lstStyle/>
          <a:p>
            <a:pPr marL="0" indent="0">
              <a:buNone/>
            </a:pPr>
            <a:r>
              <a:rPr lang="en-US" sz="1300" b="1" dirty="0">
                <a:solidFill>
                  <a:srgbClr val="1F1B3A"/>
                </a:solidFill>
                <a:latin typeface="Calibri" pitchFamily="34" charset="0"/>
                <a:ea typeface="Calibri" pitchFamily="34" charset="-122"/>
                <a:cs typeface="Calibri" pitchFamily="34" charset="-120"/>
              </a:rPr>
              <a:t>Documentation</a:t>
            </a:r>
            <a:endParaRPr lang="en-US" sz="1300" dirty="0"/>
          </a:p>
        </p:txBody>
      </p:sp>
      <p:sp>
        <p:nvSpPr>
          <p:cNvPr id="18" name="Text 16"/>
          <p:cNvSpPr/>
          <p:nvPr/>
        </p:nvSpPr>
        <p:spPr>
          <a:xfrm>
            <a:off x="6537960" y="3630168"/>
            <a:ext cx="5029200" cy="457200"/>
          </a:xfrm>
          <a:prstGeom prst="rect">
            <a:avLst/>
          </a:prstGeom>
          <a:noFill/>
          <a:ln/>
        </p:spPr>
        <p:txBody>
          <a:bodyPr wrap="square" lIns="0" tIns="0" rIns="0" bIns="0" rtlCol="0" anchor="ctr"/>
          <a:lstStyle/>
          <a:p>
            <a:pPr marL="0" indent="0">
              <a:buNone/>
            </a:pPr>
            <a:r>
              <a:rPr lang="en-US" sz="1050" dirty="0">
                <a:solidFill>
                  <a:srgbClr val="6B6480"/>
                </a:solidFill>
                <a:latin typeface="Calibri" pitchFamily="34" charset="0"/>
                <a:ea typeface="Calibri" pitchFamily="34" charset="-122"/>
                <a:cs typeface="Calibri" pitchFamily="34" charset="-120"/>
              </a:rPr>
              <a:t>README covers setup, Docker &amp; Kubernetes instructions.</a:t>
            </a:r>
            <a:endParaRPr lang="en-US" sz="1050" dirty="0"/>
          </a:p>
        </p:txBody>
      </p:sp>
      <p:sp>
        <p:nvSpPr>
          <p:cNvPr id="19" name="Shape 17"/>
          <p:cNvSpPr/>
          <p:nvPr/>
        </p:nvSpPr>
        <p:spPr>
          <a:xfrm>
            <a:off x="5989320" y="4206240"/>
            <a:ext cx="457200" cy="457200"/>
          </a:xfrm>
          <a:prstGeom prst="ellipse">
            <a:avLst/>
          </a:prstGeom>
          <a:solidFill>
            <a:srgbClr val="6C3CE9"/>
          </a:solidFill>
          <a:ln/>
        </p:spPr>
      </p:sp>
      <p:sp>
        <p:nvSpPr>
          <p:cNvPr id="20" name="Text 18"/>
          <p:cNvSpPr/>
          <p:nvPr/>
        </p:nvSpPr>
        <p:spPr>
          <a:xfrm>
            <a:off x="5989320" y="4187952"/>
            <a:ext cx="457200" cy="457200"/>
          </a:xfrm>
          <a:prstGeom prst="rect">
            <a:avLst/>
          </a:prstGeom>
          <a:noFill/>
          <a:ln/>
        </p:spPr>
        <p:txBody>
          <a:bodyPr wrap="square" lIns="0" tIns="0" rIns="0" bIns="0" rtlCol="0" anchor="ctr"/>
          <a:lstStyle/>
          <a:p>
            <a:pPr marL="0" indent="0" algn="ctr">
              <a:buNone/>
            </a:pPr>
            <a:r>
              <a:rPr lang="en-US" sz="2000" dirty="0">
                <a:solidFill>
                  <a:srgbClr val="000000"/>
                </a:solidFill>
                <a:latin typeface="Segoe UI Emoji" pitchFamily="34" charset="0"/>
                <a:ea typeface="Segoe UI Emoji" pitchFamily="34" charset="-122"/>
                <a:cs typeface="Segoe UI Emoji" pitchFamily="34" charset="-120"/>
              </a:rPr>
              <a:t>🚀</a:t>
            </a:r>
            <a:endParaRPr lang="en-US" sz="2000" dirty="0"/>
          </a:p>
        </p:txBody>
      </p:sp>
      <p:sp>
        <p:nvSpPr>
          <p:cNvPr id="21" name="Text 19"/>
          <p:cNvSpPr/>
          <p:nvPr/>
        </p:nvSpPr>
        <p:spPr>
          <a:xfrm>
            <a:off x="6537960" y="4187952"/>
            <a:ext cx="5029200" cy="320040"/>
          </a:xfrm>
          <a:prstGeom prst="rect">
            <a:avLst/>
          </a:prstGeom>
          <a:noFill/>
          <a:ln/>
        </p:spPr>
        <p:txBody>
          <a:bodyPr wrap="square" lIns="0" tIns="0" rIns="0" bIns="0" rtlCol="0" anchor="ctr"/>
          <a:lstStyle/>
          <a:p>
            <a:pPr marL="0" indent="0">
              <a:buNone/>
            </a:pPr>
            <a:r>
              <a:rPr lang="en-US" sz="1300" b="1" dirty="0">
                <a:solidFill>
                  <a:srgbClr val="1F1B3A"/>
                </a:solidFill>
                <a:latin typeface="Calibri" pitchFamily="34" charset="0"/>
                <a:ea typeface="Calibri" pitchFamily="34" charset="-122"/>
                <a:cs typeface="Calibri" pitchFamily="34" charset="-120"/>
              </a:rPr>
              <a:t>Deployment Files Included</a:t>
            </a:r>
            <a:endParaRPr lang="en-US" sz="1300" dirty="0"/>
          </a:p>
        </p:txBody>
      </p:sp>
      <p:sp>
        <p:nvSpPr>
          <p:cNvPr id="22" name="Text 20"/>
          <p:cNvSpPr/>
          <p:nvPr/>
        </p:nvSpPr>
        <p:spPr>
          <a:xfrm>
            <a:off x="6537960" y="4498848"/>
            <a:ext cx="5029200" cy="457200"/>
          </a:xfrm>
          <a:prstGeom prst="rect">
            <a:avLst/>
          </a:prstGeom>
          <a:noFill/>
          <a:ln/>
        </p:spPr>
        <p:txBody>
          <a:bodyPr wrap="square" lIns="0" tIns="0" rIns="0" bIns="0" rtlCol="0" anchor="ctr"/>
          <a:lstStyle/>
          <a:p>
            <a:pPr marL="0" indent="0">
              <a:buNone/>
            </a:pPr>
            <a:r>
              <a:rPr lang="en-US" sz="1050" dirty="0">
                <a:solidFill>
                  <a:srgbClr val="6B6480"/>
                </a:solidFill>
                <a:latin typeface="Calibri" pitchFamily="34" charset="0"/>
                <a:ea typeface="Calibri" pitchFamily="34" charset="-122"/>
                <a:cs typeface="Calibri" pitchFamily="34" charset="-120"/>
              </a:rPr>
              <a:t>Dockerfiles, compose file &amp; K8s manifests, ready to run.</a:t>
            </a:r>
            <a:endParaRPr lang="en-US" sz="1050" dirty="0"/>
          </a:p>
        </p:txBody>
      </p:sp>
      <p:sp>
        <p:nvSpPr>
          <p:cNvPr id="23" name="Shape 21"/>
          <p:cNvSpPr/>
          <p:nvPr/>
        </p:nvSpPr>
        <p:spPr>
          <a:xfrm>
            <a:off x="5989320" y="5257800"/>
            <a:ext cx="5650992" cy="685800"/>
          </a:xfrm>
          <a:prstGeom prst="roundRect">
            <a:avLst>
              <a:gd name="adj" fmla="val 13333"/>
            </a:avLst>
          </a:prstGeom>
          <a:solidFill>
            <a:srgbClr val="F6F4FC"/>
          </a:solidFill>
          <a:ln w="12700">
            <a:solidFill>
              <a:srgbClr val="DED6F5"/>
            </a:solidFill>
            <a:prstDash val="solid"/>
          </a:ln>
        </p:spPr>
      </p:sp>
      <p:sp>
        <p:nvSpPr>
          <p:cNvPr id="24" name="Text 22"/>
          <p:cNvSpPr/>
          <p:nvPr/>
        </p:nvSpPr>
        <p:spPr>
          <a:xfrm>
            <a:off x="6172200" y="5257800"/>
            <a:ext cx="5303520" cy="685800"/>
          </a:xfrm>
          <a:prstGeom prst="rect">
            <a:avLst/>
          </a:prstGeom>
          <a:noFill/>
          <a:ln/>
        </p:spPr>
        <p:txBody>
          <a:bodyPr wrap="square" lIns="0" tIns="0" rIns="0" bIns="0" rtlCol="0" anchor="ctr"/>
          <a:lstStyle/>
          <a:p>
            <a:pPr marL="0" indent="0" algn="l">
              <a:buNone/>
            </a:pPr>
            <a:r>
              <a:rPr lang="en-US" sz="1250" b="1" dirty="0">
                <a:solidFill>
                  <a:srgbClr val="1F1B3A"/>
                </a:solidFill>
                <a:latin typeface="Calibri" pitchFamily="34" charset="0"/>
                <a:ea typeface="Calibri" pitchFamily="34" charset="-122"/>
                <a:cs typeface="Calibri" pitchFamily="34" charset="-120"/>
              </a:rPr>
              <a:t>🔗  Repository:  </a:t>
            </a:r>
            <a:r>
              <a:rPr lang="en-US" sz="1250" b="1" dirty="0">
                <a:solidFill>
                  <a:srgbClr val="6C3CE9"/>
                </a:solidFill>
                <a:latin typeface="Calibri" pitchFamily="34" charset="0"/>
                <a:ea typeface="Calibri" pitchFamily="34" charset="-122"/>
                <a:cs typeface="Calibri" pitchFamily="34" charset="-120"/>
              </a:rPr>
              <a:t>https://github.com/ShivamPandey985/NewsNest.git</a:t>
            </a:r>
            <a:endParaRPr lang="en-US" sz="1250" dirty="0"/>
          </a:p>
        </p:txBody>
      </p:sp>
      <p:sp>
        <p:nvSpPr>
          <p:cNvPr id="25" name="Text 23"/>
          <p:cNvSpPr/>
          <p:nvPr/>
        </p:nvSpPr>
        <p:spPr>
          <a:xfrm>
            <a:off x="548640" y="6528816"/>
            <a:ext cx="2743200" cy="274320"/>
          </a:xfrm>
          <a:prstGeom prst="rect">
            <a:avLst/>
          </a:prstGeom>
          <a:noFill/>
          <a:ln/>
        </p:spPr>
        <p:txBody>
          <a:bodyPr wrap="square" lIns="0" tIns="0" rIns="0" bIns="0" rtlCol="0" anchor="ctr"/>
          <a:lstStyle/>
          <a:p>
            <a:pPr marL="0" indent="0" algn="l">
              <a:buNone/>
            </a:pPr>
            <a:r>
              <a:rPr lang="en-US" sz="1000" dirty="0">
                <a:solidFill>
                  <a:srgbClr val="6B6480"/>
                </a:solidFill>
                <a:latin typeface="Calibri" pitchFamily="34" charset="0"/>
                <a:ea typeface="Calibri" pitchFamily="34" charset="-122"/>
                <a:cs typeface="Calibri" pitchFamily="34" charset="-120"/>
              </a:rPr>
              <a:t>NewsNest</a:t>
            </a:r>
            <a:endParaRPr lang="en-US" sz="1000" dirty="0"/>
          </a:p>
        </p:txBody>
      </p:sp>
      <p:sp>
        <p:nvSpPr>
          <p:cNvPr id="26" name="Text 24"/>
          <p:cNvSpPr/>
          <p:nvPr/>
        </p:nvSpPr>
        <p:spPr>
          <a:xfrm>
            <a:off x="11183112" y="6528816"/>
            <a:ext cx="457200" cy="274320"/>
          </a:xfrm>
          <a:prstGeom prst="rect">
            <a:avLst/>
          </a:prstGeom>
          <a:noFill/>
          <a:ln/>
        </p:spPr>
        <p:txBody>
          <a:bodyPr wrap="square" lIns="0" tIns="0" rIns="0" bIns="0" rtlCol="0" anchor="ctr"/>
          <a:lstStyle/>
          <a:p>
            <a:pPr marL="0" indent="0" algn="r">
              <a:buNone/>
            </a:pPr>
            <a:r>
              <a:rPr lang="en-US" sz="1000" dirty="0">
                <a:solidFill>
                  <a:srgbClr val="6B6480"/>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91672" cy="685800"/>
          </a:xfrm>
          <a:prstGeom prst="rect">
            <a:avLst/>
          </a:prstGeom>
          <a:noFill/>
          <a:ln/>
        </p:spPr>
        <p:txBody>
          <a:bodyPr wrap="square" lIns="0" tIns="0" rIns="0" bIns="0" rtlCol="0" anchor="ctr"/>
          <a:lstStyle/>
          <a:p>
            <a:pPr marL="0" indent="0" algn="l">
              <a:buNone/>
            </a:pPr>
            <a:r>
              <a:rPr lang="en-US" sz="3200" b="1" dirty="0">
                <a:solidFill>
                  <a:srgbClr val="2A1B5D"/>
                </a:solidFill>
                <a:latin typeface="Cambria" pitchFamily="34" charset="0"/>
                <a:ea typeface="Cambria" pitchFamily="34" charset="-122"/>
                <a:cs typeface="Cambria" pitchFamily="34" charset="-120"/>
              </a:rPr>
              <a:t>Future Scope</a:t>
            </a:r>
            <a:endParaRPr lang="en-US" sz="3200" dirty="0"/>
          </a:p>
        </p:txBody>
      </p:sp>
      <p:sp>
        <p:nvSpPr>
          <p:cNvPr id="3" name="Shape 1"/>
          <p:cNvSpPr/>
          <p:nvPr/>
        </p:nvSpPr>
        <p:spPr>
          <a:xfrm>
            <a:off x="548640" y="1042416"/>
            <a:ext cx="502920" cy="41148"/>
          </a:xfrm>
          <a:prstGeom prst="rect">
            <a:avLst/>
          </a:prstGeom>
          <a:solidFill>
            <a:srgbClr val="EC4899"/>
          </a:solidFill>
          <a:ln/>
        </p:spPr>
      </p:sp>
      <p:sp>
        <p:nvSpPr>
          <p:cNvPr id="4" name="Text 2"/>
          <p:cNvSpPr/>
          <p:nvPr/>
        </p:nvSpPr>
        <p:spPr>
          <a:xfrm>
            <a:off x="548640" y="1097280"/>
            <a:ext cx="11091672" cy="365760"/>
          </a:xfrm>
          <a:prstGeom prst="rect">
            <a:avLst/>
          </a:prstGeom>
          <a:noFill/>
          <a:ln/>
        </p:spPr>
        <p:txBody>
          <a:bodyPr wrap="square" lIns="0" tIns="0" rIns="0" bIns="0" rtlCol="0" anchor="ctr"/>
          <a:lstStyle/>
          <a:p>
            <a:pPr marL="0" indent="0" algn="l">
              <a:buNone/>
            </a:pPr>
            <a:r>
              <a:rPr lang="en-US" sz="1400" i="1" dirty="0">
                <a:solidFill>
                  <a:srgbClr val="6B6480"/>
                </a:solidFill>
                <a:latin typeface="Calibri" pitchFamily="34" charset="0"/>
                <a:ea typeface="Calibri" pitchFamily="34" charset="-122"/>
                <a:cs typeface="Calibri" pitchFamily="34" charset="-120"/>
              </a:rPr>
              <a:t>Where NewsNest can go from here</a:t>
            </a:r>
            <a:endParaRPr lang="en-US" sz="1400" dirty="0"/>
          </a:p>
        </p:txBody>
      </p:sp>
      <p:sp>
        <p:nvSpPr>
          <p:cNvPr id="5" name="Shape 3"/>
          <p:cNvSpPr/>
          <p:nvPr/>
        </p:nvSpPr>
        <p:spPr>
          <a:xfrm>
            <a:off x="548640" y="1600200"/>
            <a:ext cx="2532888" cy="960120"/>
          </a:xfrm>
          <a:prstGeom prst="roundRect">
            <a:avLst>
              <a:gd name="adj" fmla="val 9524"/>
            </a:avLst>
          </a:prstGeom>
          <a:solidFill>
            <a:srgbClr val="F6F4FC"/>
          </a:solidFill>
          <a:ln/>
          <a:effectLst>
            <a:outerShdw blurRad="76200" dist="25400" dir="5400000" algn="bl" rotWithShape="0">
              <a:srgbClr val="3A2E6E">
                <a:alpha val="12000"/>
              </a:srgbClr>
            </a:outerShdw>
          </a:effectLst>
        </p:spPr>
      </p:sp>
      <p:sp>
        <p:nvSpPr>
          <p:cNvPr id="6" name="Shape 4"/>
          <p:cNvSpPr/>
          <p:nvPr/>
        </p:nvSpPr>
        <p:spPr>
          <a:xfrm>
            <a:off x="749808" y="1801368"/>
            <a:ext cx="502920" cy="502920"/>
          </a:xfrm>
          <a:prstGeom prst="ellipse">
            <a:avLst/>
          </a:prstGeom>
          <a:solidFill>
            <a:srgbClr val="6C3CE9"/>
          </a:solidFill>
          <a:ln/>
        </p:spPr>
      </p:sp>
      <p:sp>
        <p:nvSpPr>
          <p:cNvPr id="7" name="Text 5"/>
          <p:cNvSpPr/>
          <p:nvPr/>
        </p:nvSpPr>
        <p:spPr>
          <a:xfrm>
            <a:off x="749808" y="1783080"/>
            <a:ext cx="502920" cy="502920"/>
          </a:xfrm>
          <a:prstGeom prst="rect">
            <a:avLst/>
          </a:prstGeom>
          <a:noFill/>
          <a:ln/>
        </p:spPr>
        <p:txBody>
          <a:bodyPr wrap="square" lIns="0" tIns="0" rIns="0" bIns="0" rtlCol="0" anchor="ctr"/>
          <a:lstStyle/>
          <a:p>
            <a:pPr marL="0" indent="0" algn="ctr">
              <a:buNone/>
            </a:pPr>
            <a:r>
              <a:rPr lang="en-US" sz="1400" dirty="0">
                <a:solidFill>
                  <a:srgbClr val="000000"/>
                </a:solidFill>
                <a:latin typeface="Segoe UI Emoji" pitchFamily="34" charset="0"/>
                <a:ea typeface="Segoe UI Emoji" pitchFamily="34" charset="-122"/>
                <a:cs typeface="Segoe UI Emoji" pitchFamily="34" charset="-120"/>
              </a:rPr>
              <a:t>🗄</a:t>
            </a:r>
            <a:endParaRPr lang="en-US" sz="1400" dirty="0"/>
          </a:p>
        </p:txBody>
      </p:sp>
      <p:sp>
        <p:nvSpPr>
          <p:cNvPr id="8" name="Text 6"/>
          <p:cNvSpPr/>
          <p:nvPr/>
        </p:nvSpPr>
        <p:spPr>
          <a:xfrm>
            <a:off x="1417320" y="1746504"/>
            <a:ext cx="1481328" cy="365760"/>
          </a:xfrm>
          <a:prstGeom prst="rect">
            <a:avLst/>
          </a:prstGeom>
          <a:noFill/>
          <a:ln/>
        </p:spPr>
        <p:txBody>
          <a:bodyPr wrap="square" lIns="0" tIns="0" rIns="0" bIns="0" rtlCol="0" anchor="ctr"/>
          <a:lstStyle/>
          <a:p>
            <a:pPr marL="0" indent="0">
              <a:buNone/>
            </a:pPr>
            <a:r>
              <a:rPr lang="en-US" sz="1500" b="1" dirty="0">
                <a:solidFill>
                  <a:srgbClr val="1F1B3A"/>
                </a:solidFill>
                <a:latin typeface="Calibri" pitchFamily="34" charset="0"/>
                <a:ea typeface="Calibri" pitchFamily="34" charset="-122"/>
                <a:cs typeface="Calibri" pitchFamily="34" charset="-120"/>
              </a:rPr>
              <a:t>Database Integration</a:t>
            </a:r>
            <a:endParaRPr lang="en-US" sz="1500" dirty="0"/>
          </a:p>
        </p:txBody>
      </p:sp>
      <p:sp>
        <p:nvSpPr>
          <p:cNvPr id="9" name="Shape 7"/>
          <p:cNvSpPr/>
          <p:nvPr/>
        </p:nvSpPr>
        <p:spPr>
          <a:xfrm>
            <a:off x="3401568" y="1600200"/>
            <a:ext cx="2532888" cy="960120"/>
          </a:xfrm>
          <a:prstGeom prst="roundRect">
            <a:avLst>
              <a:gd name="adj" fmla="val 9524"/>
            </a:avLst>
          </a:prstGeom>
          <a:solidFill>
            <a:srgbClr val="F6F4FC"/>
          </a:solidFill>
          <a:ln/>
          <a:effectLst>
            <a:outerShdw blurRad="76200" dist="25400" dir="5400000" algn="bl" rotWithShape="0">
              <a:srgbClr val="3A2E6E">
                <a:alpha val="12000"/>
              </a:srgbClr>
            </a:outerShdw>
          </a:effectLst>
        </p:spPr>
      </p:sp>
      <p:sp>
        <p:nvSpPr>
          <p:cNvPr id="10" name="Shape 8"/>
          <p:cNvSpPr/>
          <p:nvPr/>
        </p:nvSpPr>
        <p:spPr>
          <a:xfrm>
            <a:off x="3602736" y="1801368"/>
            <a:ext cx="502920" cy="502920"/>
          </a:xfrm>
          <a:prstGeom prst="ellipse">
            <a:avLst/>
          </a:prstGeom>
          <a:solidFill>
            <a:srgbClr val="6C3CE9"/>
          </a:solidFill>
          <a:ln/>
        </p:spPr>
      </p:sp>
      <p:sp>
        <p:nvSpPr>
          <p:cNvPr id="11" name="Text 9"/>
          <p:cNvSpPr/>
          <p:nvPr/>
        </p:nvSpPr>
        <p:spPr>
          <a:xfrm>
            <a:off x="3602736" y="1783080"/>
            <a:ext cx="502920" cy="502920"/>
          </a:xfrm>
          <a:prstGeom prst="rect">
            <a:avLst/>
          </a:prstGeom>
          <a:noFill/>
          <a:ln/>
        </p:spPr>
        <p:txBody>
          <a:bodyPr wrap="square" lIns="0" tIns="0" rIns="0" bIns="0" rtlCol="0" anchor="ctr"/>
          <a:lstStyle/>
          <a:p>
            <a:pPr marL="0" indent="0" algn="ctr">
              <a:buNone/>
            </a:pPr>
            <a:r>
              <a:rPr lang="en-US" sz="1400" dirty="0">
                <a:solidFill>
                  <a:srgbClr val="000000"/>
                </a:solidFill>
                <a:latin typeface="Segoe UI Emoji" pitchFamily="34" charset="0"/>
                <a:ea typeface="Segoe UI Emoji" pitchFamily="34" charset="-122"/>
                <a:cs typeface="Segoe UI Emoji" pitchFamily="34" charset="-120"/>
              </a:rPr>
              <a:t>🤖</a:t>
            </a:r>
            <a:endParaRPr lang="en-US" sz="1400" dirty="0"/>
          </a:p>
        </p:txBody>
      </p:sp>
      <p:sp>
        <p:nvSpPr>
          <p:cNvPr id="12" name="Text 10"/>
          <p:cNvSpPr/>
          <p:nvPr/>
        </p:nvSpPr>
        <p:spPr>
          <a:xfrm>
            <a:off x="4270248" y="1746504"/>
            <a:ext cx="1481328" cy="365760"/>
          </a:xfrm>
          <a:prstGeom prst="rect">
            <a:avLst/>
          </a:prstGeom>
          <a:noFill/>
          <a:ln/>
        </p:spPr>
        <p:txBody>
          <a:bodyPr wrap="square" lIns="0" tIns="0" rIns="0" bIns="0" rtlCol="0" anchor="ctr"/>
          <a:lstStyle/>
          <a:p>
            <a:pPr marL="0" indent="0">
              <a:buNone/>
            </a:pPr>
            <a:r>
              <a:rPr lang="en-US" sz="1500" b="1" dirty="0">
                <a:solidFill>
                  <a:srgbClr val="1F1B3A"/>
                </a:solidFill>
                <a:latin typeface="Calibri" pitchFamily="34" charset="0"/>
                <a:ea typeface="Calibri" pitchFamily="34" charset="-122"/>
                <a:cs typeface="Calibri" pitchFamily="34" charset="-120"/>
              </a:rPr>
              <a:t>AI Recommendation Engine</a:t>
            </a:r>
            <a:endParaRPr lang="en-US" sz="1500" dirty="0"/>
          </a:p>
        </p:txBody>
      </p:sp>
      <p:sp>
        <p:nvSpPr>
          <p:cNvPr id="13" name="Shape 11"/>
          <p:cNvSpPr/>
          <p:nvPr/>
        </p:nvSpPr>
        <p:spPr>
          <a:xfrm>
            <a:off x="6254496" y="1600200"/>
            <a:ext cx="2532888" cy="960120"/>
          </a:xfrm>
          <a:prstGeom prst="roundRect">
            <a:avLst>
              <a:gd name="adj" fmla="val 9524"/>
            </a:avLst>
          </a:prstGeom>
          <a:solidFill>
            <a:srgbClr val="F6F4FC"/>
          </a:solidFill>
          <a:ln/>
          <a:effectLst>
            <a:outerShdw blurRad="76200" dist="25400" dir="5400000" algn="bl" rotWithShape="0">
              <a:srgbClr val="3A2E6E">
                <a:alpha val="12000"/>
              </a:srgbClr>
            </a:outerShdw>
          </a:effectLst>
        </p:spPr>
      </p:sp>
      <p:sp>
        <p:nvSpPr>
          <p:cNvPr id="14" name="Shape 12"/>
          <p:cNvSpPr/>
          <p:nvPr/>
        </p:nvSpPr>
        <p:spPr>
          <a:xfrm>
            <a:off x="6455664" y="1801368"/>
            <a:ext cx="502920" cy="502920"/>
          </a:xfrm>
          <a:prstGeom prst="ellipse">
            <a:avLst/>
          </a:prstGeom>
          <a:solidFill>
            <a:srgbClr val="6C3CE9"/>
          </a:solidFill>
          <a:ln/>
        </p:spPr>
      </p:sp>
      <p:sp>
        <p:nvSpPr>
          <p:cNvPr id="15" name="Text 13"/>
          <p:cNvSpPr/>
          <p:nvPr/>
        </p:nvSpPr>
        <p:spPr>
          <a:xfrm>
            <a:off x="6455664" y="1783080"/>
            <a:ext cx="502920" cy="502920"/>
          </a:xfrm>
          <a:prstGeom prst="rect">
            <a:avLst/>
          </a:prstGeom>
          <a:noFill/>
          <a:ln/>
        </p:spPr>
        <p:txBody>
          <a:bodyPr wrap="square" lIns="0" tIns="0" rIns="0" bIns="0" rtlCol="0" anchor="ctr"/>
          <a:lstStyle/>
          <a:p>
            <a:pPr marL="0" indent="0" algn="ctr">
              <a:buNone/>
            </a:pPr>
            <a:r>
              <a:rPr lang="en-US" sz="1400" dirty="0">
                <a:solidFill>
                  <a:srgbClr val="000000"/>
                </a:solidFill>
                <a:latin typeface="Segoe UI Emoji" pitchFamily="34" charset="0"/>
                <a:ea typeface="Segoe UI Emoji" pitchFamily="34" charset="-122"/>
                <a:cs typeface="Segoe UI Emoji" pitchFamily="34" charset="-120"/>
              </a:rPr>
              <a:t>🔐</a:t>
            </a:r>
            <a:endParaRPr lang="en-US" sz="1400" dirty="0"/>
          </a:p>
        </p:txBody>
      </p:sp>
      <p:sp>
        <p:nvSpPr>
          <p:cNvPr id="16" name="Text 14"/>
          <p:cNvSpPr/>
          <p:nvPr/>
        </p:nvSpPr>
        <p:spPr>
          <a:xfrm>
            <a:off x="7123176" y="1746504"/>
            <a:ext cx="1481328" cy="365760"/>
          </a:xfrm>
          <a:prstGeom prst="rect">
            <a:avLst/>
          </a:prstGeom>
          <a:noFill/>
          <a:ln/>
        </p:spPr>
        <p:txBody>
          <a:bodyPr wrap="square" lIns="0" tIns="0" rIns="0" bIns="0" rtlCol="0" anchor="ctr"/>
          <a:lstStyle/>
          <a:p>
            <a:pPr marL="0" indent="0">
              <a:buNone/>
            </a:pPr>
            <a:r>
              <a:rPr lang="en-US" sz="1500" b="1" dirty="0">
                <a:solidFill>
                  <a:srgbClr val="1F1B3A"/>
                </a:solidFill>
                <a:latin typeface="Calibri" pitchFamily="34" charset="0"/>
                <a:ea typeface="Calibri" pitchFamily="34" charset="-122"/>
                <a:cs typeface="Calibri" pitchFamily="34" charset="-120"/>
              </a:rPr>
              <a:t>User Authentication</a:t>
            </a:r>
            <a:endParaRPr lang="en-US" sz="1500" dirty="0"/>
          </a:p>
        </p:txBody>
      </p:sp>
      <p:sp>
        <p:nvSpPr>
          <p:cNvPr id="17" name="Shape 15"/>
          <p:cNvSpPr/>
          <p:nvPr/>
        </p:nvSpPr>
        <p:spPr>
          <a:xfrm>
            <a:off x="9107424" y="1600200"/>
            <a:ext cx="2532888" cy="960120"/>
          </a:xfrm>
          <a:prstGeom prst="roundRect">
            <a:avLst>
              <a:gd name="adj" fmla="val 9524"/>
            </a:avLst>
          </a:prstGeom>
          <a:solidFill>
            <a:srgbClr val="F6F4FC"/>
          </a:solidFill>
          <a:ln/>
          <a:effectLst>
            <a:outerShdw blurRad="76200" dist="25400" dir="5400000" algn="bl" rotWithShape="0">
              <a:srgbClr val="3A2E6E">
                <a:alpha val="12000"/>
              </a:srgbClr>
            </a:outerShdw>
          </a:effectLst>
        </p:spPr>
      </p:sp>
      <p:sp>
        <p:nvSpPr>
          <p:cNvPr id="18" name="Shape 16"/>
          <p:cNvSpPr/>
          <p:nvPr/>
        </p:nvSpPr>
        <p:spPr>
          <a:xfrm>
            <a:off x="9308592" y="1801368"/>
            <a:ext cx="502920" cy="502920"/>
          </a:xfrm>
          <a:prstGeom prst="ellipse">
            <a:avLst/>
          </a:prstGeom>
          <a:solidFill>
            <a:srgbClr val="6C3CE9"/>
          </a:solidFill>
          <a:ln/>
        </p:spPr>
      </p:sp>
      <p:sp>
        <p:nvSpPr>
          <p:cNvPr id="19" name="Text 17"/>
          <p:cNvSpPr/>
          <p:nvPr/>
        </p:nvSpPr>
        <p:spPr>
          <a:xfrm>
            <a:off x="9308592" y="1783080"/>
            <a:ext cx="502920" cy="502920"/>
          </a:xfrm>
          <a:prstGeom prst="rect">
            <a:avLst/>
          </a:prstGeom>
          <a:noFill/>
          <a:ln/>
        </p:spPr>
        <p:txBody>
          <a:bodyPr wrap="square" lIns="0" tIns="0" rIns="0" bIns="0" rtlCol="0" anchor="ctr"/>
          <a:lstStyle/>
          <a:p>
            <a:pPr marL="0" indent="0" algn="ctr">
              <a:buNone/>
            </a:pPr>
            <a:r>
              <a:rPr lang="en-US" sz="1400" dirty="0">
                <a:solidFill>
                  <a:srgbClr val="000000"/>
                </a:solidFill>
                <a:latin typeface="Segoe UI Emoji" pitchFamily="34" charset="0"/>
                <a:ea typeface="Segoe UI Emoji" pitchFamily="34" charset="-122"/>
                <a:cs typeface="Segoe UI Emoji" pitchFamily="34" charset="-120"/>
              </a:rPr>
              <a:t>🌍</a:t>
            </a:r>
            <a:endParaRPr lang="en-US" sz="1400" dirty="0"/>
          </a:p>
        </p:txBody>
      </p:sp>
      <p:sp>
        <p:nvSpPr>
          <p:cNvPr id="20" name="Text 18"/>
          <p:cNvSpPr/>
          <p:nvPr/>
        </p:nvSpPr>
        <p:spPr>
          <a:xfrm>
            <a:off x="9976104" y="1746504"/>
            <a:ext cx="1481328" cy="365760"/>
          </a:xfrm>
          <a:prstGeom prst="rect">
            <a:avLst/>
          </a:prstGeom>
          <a:noFill/>
          <a:ln/>
        </p:spPr>
        <p:txBody>
          <a:bodyPr wrap="square" lIns="0" tIns="0" rIns="0" bIns="0" rtlCol="0" anchor="ctr"/>
          <a:lstStyle/>
          <a:p>
            <a:pPr marL="0" indent="0">
              <a:buNone/>
            </a:pPr>
            <a:r>
              <a:rPr lang="en-US" sz="1500" b="1" dirty="0">
                <a:solidFill>
                  <a:srgbClr val="1F1B3A"/>
                </a:solidFill>
                <a:latin typeface="Calibri" pitchFamily="34" charset="0"/>
                <a:ea typeface="Calibri" pitchFamily="34" charset="-122"/>
                <a:cs typeface="Calibri" pitchFamily="34" charset="-120"/>
              </a:rPr>
              <a:t>Multi-Language Support</a:t>
            </a:r>
            <a:endParaRPr lang="en-US" sz="1500" dirty="0"/>
          </a:p>
        </p:txBody>
      </p:sp>
      <p:sp>
        <p:nvSpPr>
          <p:cNvPr id="21" name="Shape 19"/>
          <p:cNvSpPr/>
          <p:nvPr/>
        </p:nvSpPr>
        <p:spPr>
          <a:xfrm>
            <a:off x="548640" y="2743200"/>
            <a:ext cx="2532888" cy="960120"/>
          </a:xfrm>
          <a:prstGeom prst="roundRect">
            <a:avLst>
              <a:gd name="adj" fmla="val 9524"/>
            </a:avLst>
          </a:prstGeom>
          <a:solidFill>
            <a:srgbClr val="F6F4FC"/>
          </a:solidFill>
          <a:ln/>
          <a:effectLst>
            <a:outerShdw blurRad="76200" dist="25400" dir="5400000" algn="bl" rotWithShape="0">
              <a:srgbClr val="3A2E6E">
                <a:alpha val="12000"/>
              </a:srgbClr>
            </a:outerShdw>
          </a:effectLst>
        </p:spPr>
      </p:sp>
      <p:sp>
        <p:nvSpPr>
          <p:cNvPr id="22" name="Shape 20"/>
          <p:cNvSpPr/>
          <p:nvPr/>
        </p:nvSpPr>
        <p:spPr>
          <a:xfrm>
            <a:off x="749808" y="2944368"/>
            <a:ext cx="502920" cy="502920"/>
          </a:xfrm>
          <a:prstGeom prst="ellipse">
            <a:avLst/>
          </a:prstGeom>
          <a:solidFill>
            <a:srgbClr val="6C3CE9"/>
          </a:solidFill>
          <a:ln/>
        </p:spPr>
      </p:sp>
      <p:sp>
        <p:nvSpPr>
          <p:cNvPr id="23" name="Text 21"/>
          <p:cNvSpPr/>
          <p:nvPr/>
        </p:nvSpPr>
        <p:spPr>
          <a:xfrm>
            <a:off x="749808" y="2926080"/>
            <a:ext cx="502920" cy="502920"/>
          </a:xfrm>
          <a:prstGeom prst="rect">
            <a:avLst/>
          </a:prstGeom>
          <a:noFill/>
          <a:ln/>
        </p:spPr>
        <p:txBody>
          <a:bodyPr wrap="square" lIns="0" tIns="0" rIns="0" bIns="0" rtlCol="0" anchor="ctr"/>
          <a:lstStyle/>
          <a:p>
            <a:pPr marL="0" indent="0" algn="ctr">
              <a:buNone/>
            </a:pPr>
            <a:r>
              <a:rPr lang="en-US" sz="1400" dirty="0">
                <a:solidFill>
                  <a:srgbClr val="000000"/>
                </a:solidFill>
                <a:latin typeface="Segoe UI Emoji" pitchFamily="34" charset="0"/>
                <a:ea typeface="Segoe UI Emoji" pitchFamily="34" charset="-122"/>
                <a:cs typeface="Segoe UI Emoji" pitchFamily="34" charset="-120"/>
              </a:rPr>
              <a:t>🔔</a:t>
            </a:r>
            <a:endParaRPr lang="en-US" sz="1400" dirty="0"/>
          </a:p>
        </p:txBody>
      </p:sp>
      <p:sp>
        <p:nvSpPr>
          <p:cNvPr id="24" name="Text 22"/>
          <p:cNvSpPr/>
          <p:nvPr/>
        </p:nvSpPr>
        <p:spPr>
          <a:xfrm>
            <a:off x="1417320" y="2889504"/>
            <a:ext cx="1481328" cy="365760"/>
          </a:xfrm>
          <a:prstGeom prst="rect">
            <a:avLst/>
          </a:prstGeom>
          <a:noFill/>
          <a:ln/>
        </p:spPr>
        <p:txBody>
          <a:bodyPr wrap="square" lIns="0" tIns="0" rIns="0" bIns="0" rtlCol="0" anchor="ctr"/>
          <a:lstStyle/>
          <a:p>
            <a:pPr marL="0" indent="0">
              <a:buNone/>
            </a:pPr>
            <a:r>
              <a:rPr lang="en-US" sz="1500" b="1" dirty="0">
                <a:solidFill>
                  <a:srgbClr val="1F1B3A"/>
                </a:solidFill>
                <a:latin typeface="Calibri" pitchFamily="34" charset="0"/>
                <a:ea typeface="Calibri" pitchFamily="34" charset="-122"/>
                <a:cs typeface="Calibri" pitchFamily="34" charset="-120"/>
              </a:rPr>
              <a:t>Push Notifications</a:t>
            </a:r>
            <a:endParaRPr lang="en-US" sz="1500" dirty="0"/>
          </a:p>
        </p:txBody>
      </p:sp>
      <p:sp>
        <p:nvSpPr>
          <p:cNvPr id="25" name="Shape 23"/>
          <p:cNvSpPr/>
          <p:nvPr/>
        </p:nvSpPr>
        <p:spPr>
          <a:xfrm>
            <a:off x="3401568" y="2743200"/>
            <a:ext cx="2532888" cy="960120"/>
          </a:xfrm>
          <a:prstGeom prst="roundRect">
            <a:avLst>
              <a:gd name="adj" fmla="val 9524"/>
            </a:avLst>
          </a:prstGeom>
          <a:solidFill>
            <a:srgbClr val="F6F4FC"/>
          </a:solidFill>
          <a:ln/>
          <a:effectLst>
            <a:outerShdw blurRad="76200" dist="25400" dir="5400000" algn="bl" rotWithShape="0">
              <a:srgbClr val="3A2E6E">
                <a:alpha val="12000"/>
              </a:srgbClr>
            </a:outerShdw>
          </a:effectLst>
        </p:spPr>
      </p:sp>
      <p:sp>
        <p:nvSpPr>
          <p:cNvPr id="26" name="Shape 24"/>
          <p:cNvSpPr/>
          <p:nvPr/>
        </p:nvSpPr>
        <p:spPr>
          <a:xfrm>
            <a:off x="3602736" y="2944368"/>
            <a:ext cx="502920" cy="502920"/>
          </a:xfrm>
          <a:prstGeom prst="ellipse">
            <a:avLst/>
          </a:prstGeom>
          <a:solidFill>
            <a:srgbClr val="6C3CE9"/>
          </a:solidFill>
          <a:ln/>
        </p:spPr>
      </p:sp>
      <p:sp>
        <p:nvSpPr>
          <p:cNvPr id="27" name="Text 25"/>
          <p:cNvSpPr/>
          <p:nvPr/>
        </p:nvSpPr>
        <p:spPr>
          <a:xfrm>
            <a:off x="3602736" y="2926080"/>
            <a:ext cx="502920" cy="502920"/>
          </a:xfrm>
          <a:prstGeom prst="rect">
            <a:avLst/>
          </a:prstGeom>
          <a:noFill/>
          <a:ln/>
        </p:spPr>
        <p:txBody>
          <a:bodyPr wrap="square" lIns="0" tIns="0" rIns="0" bIns="0" rtlCol="0" anchor="ctr"/>
          <a:lstStyle/>
          <a:p>
            <a:pPr marL="0" indent="0" algn="ctr">
              <a:buNone/>
            </a:pPr>
            <a:r>
              <a:rPr lang="en-US" sz="1400" dirty="0">
                <a:solidFill>
                  <a:srgbClr val="000000"/>
                </a:solidFill>
                <a:latin typeface="Segoe UI Emoji" pitchFamily="34" charset="0"/>
                <a:ea typeface="Segoe UI Emoji" pitchFamily="34" charset="-122"/>
                <a:cs typeface="Segoe UI Emoji" pitchFamily="34" charset="-120"/>
              </a:rPr>
              <a:t>📴</a:t>
            </a:r>
            <a:endParaRPr lang="en-US" sz="1400" dirty="0"/>
          </a:p>
        </p:txBody>
      </p:sp>
      <p:sp>
        <p:nvSpPr>
          <p:cNvPr id="28" name="Text 26"/>
          <p:cNvSpPr/>
          <p:nvPr/>
        </p:nvSpPr>
        <p:spPr>
          <a:xfrm>
            <a:off x="4270248" y="2889504"/>
            <a:ext cx="1481328" cy="365760"/>
          </a:xfrm>
          <a:prstGeom prst="rect">
            <a:avLst/>
          </a:prstGeom>
          <a:noFill/>
          <a:ln/>
        </p:spPr>
        <p:txBody>
          <a:bodyPr wrap="square" lIns="0" tIns="0" rIns="0" bIns="0" rtlCol="0" anchor="ctr"/>
          <a:lstStyle/>
          <a:p>
            <a:pPr marL="0" indent="0">
              <a:buNone/>
            </a:pPr>
            <a:r>
              <a:rPr lang="en-US" sz="1500" b="1" dirty="0">
                <a:solidFill>
                  <a:srgbClr val="1F1B3A"/>
                </a:solidFill>
                <a:latin typeface="Calibri" pitchFamily="34" charset="0"/>
                <a:ea typeface="Calibri" pitchFamily="34" charset="-122"/>
                <a:cs typeface="Calibri" pitchFamily="34" charset="-120"/>
              </a:rPr>
              <a:t>Offline Mode</a:t>
            </a:r>
            <a:endParaRPr lang="en-US" sz="1500" dirty="0"/>
          </a:p>
        </p:txBody>
      </p:sp>
      <p:sp>
        <p:nvSpPr>
          <p:cNvPr id="29" name="Shape 27"/>
          <p:cNvSpPr/>
          <p:nvPr/>
        </p:nvSpPr>
        <p:spPr>
          <a:xfrm>
            <a:off x="6254496" y="2743200"/>
            <a:ext cx="2532888" cy="960120"/>
          </a:xfrm>
          <a:prstGeom prst="roundRect">
            <a:avLst>
              <a:gd name="adj" fmla="val 9524"/>
            </a:avLst>
          </a:prstGeom>
          <a:solidFill>
            <a:srgbClr val="F6F4FC"/>
          </a:solidFill>
          <a:ln/>
          <a:effectLst>
            <a:outerShdw blurRad="76200" dist="25400" dir="5400000" algn="bl" rotWithShape="0">
              <a:srgbClr val="3A2E6E">
                <a:alpha val="12000"/>
              </a:srgbClr>
            </a:outerShdw>
          </a:effectLst>
        </p:spPr>
      </p:sp>
      <p:sp>
        <p:nvSpPr>
          <p:cNvPr id="30" name="Shape 28"/>
          <p:cNvSpPr/>
          <p:nvPr/>
        </p:nvSpPr>
        <p:spPr>
          <a:xfrm>
            <a:off x="6455664" y="2944368"/>
            <a:ext cx="502920" cy="502920"/>
          </a:xfrm>
          <a:prstGeom prst="ellipse">
            <a:avLst/>
          </a:prstGeom>
          <a:solidFill>
            <a:srgbClr val="6C3CE9"/>
          </a:solidFill>
          <a:ln/>
        </p:spPr>
      </p:sp>
      <p:sp>
        <p:nvSpPr>
          <p:cNvPr id="31" name="Text 29"/>
          <p:cNvSpPr/>
          <p:nvPr/>
        </p:nvSpPr>
        <p:spPr>
          <a:xfrm>
            <a:off x="6455664" y="2926080"/>
            <a:ext cx="502920" cy="502920"/>
          </a:xfrm>
          <a:prstGeom prst="rect">
            <a:avLst/>
          </a:prstGeom>
          <a:noFill/>
          <a:ln/>
        </p:spPr>
        <p:txBody>
          <a:bodyPr wrap="square" lIns="0" tIns="0" rIns="0" bIns="0" rtlCol="0" anchor="ctr"/>
          <a:lstStyle/>
          <a:p>
            <a:pPr marL="0" indent="0" algn="ctr">
              <a:buNone/>
            </a:pPr>
            <a:r>
              <a:rPr lang="en-US" sz="1400" dirty="0">
                <a:solidFill>
                  <a:srgbClr val="000000"/>
                </a:solidFill>
                <a:latin typeface="Segoe UI Emoji" pitchFamily="34" charset="0"/>
                <a:ea typeface="Segoe UI Emoji" pitchFamily="34" charset="-122"/>
                <a:cs typeface="Segoe UI Emoji" pitchFamily="34" charset="-120"/>
              </a:rPr>
              <a:t>🎙</a:t>
            </a:r>
            <a:endParaRPr lang="en-US" sz="1400" dirty="0"/>
          </a:p>
        </p:txBody>
      </p:sp>
      <p:sp>
        <p:nvSpPr>
          <p:cNvPr id="32" name="Text 30"/>
          <p:cNvSpPr/>
          <p:nvPr/>
        </p:nvSpPr>
        <p:spPr>
          <a:xfrm>
            <a:off x="7123176" y="2889504"/>
            <a:ext cx="1481328" cy="365760"/>
          </a:xfrm>
          <a:prstGeom prst="rect">
            <a:avLst/>
          </a:prstGeom>
          <a:noFill/>
          <a:ln/>
        </p:spPr>
        <p:txBody>
          <a:bodyPr wrap="square" lIns="0" tIns="0" rIns="0" bIns="0" rtlCol="0" anchor="ctr"/>
          <a:lstStyle/>
          <a:p>
            <a:pPr marL="0" indent="0">
              <a:buNone/>
            </a:pPr>
            <a:r>
              <a:rPr lang="en-US" sz="1500" b="1" dirty="0">
                <a:solidFill>
                  <a:srgbClr val="1F1B3A"/>
                </a:solidFill>
                <a:latin typeface="Calibri" pitchFamily="34" charset="0"/>
                <a:ea typeface="Calibri" pitchFamily="34" charset="-122"/>
                <a:cs typeface="Calibri" pitchFamily="34" charset="-120"/>
              </a:rPr>
              <a:t>Voice Assistant</a:t>
            </a:r>
            <a:endParaRPr lang="en-US" sz="1500" dirty="0"/>
          </a:p>
        </p:txBody>
      </p:sp>
      <p:sp>
        <p:nvSpPr>
          <p:cNvPr id="35" name="Text 33"/>
          <p:cNvSpPr/>
          <p:nvPr/>
        </p:nvSpPr>
        <p:spPr>
          <a:xfrm>
            <a:off x="9308592" y="2926080"/>
            <a:ext cx="502920" cy="502920"/>
          </a:xfrm>
          <a:prstGeom prst="rect">
            <a:avLst/>
          </a:prstGeom>
          <a:noFill/>
          <a:ln/>
        </p:spPr>
        <p:txBody>
          <a:bodyPr wrap="square" lIns="0" tIns="0" rIns="0" bIns="0" rtlCol="0" anchor="ctr"/>
          <a:lstStyle/>
          <a:p>
            <a:pPr marL="0" indent="0" algn="ctr">
              <a:buNone/>
            </a:pPr>
            <a:endParaRPr lang="en-US" sz="1400" dirty="0"/>
          </a:p>
        </p:txBody>
      </p:sp>
      <p:sp>
        <p:nvSpPr>
          <p:cNvPr id="36" name="Text 34"/>
          <p:cNvSpPr/>
          <p:nvPr/>
        </p:nvSpPr>
        <p:spPr>
          <a:xfrm>
            <a:off x="9976104" y="2889504"/>
            <a:ext cx="1481328" cy="365760"/>
          </a:xfrm>
          <a:prstGeom prst="rect">
            <a:avLst/>
          </a:prstGeom>
          <a:noFill/>
          <a:ln/>
        </p:spPr>
        <p:txBody>
          <a:bodyPr wrap="square" lIns="0" tIns="0" rIns="0" bIns="0" rtlCol="0" anchor="ctr"/>
          <a:lstStyle/>
          <a:p>
            <a:pPr marL="0" indent="0">
              <a:buNone/>
            </a:pPr>
            <a:endParaRPr lang="en-US" sz="1500" dirty="0"/>
          </a:p>
        </p:txBody>
      </p:sp>
      <p:sp>
        <p:nvSpPr>
          <p:cNvPr id="37" name="Shape 35"/>
          <p:cNvSpPr/>
          <p:nvPr/>
        </p:nvSpPr>
        <p:spPr>
          <a:xfrm>
            <a:off x="548640" y="3886200"/>
            <a:ext cx="2532888" cy="960120"/>
          </a:xfrm>
          <a:prstGeom prst="roundRect">
            <a:avLst>
              <a:gd name="adj" fmla="val 9524"/>
            </a:avLst>
          </a:prstGeom>
          <a:solidFill>
            <a:srgbClr val="F6F4FC"/>
          </a:solidFill>
          <a:ln/>
          <a:effectLst>
            <a:outerShdw blurRad="76200" dist="25400" dir="5400000" algn="bl" rotWithShape="0">
              <a:srgbClr val="3A2E6E">
                <a:alpha val="12000"/>
              </a:srgbClr>
            </a:outerShdw>
          </a:effectLst>
        </p:spPr>
      </p:sp>
      <p:sp>
        <p:nvSpPr>
          <p:cNvPr id="38" name="Shape 36"/>
          <p:cNvSpPr/>
          <p:nvPr/>
        </p:nvSpPr>
        <p:spPr>
          <a:xfrm>
            <a:off x="749808" y="4087368"/>
            <a:ext cx="502920" cy="502920"/>
          </a:xfrm>
          <a:prstGeom prst="ellipse">
            <a:avLst/>
          </a:prstGeom>
          <a:solidFill>
            <a:srgbClr val="6C3CE9"/>
          </a:solidFill>
          <a:ln/>
        </p:spPr>
      </p:sp>
      <p:sp>
        <p:nvSpPr>
          <p:cNvPr id="39" name="Text 37"/>
          <p:cNvSpPr/>
          <p:nvPr/>
        </p:nvSpPr>
        <p:spPr>
          <a:xfrm>
            <a:off x="749808" y="4069080"/>
            <a:ext cx="502920" cy="502920"/>
          </a:xfrm>
          <a:prstGeom prst="rect">
            <a:avLst/>
          </a:prstGeom>
          <a:noFill/>
          <a:ln/>
        </p:spPr>
        <p:txBody>
          <a:bodyPr wrap="square" lIns="0" tIns="0" rIns="0" bIns="0" rtlCol="0" anchor="ctr"/>
          <a:lstStyle/>
          <a:p>
            <a:pPr marL="0" indent="0" algn="ctr">
              <a:buNone/>
            </a:pPr>
            <a:r>
              <a:rPr lang="en-US" sz="1400" dirty="0">
                <a:solidFill>
                  <a:srgbClr val="000000"/>
                </a:solidFill>
                <a:latin typeface="Segoe UI Emoji" pitchFamily="34" charset="0"/>
                <a:ea typeface="Segoe UI Emoji" pitchFamily="34" charset="-122"/>
                <a:cs typeface="Segoe UI Emoji" pitchFamily="34" charset="-120"/>
              </a:rPr>
              <a:t>📊</a:t>
            </a:r>
            <a:endParaRPr lang="en-US" sz="1400" dirty="0"/>
          </a:p>
        </p:txBody>
      </p:sp>
      <p:sp>
        <p:nvSpPr>
          <p:cNvPr id="40" name="Text 38"/>
          <p:cNvSpPr/>
          <p:nvPr/>
        </p:nvSpPr>
        <p:spPr>
          <a:xfrm>
            <a:off x="1417320" y="4032504"/>
            <a:ext cx="1481328" cy="365760"/>
          </a:xfrm>
          <a:prstGeom prst="rect">
            <a:avLst/>
          </a:prstGeom>
          <a:noFill/>
          <a:ln/>
        </p:spPr>
        <p:txBody>
          <a:bodyPr wrap="square" lIns="0" tIns="0" rIns="0" bIns="0" rtlCol="0" anchor="ctr"/>
          <a:lstStyle/>
          <a:p>
            <a:pPr marL="0" indent="0">
              <a:buNone/>
            </a:pPr>
            <a:r>
              <a:rPr lang="en-US" sz="1500" b="1" dirty="0">
                <a:solidFill>
                  <a:srgbClr val="1F1B3A"/>
                </a:solidFill>
                <a:latin typeface="Calibri" pitchFamily="34" charset="0"/>
                <a:ea typeface="Calibri" pitchFamily="34" charset="-122"/>
                <a:cs typeface="Calibri" pitchFamily="34" charset="-120"/>
              </a:rPr>
              <a:t>Usage Analytics</a:t>
            </a:r>
            <a:endParaRPr lang="en-US" sz="1500" dirty="0"/>
          </a:p>
        </p:txBody>
      </p:sp>
      <p:sp>
        <p:nvSpPr>
          <p:cNvPr id="41" name="Shape 39"/>
          <p:cNvSpPr/>
          <p:nvPr/>
        </p:nvSpPr>
        <p:spPr>
          <a:xfrm>
            <a:off x="3401568" y="3886200"/>
            <a:ext cx="2532888" cy="960120"/>
          </a:xfrm>
          <a:prstGeom prst="roundRect">
            <a:avLst>
              <a:gd name="adj" fmla="val 9524"/>
            </a:avLst>
          </a:prstGeom>
          <a:solidFill>
            <a:srgbClr val="F6F4FC"/>
          </a:solidFill>
          <a:ln/>
          <a:effectLst>
            <a:outerShdw blurRad="76200" dist="25400" dir="5400000" algn="bl" rotWithShape="0">
              <a:srgbClr val="3A2E6E">
                <a:alpha val="12000"/>
              </a:srgbClr>
            </a:outerShdw>
          </a:effectLst>
        </p:spPr>
      </p:sp>
      <p:sp>
        <p:nvSpPr>
          <p:cNvPr id="42" name="Shape 40"/>
          <p:cNvSpPr/>
          <p:nvPr/>
        </p:nvSpPr>
        <p:spPr>
          <a:xfrm>
            <a:off x="3561588" y="4087368"/>
            <a:ext cx="502920" cy="502920"/>
          </a:xfrm>
          <a:prstGeom prst="ellipse">
            <a:avLst/>
          </a:prstGeom>
          <a:solidFill>
            <a:srgbClr val="6C3CE9"/>
          </a:solidFill>
          <a:ln/>
        </p:spPr>
      </p:sp>
      <p:sp>
        <p:nvSpPr>
          <p:cNvPr id="43" name="Text 41"/>
          <p:cNvSpPr/>
          <p:nvPr/>
        </p:nvSpPr>
        <p:spPr>
          <a:xfrm>
            <a:off x="3602736" y="4069080"/>
            <a:ext cx="502920" cy="502920"/>
          </a:xfrm>
          <a:prstGeom prst="rect">
            <a:avLst/>
          </a:prstGeom>
          <a:noFill/>
          <a:ln/>
        </p:spPr>
        <p:txBody>
          <a:bodyPr wrap="square" lIns="0" tIns="0" rIns="0" bIns="0" rtlCol="0" anchor="ctr"/>
          <a:lstStyle/>
          <a:p>
            <a:pPr marL="0" indent="0" algn="ctr">
              <a:buNone/>
            </a:pPr>
            <a:r>
              <a:rPr lang="en-US" sz="1400" dirty="0">
                <a:solidFill>
                  <a:srgbClr val="000000"/>
                </a:solidFill>
                <a:latin typeface="Segoe UI Emoji" pitchFamily="34" charset="0"/>
                <a:ea typeface="Segoe UI Emoji" pitchFamily="34" charset="-122"/>
                <a:cs typeface="Segoe UI Emoji" pitchFamily="34" charset="-120"/>
              </a:rPr>
              <a:t>🧠</a:t>
            </a:r>
            <a:endParaRPr lang="en-US" sz="1400" dirty="0"/>
          </a:p>
        </p:txBody>
      </p:sp>
      <p:sp>
        <p:nvSpPr>
          <p:cNvPr id="44" name="Text 42"/>
          <p:cNvSpPr/>
          <p:nvPr/>
        </p:nvSpPr>
        <p:spPr>
          <a:xfrm>
            <a:off x="4146804" y="4032504"/>
            <a:ext cx="1604772" cy="365760"/>
          </a:xfrm>
          <a:prstGeom prst="rect">
            <a:avLst/>
          </a:prstGeom>
          <a:noFill/>
          <a:ln/>
        </p:spPr>
        <p:txBody>
          <a:bodyPr wrap="square" lIns="0" tIns="0" rIns="0" bIns="0" rtlCol="0" anchor="ctr"/>
          <a:lstStyle/>
          <a:p>
            <a:pPr marL="0" indent="0">
              <a:buNone/>
            </a:pPr>
            <a:r>
              <a:rPr lang="en-US" sz="1500" b="1" dirty="0">
                <a:solidFill>
                  <a:srgbClr val="1F1B3A"/>
                </a:solidFill>
                <a:latin typeface="Calibri" pitchFamily="34" charset="0"/>
                <a:ea typeface="Calibri" pitchFamily="34" charset="-122"/>
                <a:cs typeface="Calibri" pitchFamily="34" charset="-120"/>
              </a:rPr>
              <a:t>ML-Based</a:t>
            </a:r>
          </a:p>
          <a:p>
            <a:pPr marL="0" indent="0">
              <a:buNone/>
            </a:pPr>
            <a:r>
              <a:rPr lang="en-US" sz="1500" b="1" dirty="0">
                <a:solidFill>
                  <a:srgbClr val="1F1B3A"/>
                </a:solidFill>
                <a:latin typeface="Calibri" pitchFamily="34" charset="0"/>
                <a:ea typeface="Calibri" pitchFamily="34" charset="-122"/>
                <a:cs typeface="Calibri" pitchFamily="34" charset="-120"/>
              </a:rPr>
              <a:t>Recommendations</a:t>
            </a:r>
            <a:endParaRPr lang="en-US" sz="1500" dirty="0"/>
          </a:p>
        </p:txBody>
      </p:sp>
      <p:sp>
        <p:nvSpPr>
          <p:cNvPr id="45" name="Shape 43"/>
          <p:cNvSpPr/>
          <p:nvPr/>
        </p:nvSpPr>
        <p:spPr>
          <a:xfrm>
            <a:off x="6254496" y="3886200"/>
            <a:ext cx="2532888" cy="960120"/>
          </a:xfrm>
          <a:prstGeom prst="roundRect">
            <a:avLst>
              <a:gd name="adj" fmla="val 9524"/>
            </a:avLst>
          </a:prstGeom>
          <a:solidFill>
            <a:srgbClr val="F6F4FC"/>
          </a:solidFill>
          <a:ln/>
          <a:effectLst>
            <a:outerShdw blurRad="76200" dist="25400" dir="5400000" algn="bl" rotWithShape="0">
              <a:srgbClr val="3A2E6E">
                <a:alpha val="12000"/>
              </a:srgbClr>
            </a:outerShdw>
          </a:effectLst>
        </p:spPr>
      </p:sp>
      <p:sp>
        <p:nvSpPr>
          <p:cNvPr id="46" name="Shape 44"/>
          <p:cNvSpPr/>
          <p:nvPr/>
        </p:nvSpPr>
        <p:spPr>
          <a:xfrm>
            <a:off x="6455664" y="4087368"/>
            <a:ext cx="502920" cy="502920"/>
          </a:xfrm>
          <a:prstGeom prst="ellipse">
            <a:avLst/>
          </a:prstGeom>
          <a:solidFill>
            <a:srgbClr val="6C3CE9"/>
          </a:solidFill>
          <a:ln/>
        </p:spPr>
      </p:sp>
      <p:sp>
        <p:nvSpPr>
          <p:cNvPr id="47" name="Text 45"/>
          <p:cNvSpPr/>
          <p:nvPr/>
        </p:nvSpPr>
        <p:spPr>
          <a:xfrm>
            <a:off x="6455664" y="4069080"/>
            <a:ext cx="502920" cy="502920"/>
          </a:xfrm>
          <a:prstGeom prst="rect">
            <a:avLst/>
          </a:prstGeom>
          <a:noFill/>
          <a:ln/>
        </p:spPr>
        <p:txBody>
          <a:bodyPr wrap="square" lIns="0" tIns="0" rIns="0" bIns="0" rtlCol="0" anchor="ctr"/>
          <a:lstStyle/>
          <a:p>
            <a:pPr marL="0" indent="0" algn="ctr">
              <a:buNone/>
            </a:pPr>
            <a:r>
              <a:rPr lang="en-US" sz="1400" dirty="0">
                <a:solidFill>
                  <a:srgbClr val="000000"/>
                </a:solidFill>
                <a:latin typeface="Segoe UI Emoji" pitchFamily="34" charset="0"/>
                <a:ea typeface="Segoe UI Emoji" pitchFamily="34" charset="-122"/>
                <a:cs typeface="Segoe UI Emoji" pitchFamily="34" charset="-120"/>
              </a:rPr>
              <a:t>📱</a:t>
            </a:r>
            <a:endParaRPr lang="en-US" sz="1400" dirty="0"/>
          </a:p>
        </p:txBody>
      </p:sp>
      <p:sp>
        <p:nvSpPr>
          <p:cNvPr id="48" name="Text 46"/>
          <p:cNvSpPr/>
          <p:nvPr/>
        </p:nvSpPr>
        <p:spPr>
          <a:xfrm>
            <a:off x="7123176" y="4032504"/>
            <a:ext cx="1481328" cy="365760"/>
          </a:xfrm>
          <a:prstGeom prst="rect">
            <a:avLst/>
          </a:prstGeom>
          <a:noFill/>
          <a:ln/>
        </p:spPr>
        <p:txBody>
          <a:bodyPr wrap="square" lIns="0" tIns="0" rIns="0" bIns="0" rtlCol="0" anchor="ctr"/>
          <a:lstStyle/>
          <a:p>
            <a:pPr marL="0" indent="0">
              <a:buNone/>
            </a:pPr>
            <a:r>
              <a:rPr lang="en-US" sz="1500" b="1" dirty="0">
                <a:solidFill>
                  <a:srgbClr val="1F1B3A"/>
                </a:solidFill>
                <a:latin typeface="Calibri" pitchFamily="34" charset="0"/>
                <a:ea typeface="Calibri" pitchFamily="34" charset="-122"/>
                <a:cs typeface="Calibri" pitchFamily="34" charset="-120"/>
              </a:rPr>
              <a:t>Native Mobile App</a:t>
            </a:r>
            <a:endParaRPr lang="en-US" sz="1500" dirty="0"/>
          </a:p>
        </p:txBody>
      </p:sp>
      <p:sp>
        <p:nvSpPr>
          <p:cNvPr id="49" name="Text 47"/>
          <p:cNvSpPr/>
          <p:nvPr/>
        </p:nvSpPr>
        <p:spPr>
          <a:xfrm>
            <a:off x="548640" y="6528816"/>
            <a:ext cx="2743200" cy="274320"/>
          </a:xfrm>
          <a:prstGeom prst="rect">
            <a:avLst/>
          </a:prstGeom>
          <a:noFill/>
          <a:ln/>
        </p:spPr>
        <p:txBody>
          <a:bodyPr wrap="square" lIns="0" tIns="0" rIns="0" bIns="0" rtlCol="0" anchor="ctr"/>
          <a:lstStyle/>
          <a:p>
            <a:pPr marL="0" indent="0" algn="l">
              <a:buNone/>
            </a:pPr>
            <a:r>
              <a:rPr lang="en-US" sz="1000" dirty="0">
                <a:solidFill>
                  <a:srgbClr val="6B6480"/>
                </a:solidFill>
                <a:latin typeface="Calibri" pitchFamily="34" charset="0"/>
                <a:ea typeface="Calibri" pitchFamily="34" charset="-122"/>
                <a:cs typeface="Calibri" pitchFamily="34" charset="-120"/>
              </a:rPr>
              <a:t>NewsNest</a:t>
            </a:r>
            <a:endParaRPr lang="en-US" sz="1000" dirty="0"/>
          </a:p>
        </p:txBody>
      </p:sp>
      <p:sp>
        <p:nvSpPr>
          <p:cNvPr id="50" name="Text 48"/>
          <p:cNvSpPr/>
          <p:nvPr/>
        </p:nvSpPr>
        <p:spPr>
          <a:xfrm>
            <a:off x="11183112" y="6528816"/>
            <a:ext cx="457200" cy="274320"/>
          </a:xfrm>
          <a:prstGeom prst="rect">
            <a:avLst/>
          </a:prstGeom>
          <a:noFill/>
          <a:ln/>
        </p:spPr>
        <p:txBody>
          <a:bodyPr wrap="square" lIns="0" tIns="0" rIns="0" bIns="0" rtlCol="0" anchor="ctr"/>
          <a:lstStyle/>
          <a:p>
            <a:pPr marL="0" indent="0" algn="r">
              <a:buNone/>
            </a:pPr>
            <a:r>
              <a:rPr lang="en-US" sz="1000" dirty="0">
                <a:solidFill>
                  <a:srgbClr val="6B6480"/>
                </a:solidFill>
                <a:latin typeface="Calibri" pitchFamily="34" charset="0"/>
                <a:ea typeface="Calibri" pitchFamily="34" charset="-122"/>
                <a:cs typeface="Calibri" pitchFamily="34" charset="-120"/>
              </a:rPr>
              <a:t>22</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23">
    <p:bg>
      <p:bgPr>
        <a:solidFill>
          <a:srgbClr val="2A1B5D"/>
        </a:solidFill>
        <a:effectLst/>
      </p:bgPr>
    </p:bg>
    <p:spTree>
      <p:nvGrpSpPr>
        <p:cNvPr id="1" name=""/>
        <p:cNvGrpSpPr/>
        <p:nvPr/>
      </p:nvGrpSpPr>
      <p:grpSpPr>
        <a:xfrm>
          <a:off x="0" y="0"/>
          <a:ext cx="0" cy="0"/>
          <a:chOff x="0" y="0"/>
          <a:chExt cx="0" cy="0"/>
        </a:xfrm>
      </p:grpSpPr>
      <p:sp>
        <p:nvSpPr>
          <p:cNvPr id="2" name="Shape 0"/>
          <p:cNvSpPr/>
          <p:nvPr/>
        </p:nvSpPr>
        <p:spPr>
          <a:xfrm>
            <a:off x="9784080" y="-2011680"/>
            <a:ext cx="5943600" cy="5943600"/>
          </a:xfrm>
          <a:prstGeom prst="ellipse">
            <a:avLst/>
          </a:prstGeom>
          <a:solidFill>
            <a:srgbClr val="6C3CE9">
              <a:alpha val="22000"/>
            </a:srgbClr>
          </a:solidFill>
          <a:ln/>
        </p:spPr>
      </p:sp>
      <p:sp>
        <p:nvSpPr>
          <p:cNvPr id="3" name="Shape 1"/>
          <p:cNvSpPr/>
          <p:nvPr/>
        </p:nvSpPr>
        <p:spPr>
          <a:xfrm>
            <a:off x="-2103120" y="4206240"/>
            <a:ext cx="5120640" cy="5120640"/>
          </a:xfrm>
          <a:prstGeom prst="ellipse">
            <a:avLst/>
          </a:prstGeom>
          <a:solidFill>
            <a:srgbClr val="EC4899">
              <a:alpha val="18000"/>
            </a:srgbClr>
          </a:solidFill>
          <a:ln/>
        </p:spPr>
      </p:sp>
      <p:sp>
        <p:nvSpPr>
          <p:cNvPr id="4" name="Shape 2"/>
          <p:cNvSpPr/>
          <p:nvPr/>
        </p:nvSpPr>
        <p:spPr>
          <a:xfrm>
            <a:off x="8961120" y="4754880"/>
            <a:ext cx="2926080" cy="2926080"/>
          </a:xfrm>
          <a:prstGeom prst="ellipse">
            <a:avLst/>
          </a:prstGeom>
          <a:solidFill>
            <a:srgbClr val="EC4899">
              <a:alpha val="15000"/>
            </a:srgbClr>
          </a:solidFill>
          <a:ln/>
        </p:spPr>
      </p:sp>
      <p:sp>
        <p:nvSpPr>
          <p:cNvPr id="5" name="Text 3"/>
          <p:cNvSpPr/>
          <p:nvPr/>
        </p:nvSpPr>
        <p:spPr>
          <a:xfrm>
            <a:off x="548640" y="384048"/>
            <a:ext cx="11091672" cy="685800"/>
          </a:xfrm>
          <a:prstGeom prst="rect">
            <a:avLst/>
          </a:prstGeom>
          <a:noFill/>
          <a:ln/>
        </p:spPr>
        <p:txBody>
          <a:bodyPr wrap="square" lIns="0" tIns="0" rIns="0" bIns="0" rtlCol="0" anchor="ctr"/>
          <a:lstStyle/>
          <a:p>
            <a:pPr marL="0" indent="0" algn="l">
              <a:buNone/>
            </a:pPr>
            <a:r>
              <a:rPr lang="en-US" sz="3200" b="1" dirty="0">
                <a:solidFill>
                  <a:srgbClr val="FFFFFF"/>
                </a:solidFill>
                <a:latin typeface="Cambria" pitchFamily="34" charset="0"/>
                <a:ea typeface="Cambria" pitchFamily="34" charset="-122"/>
                <a:cs typeface="Cambria" pitchFamily="34" charset="-120"/>
              </a:rPr>
              <a:t>Conclusion</a:t>
            </a:r>
            <a:endParaRPr lang="en-US" sz="3200" dirty="0"/>
          </a:p>
        </p:txBody>
      </p:sp>
      <p:sp>
        <p:nvSpPr>
          <p:cNvPr id="6" name="Shape 4"/>
          <p:cNvSpPr/>
          <p:nvPr/>
        </p:nvSpPr>
        <p:spPr>
          <a:xfrm>
            <a:off x="548640" y="1042416"/>
            <a:ext cx="502920" cy="41148"/>
          </a:xfrm>
          <a:prstGeom prst="rect">
            <a:avLst/>
          </a:prstGeom>
          <a:solidFill>
            <a:srgbClr val="EC4899"/>
          </a:solidFill>
          <a:ln/>
        </p:spPr>
      </p:sp>
      <p:sp>
        <p:nvSpPr>
          <p:cNvPr id="7" name="Text 5"/>
          <p:cNvSpPr/>
          <p:nvPr/>
        </p:nvSpPr>
        <p:spPr>
          <a:xfrm>
            <a:off x="822960" y="1737360"/>
            <a:ext cx="10515600" cy="914400"/>
          </a:xfrm>
          <a:prstGeom prst="rect">
            <a:avLst/>
          </a:prstGeom>
          <a:noFill/>
          <a:ln/>
        </p:spPr>
        <p:txBody>
          <a:bodyPr wrap="square" lIns="0" tIns="0" rIns="0" bIns="0" rtlCol="0" anchor="ctr"/>
          <a:lstStyle/>
          <a:p>
            <a:pPr marL="0" indent="0" algn="l">
              <a:buNone/>
            </a:pPr>
            <a:r>
              <a:rPr lang="en-US" sz="1700" dirty="0">
                <a:solidFill>
                  <a:srgbClr val="FFFFFF"/>
                </a:solidFill>
                <a:latin typeface="Calibri" pitchFamily="34" charset="0"/>
                <a:ea typeface="Calibri" pitchFamily="34" charset="-122"/>
                <a:cs typeface="Calibri" pitchFamily="34" charset="-120"/>
              </a:rPr>
              <a:t>NewsNest successfully demonstrates how a personalized, interest-based news experience can be built using a clean microservices architecture — without relying on any database.</a:t>
            </a:r>
            <a:endParaRPr lang="en-US" sz="1700" dirty="0"/>
          </a:p>
        </p:txBody>
      </p:sp>
      <p:sp>
        <p:nvSpPr>
          <p:cNvPr id="8" name="Shape 6"/>
          <p:cNvSpPr/>
          <p:nvPr/>
        </p:nvSpPr>
        <p:spPr>
          <a:xfrm>
            <a:off x="822960" y="2880360"/>
            <a:ext cx="2514600" cy="1920240"/>
          </a:xfrm>
          <a:prstGeom prst="roundRect">
            <a:avLst>
              <a:gd name="adj" fmla="val 4762"/>
            </a:avLst>
          </a:prstGeom>
          <a:solidFill>
            <a:srgbClr val="1F1444">
              <a:alpha val="90000"/>
            </a:srgbClr>
          </a:solidFill>
          <a:ln w="12700">
            <a:solidFill>
              <a:srgbClr val="6C3CE9"/>
            </a:solidFill>
            <a:prstDash val="solid"/>
          </a:ln>
        </p:spPr>
      </p:sp>
      <p:sp>
        <p:nvSpPr>
          <p:cNvPr id="9" name="Shape 7"/>
          <p:cNvSpPr/>
          <p:nvPr/>
        </p:nvSpPr>
        <p:spPr>
          <a:xfrm>
            <a:off x="1783080" y="3108960"/>
            <a:ext cx="585216" cy="585216"/>
          </a:xfrm>
          <a:prstGeom prst="ellipse">
            <a:avLst/>
          </a:prstGeom>
          <a:solidFill>
            <a:srgbClr val="EC4899"/>
          </a:solidFill>
          <a:ln/>
        </p:spPr>
      </p:sp>
      <p:sp>
        <p:nvSpPr>
          <p:cNvPr id="10" name="Text 8"/>
          <p:cNvSpPr/>
          <p:nvPr/>
        </p:nvSpPr>
        <p:spPr>
          <a:xfrm>
            <a:off x="1783080" y="3090672"/>
            <a:ext cx="585216" cy="585216"/>
          </a:xfrm>
          <a:prstGeom prst="rect">
            <a:avLst/>
          </a:prstGeom>
          <a:noFill/>
          <a:ln/>
        </p:spPr>
        <p:txBody>
          <a:bodyPr wrap="square" lIns="0" tIns="0" rIns="0" bIns="0" rtlCol="0" anchor="ctr"/>
          <a:lstStyle/>
          <a:p>
            <a:pPr marL="0" indent="0" algn="ctr">
              <a:buNone/>
            </a:pPr>
            <a:r>
              <a:rPr lang="en-US" sz="2400" dirty="0">
                <a:solidFill>
                  <a:srgbClr val="000000"/>
                </a:solidFill>
                <a:latin typeface="Segoe UI Emoji" pitchFamily="34" charset="0"/>
                <a:ea typeface="Segoe UI Emoji" pitchFamily="34" charset="-122"/>
                <a:cs typeface="Segoe UI Emoji" pitchFamily="34" charset="-120"/>
              </a:rPr>
              <a:t>🧩</a:t>
            </a:r>
            <a:endParaRPr lang="en-US" sz="2400" dirty="0"/>
          </a:p>
        </p:txBody>
      </p:sp>
      <p:sp>
        <p:nvSpPr>
          <p:cNvPr id="11" name="Text 9"/>
          <p:cNvSpPr/>
          <p:nvPr/>
        </p:nvSpPr>
        <p:spPr>
          <a:xfrm>
            <a:off x="822960" y="3794760"/>
            <a:ext cx="2514600" cy="320040"/>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Microservices</a:t>
            </a:r>
            <a:endParaRPr lang="en-US" sz="1350" dirty="0"/>
          </a:p>
        </p:txBody>
      </p:sp>
      <p:sp>
        <p:nvSpPr>
          <p:cNvPr id="12" name="Text 10"/>
          <p:cNvSpPr/>
          <p:nvPr/>
        </p:nvSpPr>
        <p:spPr>
          <a:xfrm>
            <a:off x="960120" y="4114800"/>
            <a:ext cx="2240280" cy="640080"/>
          </a:xfrm>
          <a:prstGeom prst="rect">
            <a:avLst/>
          </a:prstGeom>
          <a:noFill/>
          <a:ln/>
        </p:spPr>
        <p:txBody>
          <a:bodyPr wrap="square" lIns="0" tIns="0" rIns="0" bIns="0" rtlCol="0" anchor="ctr"/>
          <a:lstStyle/>
          <a:p>
            <a:pPr marL="0" indent="0" algn="ctr">
              <a:buNone/>
            </a:pPr>
            <a:r>
              <a:rPr lang="en-US" sz="950" dirty="0">
                <a:solidFill>
                  <a:srgbClr val="D9D2F0"/>
                </a:solidFill>
                <a:latin typeface="Calibri" pitchFamily="34" charset="0"/>
                <a:ea typeface="Calibri" pitchFamily="34" charset="-122"/>
                <a:cs typeface="Calibri" pitchFamily="34" charset="-120"/>
              </a:rPr>
              <a:t>Independent, maintainable, fault-isolated services</a:t>
            </a:r>
            <a:endParaRPr lang="en-US" sz="950" dirty="0"/>
          </a:p>
        </p:txBody>
      </p:sp>
      <p:sp>
        <p:nvSpPr>
          <p:cNvPr id="13" name="Shape 11"/>
          <p:cNvSpPr/>
          <p:nvPr/>
        </p:nvSpPr>
        <p:spPr>
          <a:xfrm>
            <a:off x="3520440" y="2880360"/>
            <a:ext cx="2514600" cy="1920240"/>
          </a:xfrm>
          <a:prstGeom prst="roundRect">
            <a:avLst>
              <a:gd name="adj" fmla="val 4762"/>
            </a:avLst>
          </a:prstGeom>
          <a:solidFill>
            <a:srgbClr val="1F1444">
              <a:alpha val="90000"/>
            </a:srgbClr>
          </a:solidFill>
          <a:ln w="12700">
            <a:solidFill>
              <a:srgbClr val="6C3CE9"/>
            </a:solidFill>
            <a:prstDash val="solid"/>
          </a:ln>
        </p:spPr>
      </p:sp>
      <p:sp>
        <p:nvSpPr>
          <p:cNvPr id="14" name="Shape 12"/>
          <p:cNvSpPr/>
          <p:nvPr/>
        </p:nvSpPr>
        <p:spPr>
          <a:xfrm>
            <a:off x="4480560" y="3108960"/>
            <a:ext cx="585216" cy="585216"/>
          </a:xfrm>
          <a:prstGeom prst="ellipse">
            <a:avLst/>
          </a:prstGeom>
          <a:solidFill>
            <a:srgbClr val="EC4899"/>
          </a:solidFill>
          <a:ln/>
        </p:spPr>
      </p:sp>
      <p:sp>
        <p:nvSpPr>
          <p:cNvPr id="15" name="Text 13"/>
          <p:cNvSpPr/>
          <p:nvPr/>
        </p:nvSpPr>
        <p:spPr>
          <a:xfrm>
            <a:off x="4480560" y="3090672"/>
            <a:ext cx="585216" cy="585216"/>
          </a:xfrm>
          <a:prstGeom prst="rect">
            <a:avLst/>
          </a:prstGeom>
          <a:noFill/>
          <a:ln/>
        </p:spPr>
        <p:txBody>
          <a:bodyPr wrap="square" lIns="0" tIns="0" rIns="0" bIns="0" rtlCol="0" anchor="ctr"/>
          <a:lstStyle/>
          <a:p>
            <a:pPr marL="0" indent="0" algn="ctr">
              <a:buNone/>
            </a:pPr>
            <a:r>
              <a:rPr lang="en-US" sz="2400" dirty="0">
                <a:solidFill>
                  <a:srgbClr val="000000"/>
                </a:solidFill>
                <a:latin typeface="Segoe UI Emoji" pitchFamily="34" charset="0"/>
                <a:ea typeface="Segoe UI Emoji" pitchFamily="34" charset="-122"/>
                <a:cs typeface="Segoe UI Emoji" pitchFamily="34" charset="-120"/>
              </a:rPr>
              <a:t>🐳</a:t>
            </a:r>
            <a:endParaRPr lang="en-US" sz="2400" dirty="0"/>
          </a:p>
        </p:txBody>
      </p:sp>
      <p:sp>
        <p:nvSpPr>
          <p:cNvPr id="16" name="Text 14"/>
          <p:cNvSpPr/>
          <p:nvPr/>
        </p:nvSpPr>
        <p:spPr>
          <a:xfrm>
            <a:off x="3520440" y="3794760"/>
            <a:ext cx="2514600" cy="320040"/>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Docker</a:t>
            </a:r>
            <a:endParaRPr lang="en-US" sz="1350" dirty="0"/>
          </a:p>
        </p:txBody>
      </p:sp>
      <p:sp>
        <p:nvSpPr>
          <p:cNvPr id="17" name="Text 15"/>
          <p:cNvSpPr/>
          <p:nvPr/>
        </p:nvSpPr>
        <p:spPr>
          <a:xfrm>
            <a:off x="3657600" y="4114800"/>
            <a:ext cx="2240280" cy="640080"/>
          </a:xfrm>
          <a:prstGeom prst="rect">
            <a:avLst/>
          </a:prstGeom>
          <a:noFill/>
          <a:ln/>
        </p:spPr>
        <p:txBody>
          <a:bodyPr wrap="square" lIns="0" tIns="0" rIns="0" bIns="0" rtlCol="0" anchor="ctr"/>
          <a:lstStyle/>
          <a:p>
            <a:pPr marL="0" indent="0" algn="ctr">
              <a:buNone/>
            </a:pPr>
            <a:r>
              <a:rPr lang="en-US" sz="950" dirty="0">
                <a:solidFill>
                  <a:srgbClr val="D9D2F0"/>
                </a:solidFill>
                <a:latin typeface="Calibri" pitchFamily="34" charset="0"/>
                <a:ea typeface="Calibri" pitchFamily="34" charset="-122"/>
                <a:cs typeface="Calibri" pitchFamily="34" charset="-120"/>
              </a:rPr>
              <a:t>Consistent, portable containers for every service</a:t>
            </a:r>
            <a:endParaRPr lang="en-US" sz="950" dirty="0"/>
          </a:p>
        </p:txBody>
      </p:sp>
      <p:sp>
        <p:nvSpPr>
          <p:cNvPr id="18" name="Shape 16"/>
          <p:cNvSpPr/>
          <p:nvPr/>
        </p:nvSpPr>
        <p:spPr>
          <a:xfrm>
            <a:off x="6217920" y="2880360"/>
            <a:ext cx="2514600" cy="1920240"/>
          </a:xfrm>
          <a:prstGeom prst="roundRect">
            <a:avLst>
              <a:gd name="adj" fmla="val 4762"/>
            </a:avLst>
          </a:prstGeom>
          <a:solidFill>
            <a:srgbClr val="1F1444">
              <a:alpha val="90000"/>
            </a:srgbClr>
          </a:solidFill>
          <a:ln w="12700">
            <a:solidFill>
              <a:srgbClr val="6C3CE9"/>
            </a:solidFill>
            <a:prstDash val="solid"/>
          </a:ln>
        </p:spPr>
      </p:sp>
      <p:sp>
        <p:nvSpPr>
          <p:cNvPr id="19" name="Shape 17"/>
          <p:cNvSpPr/>
          <p:nvPr/>
        </p:nvSpPr>
        <p:spPr>
          <a:xfrm>
            <a:off x="7178040" y="3108960"/>
            <a:ext cx="585216" cy="585216"/>
          </a:xfrm>
          <a:prstGeom prst="ellipse">
            <a:avLst/>
          </a:prstGeom>
          <a:solidFill>
            <a:srgbClr val="EC4899"/>
          </a:solidFill>
          <a:ln/>
        </p:spPr>
      </p:sp>
      <p:sp>
        <p:nvSpPr>
          <p:cNvPr id="20" name="Text 18"/>
          <p:cNvSpPr/>
          <p:nvPr/>
        </p:nvSpPr>
        <p:spPr>
          <a:xfrm>
            <a:off x="7178040" y="3090672"/>
            <a:ext cx="585216" cy="585216"/>
          </a:xfrm>
          <a:prstGeom prst="rect">
            <a:avLst/>
          </a:prstGeom>
          <a:noFill/>
          <a:ln/>
        </p:spPr>
        <p:txBody>
          <a:bodyPr wrap="square" lIns="0" tIns="0" rIns="0" bIns="0" rtlCol="0" anchor="ctr"/>
          <a:lstStyle/>
          <a:p>
            <a:pPr marL="0" indent="0" algn="ctr">
              <a:buNone/>
            </a:pPr>
            <a:r>
              <a:rPr lang="en-US" sz="2400" dirty="0">
                <a:solidFill>
                  <a:srgbClr val="000000"/>
                </a:solidFill>
                <a:latin typeface="Segoe UI Emoji" pitchFamily="34" charset="0"/>
                <a:ea typeface="Segoe UI Emoji" pitchFamily="34" charset="-122"/>
                <a:cs typeface="Segoe UI Emoji" pitchFamily="34" charset="-120"/>
              </a:rPr>
              <a:t>☸️</a:t>
            </a:r>
            <a:endParaRPr lang="en-US" sz="2400" dirty="0"/>
          </a:p>
        </p:txBody>
      </p:sp>
      <p:sp>
        <p:nvSpPr>
          <p:cNvPr id="21" name="Text 19"/>
          <p:cNvSpPr/>
          <p:nvPr/>
        </p:nvSpPr>
        <p:spPr>
          <a:xfrm>
            <a:off x="6217920" y="3794760"/>
            <a:ext cx="2514600" cy="320040"/>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Kubernetes</a:t>
            </a:r>
            <a:endParaRPr lang="en-US" sz="1350" dirty="0"/>
          </a:p>
        </p:txBody>
      </p:sp>
      <p:sp>
        <p:nvSpPr>
          <p:cNvPr id="22" name="Text 20"/>
          <p:cNvSpPr/>
          <p:nvPr/>
        </p:nvSpPr>
        <p:spPr>
          <a:xfrm>
            <a:off x="6355080" y="4114800"/>
            <a:ext cx="2240280" cy="640080"/>
          </a:xfrm>
          <a:prstGeom prst="rect">
            <a:avLst/>
          </a:prstGeom>
          <a:noFill/>
          <a:ln/>
        </p:spPr>
        <p:txBody>
          <a:bodyPr wrap="square" lIns="0" tIns="0" rIns="0" bIns="0" rtlCol="0" anchor="ctr"/>
          <a:lstStyle/>
          <a:p>
            <a:pPr marL="0" indent="0" algn="ctr">
              <a:buNone/>
            </a:pPr>
            <a:r>
              <a:rPr lang="en-US" sz="950" dirty="0">
                <a:solidFill>
                  <a:srgbClr val="D9D2F0"/>
                </a:solidFill>
                <a:latin typeface="Calibri" pitchFamily="34" charset="0"/>
                <a:ea typeface="Calibri" pitchFamily="34" charset="-122"/>
                <a:cs typeface="Calibri" pitchFamily="34" charset="-120"/>
              </a:rPr>
              <a:t>Scalable, self-healing production deployment</a:t>
            </a:r>
            <a:endParaRPr lang="en-US" sz="950" dirty="0"/>
          </a:p>
        </p:txBody>
      </p:sp>
      <p:sp>
        <p:nvSpPr>
          <p:cNvPr id="23" name="Shape 21"/>
          <p:cNvSpPr/>
          <p:nvPr/>
        </p:nvSpPr>
        <p:spPr>
          <a:xfrm>
            <a:off x="8915400" y="2880360"/>
            <a:ext cx="2514600" cy="1920240"/>
          </a:xfrm>
          <a:prstGeom prst="roundRect">
            <a:avLst>
              <a:gd name="adj" fmla="val 4762"/>
            </a:avLst>
          </a:prstGeom>
          <a:solidFill>
            <a:srgbClr val="1F1444">
              <a:alpha val="90000"/>
            </a:srgbClr>
          </a:solidFill>
          <a:ln w="12700">
            <a:solidFill>
              <a:srgbClr val="6C3CE9"/>
            </a:solidFill>
            <a:prstDash val="solid"/>
          </a:ln>
        </p:spPr>
      </p:sp>
      <p:sp>
        <p:nvSpPr>
          <p:cNvPr id="24" name="Shape 22"/>
          <p:cNvSpPr/>
          <p:nvPr/>
        </p:nvSpPr>
        <p:spPr>
          <a:xfrm>
            <a:off x="9875520" y="3108960"/>
            <a:ext cx="585216" cy="585216"/>
          </a:xfrm>
          <a:prstGeom prst="ellipse">
            <a:avLst/>
          </a:prstGeom>
          <a:solidFill>
            <a:srgbClr val="EC4899"/>
          </a:solidFill>
          <a:ln/>
        </p:spPr>
      </p:sp>
      <p:sp>
        <p:nvSpPr>
          <p:cNvPr id="25" name="Text 23"/>
          <p:cNvSpPr/>
          <p:nvPr/>
        </p:nvSpPr>
        <p:spPr>
          <a:xfrm>
            <a:off x="9875520" y="3090672"/>
            <a:ext cx="585216" cy="585216"/>
          </a:xfrm>
          <a:prstGeom prst="rect">
            <a:avLst/>
          </a:prstGeom>
          <a:noFill/>
          <a:ln/>
        </p:spPr>
        <p:txBody>
          <a:bodyPr wrap="square" lIns="0" tIns="0" rIns="0" bIns="0" rtlCol="0" anchor="ctr"/>
          <a:lstStyle/>
          <a:p>
            <a:pPr marL="0" indent="0" algn="ctr">
              <a:buNone/>
            </a:pPr>
            <a:r>
              <a:rPr lang="en-US" sz="2400" dirty="0">
                <a:solidFill>
                  <a:srgbClr val="000000"/>
                </a:solidFill>
                <a:latin typeface="Segoe UI Emoji" pitchFamily="34" charset="0"/>
                <a:ea typeface="Segoe UI Emoji" pitchFamily="34" charset="-122"/>
                <a:cs typeface="Segoe UI Emoji" pitchFamily="34" charset="-120"/>
              </a:rPr>
              <a:t>🌐</a:t>
            </a:r>
            <a:endParaRPr lang="en-US" sz="2400" dirty="0"/>
          </a:p>
        </p:txBody>
      </p:sp>
      <p:sp>
        <p:nvSpPr>
          <p:cNvPr id="26" name="Text 24"/>
          <p:cNvSpPr/>
          <p:nvPr/>
        </p:nvSpPr>
        <p:spPr>
          <a:xfrm>
            <a:off x="8915400" y="3794760"/>
            <a:ext cx="2514600" cy="320040"/>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Modern Web Tech</a:t>
            </a:r>
            <a:endParaRPr lang="en-US" sz="1350" dirty="0"/>
          </a:p>
        </p:txBody>
      </p:sp>
      <p:sp>
        <p:nvSpPr>
          <p:cNvPr id="27" name="Text 25"/>
          <p:cNvSpPr/>
          <p:nvPr/>
        </p:nvSpPr>
        <p:spPr>
          <a:xfrm>
            <a:off x="9052560" y="4114800"/>
            <a:ext cx="2240280" cy="640080"/>
          </a:xfrm>
          <a:prstGeom prst="rect">
            <a:avLst/>
          </a:prstGeom>
          <a:noFill/>
          <a:ln/>
        </p:spPr>
        <p:txBody>
          <a:bodyPr wrap="square" lIns="0" tIns="0" rIns="0" bIns="0" rtlCol="0" anchor="ctr"/>
          <a:lstStyle/>
          <a:p>
            <a:pPr marL="0" indent="0" algn="ctr">
              <a:buNone/>
            </a:pPr>
            <a:r>
              <a:rPr lang="en-US" sz="950" dirty="0">
                <a:solidFill>
                  <a:srgbClr val="D9D2F0"/>
                </a:solidFill>
                <a:latin typeface="Calibri" pitchFamily="34" charset="0"/>
                <a:ea typeface="Calibri" pitchFamily="34" charset="-122"/>
                <a:cs typeface="Calibri" pitchFamily="34" charset="-120"/>
              </a:rPr>
              <a:t>Fast, responsive, framework-free frontend</a:t>
            </a:r>
            <a:endParaRPr lang="en-US" sz="950" dirty="0"/>
          </a:p>
        </p:txBody>
      </p:sp>
      <p:sp>
        <p:nvSpPr>
          <p:cNvPr id="28" name="Text 26"/>
          <p:cNvSpPr/>
          <p:nvPr/>
        </p:nvSpPr>
        <p:spPr>
          <a:xfrm>
            <a:off x="822960" y="5074920"/>
            <a:ext cx="10515600" cy="548640"/>
          </a:xfrm>
          <a:prstGeom prst="rect">
            <a:avLst/>
          </a:prstGeom>
          <a:noFill/>
          <a:ln/>
        </p:spPr>
        <p:txBody>
          <a:bodyPr wrap="square" lIns="0" tIns="0" rIns="0" bIns="0" rtlCol="0" anchor="ctr"/>
          <a:lstStyle/>
          <a:p>
            <a:pPr marL="0" indent="0" algn="l">
              <a:buNone/>
            </a:pPr>
            <a:r>
              <a:rPr lang="en-US" sz="1300" i="1" dirty="0">
                <a:solidFill>
                  <a:srgbClr val="D9D2F0"/>
                </a:solidFill>
                <a:latin typeface="Calibri" pitchFamily="34" charset="0"/>
                <a:ea typeface="Calibri" pitchFamily="34" charset="-122"/>
                <a:cs typeface="Calibri" pitchFamily="34" charset="-120"/>
              </a:rPr>
              <a:t>Together, these choices result in a system that is scalable, maintainable, and genuinely ready for real-world, cloud-native deployment.</a:t>
            </a:r>
            <a:endParaRPr lang="en-US" sz="1300" dirty="0"/>
          </a:p>
        </p:txBody>
      </p:sp>
      <p:sp>
        <p:nvSpPr>
          <p:cNvPr id="29" name="Text 27"/>
          <p:cNvSpPr/>
          <p:nvPr/>
        </p:nvSpPr>
        <p:spPr>
          <a:xfrm>
            <a:off x="548640" y="6528816"/>
            <a:ext cx="2743200" cy="274320"/>
          </a:xfrm>
          <a:prstGeom prst="rect">
            <a:avLst/>
          </a:prstGeom>
          <a:noFill/>
          <a:ln/>
        </p:spPr>
        <p:txBody>
          <a:bodyPr wrap="square" lIns="0" tIns="0" rIns="0" bIns="0" rtlCol="0" anchor="ctr"/>
          <a:lstStyle/>
          <a:p>
            <a:pPr marL="0" indent="0" algn="l">
              <a:buNone/>
            </a:pPr>
            <a:r>
              <a:rPr lang="en-US" sz="1000" dirty="0">
                <a:solidFill>
                  <a:srgbClr val="D9D2F0"/>
                </a:solidFill>
                <a:latin typeface="Calibri" pitchFamily="34" charset="0"/>
                <a:ea typeface="Calibri" pitchFamily="34" charset="-122"/>
                <a:cs typeface="Calibri" pitchFamily="34" charset="-120"/>
              </a:rPr>
              <a:t>NewsNest</a:t>
            </a:r>
            <a:endParaRPr lang="en-US" sz="1000" dirty="0"/>
          </a:p>
        </p:txBody>
      </p:sp>
      <p:sp>
        <p:nvSpPr>
          <p:cNvPr id="30" name="Text 28"/>
          <p:cNvSpPr/>
          <p:nvPr/>
        </p:nvSpPr>
        <p:spPr>
          <a:xfrm>
            <a:off x="11183112" y="6528816"/>
            <a:ext cx="457200" cy="274320"/>
          </a:xfrm>
          <a:prstGeom prst="rect">
            <a:avLst/>
          </a:prstGeom>
          <a:noFill/>
          <a:ln/>
        </p:spPr>
        <p:txBody>
          <a:bodyPr wrap="square" lIns="0" tIns="0" rIns="0" bIns="0" rtlCol="0" anchor="ctr"/>
          <a:lstStyle/>
          <a:p>
            <a:pPr marL="0" indent="0" algn="r">
              <a:buNone/>
            </a:pPr>
            <a:r>
              <a:rPr lang="en-US" sz="1000" dirty="0">
                <a:solidFill>
                  <a:srgbClr val="D9D2F0"/>
                </a:solidFill>
                <a:latin typeface="Calibri" pitchFamily="34" charset="0"/>
                <a:ea typeface="Calibri" pitchFamily="34" charset="-122"/>
                <a:cs typeface="Calibri" pitchFamily="34" charset="-120"/>
              </a:rPr>
              <a:t>23</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5">
    <p:bg>
      <p:bgPr>
        <a:solidFill>
          <a:srgbClr val="2A1B5D"/>
        </a:solidFill>
        <a:effectLst/>
      </p:bgPr>
    </p:bg>
    <p:spTree>
      <p:nvGrpSpPr>
        <p:cNvPr id="1" name=""/>
        <p:cNvGrpSpPr/>
        <p:nvPr/>
      </p:nvGrpSpPr>
      <p:grpSpPr>
        <a:xfrm>
          <a:off x="0" y="0"/>
          <a:ext cx="0" cy="0"/>
          <a:chOff x="0" y="0"/>
          <a:chExt cx="0" cy="0"/>
        </a:xfrm>
      </p:grpSpPr>
      <p:sp>
        <p:nvSpPr>
          <p:cNvPr id="2" name="Shape 0"/>
          <p:cNvSpPr/>
          <p:nvPr/>
        </p:nvSpPr>
        <p:spPr>
          <a:xfrm>
            <a:off x="9784080" y="-2011680"/>
            <a:ext cx="5943600" cy="5943600"/>
          </a:xfrm>
          <a:prstGeom prst="ellipse">
            <a:avLst/>
          </a:prstGeom>
          <a:solidFill>
            <a:srgbClr val="6C3CE9">
              <a:alpha val="22000"/>
            </a:srgbClr>
          </a:solidFill>
          <a:ln/>
        </p:spPr>
      </p:sp>
      <p:sp>
        <p:nvSpPr>
          <p:cNvPr id="3" name="Shape 1"/>
          <p:cNvSpPr/>
          <p:nvPr/>
        </p:nvSpPr>
        <p:spPr>
          <a:xfrm>
            <a:off x="-2103120" y="4206240"/>
            <a:ext cx="5120640" cy="5120640"/>
          </a:xfrm>
          <a:prstGeom prst="ellipse">
            <a:avLst/>
          </a:prstGeom>
          <a:solidFill>
            <a:srgbClr val="EC4899">
              <a:alpha val="18000"/>
            </a:srgbClr>
          </a:solidFill>
          <a:ln/>
        </p:spPr>
      </p:sp>
      <p:sp>
        <p:nvSpPr>
          <p:cNvPr id="4" name="Shape 2"/>
          <p:cNvSpPr/>
          <p:nvPr/>
        </p:nvSpPr>
        <p:spPr>
          <a:xfrm>
            <a:off x="8961120" y="4754880"/>
            <a:ext cx="2926080" cy="2926080"/>
          </a:xfrm>
          <a:prstGeom prst="ellipse">
            <a:avLst/>
          </a:prstGeom>
          <a:solidFill>
            <a:srgbClr val="EC4899">
              <a:alpha val="15000"/>
            </a:srgbClr>
          </a:solidFill>
          <a:ln/>
        </p:spPr>
      </p:sp>
      <p:sp>
        <p:nvSpPr>
          <p:cNvPr id="5" name="Shape 3"/>
          <p:cNvSpPr/>
          <p:nvPr/>
        </p:nvSpPr>
        <p:spPr>
          <a:xfrm>
            <a:off x="5641848" y="868680"/>
            <a:ext cx="777240" cy="777240"/>
          </a:xfrm>
          <a:prstGeom prst="ellipse">
            <a:avLst/>
          </a:prstGeom>
          <a:solidFill>
            <a:srgbClr val="EC4899"/>
          </a:solidFill>
          <a:ln/>
        </p:spPr>
      </p:sp>
      <p:sp>
        <p:nvSpPr>
          <p:cNvPr id="6" name="Text 4"/>
          <p:cNvSpPr/>
          <p:nvPr/>
        </p:nvSpPr>
        <p:spPr>
          <a:xfrm>
            <a:off x="5641848" y="850392"/>
            <a:ext cx="777240" cy="777240"/>
          </a:xfrm>
          <a:prstGeom prst="rect">
            <a:avLst/>
          </a:prstGeom>
          <a:noFill/>
          <a:ln/>
        </p:spPr>
        <p:txBody>
          <a:bodyPr wrap="square" lIns="0" tIns="0" rIns="0" bIns="0" rtlCol="0" anchor="ctr"/>
          <a:lstStyle/>
          <a:p>
            <a:pPr marL="0" indent="0" algn="ctr">
              <a:buNone/>
            </a:pPr>
            <a:r>
              <a:rPr lang="en-US" sz="3400" dirty="0">
                <a:solidFill>
                  <a:srgbClr val="000000"/>
                </a:solidFill>
                <a:latin typeface="Segoe UI Emoji" pitchFamily="34" charset="0"/>
                <a:ea typeface="Segoe UI Emoji" pitchFamily="34" charset="-122"/>
                <a:cs typeface="Segoe UI Emoji" pitchFamily="34" charset="-120"/>
              </a:rPr>
              <a:t>📰</a:t>
            </a:r>
            <a:endParaRPr lang="en-US" sz="3400" dirty="0"/>
          </a:p>
        </p:txBody>
      </p:sp>
      <p:sp>
        <p:nvSpPr>
          <p:cNvPr id="7" name="Text 5"/>
          <p:cNvSpPr/>
          <p:nvPr/>
        </p:nvSpPr>
        <p:spPr>
          <a:xfrm>
            <a:off x="0" y="1828800"/>
            <a:ext cx="12191695" cy="822960"/>
          </a:xfrm>
          <a:prstGeom prst="rect">
            <a:avLst/>
          </a:prstGeom>
          <a:noFill/>
          <a:ln/>
        </p:spPr>
        <p:txBody>
          <a:bodyPr wrap="square" lIns="0" tIns="0" rIns="0" bIns="0" rtlCol="0" anchor="ctr"/>
          <a:lstStyle/>
          <a:p>
            <a:pPr marL="0" indent="0" algn="ctr">
              <a:buNone/>
            </a:pPr>
            <a:r>
              <a:rPr lang="en-US" sz="4400" b="1" dirty="0">
                <a:solidFill>
                  <a:srgbClr val="FFFFFF"/>
                </a:solidFill>
                <a:latin typeface="Cambria" pitchFamily="34" charset="0"/>
                <a:ea typeface="Cambria" pitchFamily="34" charset="-122"/>
                <a:cs typeface="Cambria" pitchFamily="34" charset="-120"/>
              </a:rPr>
              <a:t>Thank You</a:t>
            </a:r>
            <a:endParaRPr lang="en-US" sz="4400" dirty="0"/>
          </a:p>
        </p:txBody>
      </p:sp>
      <p:sp>
        <p:nvSpPr>
          <p:cNvPr id="8" name="Text 6"/>
          <p:cNvSpPr/>
          <p:nvPr/>
        </p:nvSpPr>
        <p:spPr>
          <a:xfrm>
            <a:off x="0" y="2606040"/>
            <a:ext cx="12191695" cy="411480"/>
          </a:xfrm>
          <a:prstGeom prst="rect">
            <a:avLst/>
          </a:prstGeom>
          <a:noFill/>
          <a:ln/>
        </p:spPr>
        <p:txBody>
          <a:bodyPr wrap="square" lIns="0" tIns="0" rIns="0" bIns="0" rtlCol="0" anchor="ctr"/>
          <a:lstStyle/>
          <a:p>
            <a:pPr marL="0" indent="0" algn="ctr">
              <a:buNone/>
            </a:pPr>
            <a:r>
              <a:rPr lang="en-US" sz="1500" i="1" dirty="0">
                <a:solidFill>
                  <a:srgbClr val="D9D2F0"/>
                </a:solidFill>
                <a:latin typeface="Calibri" pitchFamily="34" charset="0"/>
                <a:ea typeface="Calibri" pitchFamily="34" charset="-122"/>
                <a:cs typeface="Calibri" pitchFamily="34" charset="-120"/>
              </a:rPr>
              <a:t>NewsNest — Personalized Interest-Based News Aggregator</a:t>
            </a:r>
            <a:endParaRPr lang="en-US" sz="1500" dirty="0"/>
          </a:p>
        </p:txBody>
      </p:sp>
      <p:sp>
        <p:nvSpPr>
          <p:cNvPr id="9" name="Shape 7"/>
          <p:cNvSpPr/>
          <p:nvPr/>
        </p:nvSpPr>
        <p:spPr>
          <a:xfrm>
            <a:off x="3058668" y="4361688"/>
            <a:ext cx="5943600" cy="1591056"/>
          </a:xfrm>
          <a:prstGeom prst="roundRect">
            <a:avLst>
              <a:gd name="adj" fmla="val 5714"/>
            </a:avLst>
          </a:prstGeom>
          <a:solidFill>
            <a:srgbClr val="1F1444">
              <a:alpha val="85000"/>
            </a:srgbClr>
          </a:solidFill>
          <a:ln w="12700">
            <a:solidFill>
              <a:srgbClr val="6C3CE9"/>
            </a:solidFill>
            <a:prstDash val="solid"/>
          </a:ln>
        </p:spPr>
        <p:txBody>
          <a:bodyPr/>
          <a:lstStyle/>
          <a:p>
            <a:endParaRPr lang="en-IN" dirty="0"/>
          </a:p>
        </p:txBody>
      </p:sp>
      <p:sp>
        <p:nvSpPr>
          <p:cNvPr id="10" name="Text 8"/>
          <p:cNvSpPr/>
          <p:nvPr/>
        </p:nvSpPr>
        <p:spPr>
          <a:xfrm>
            <a:off x="3356264" y="4773999"/>
            <a:ext cx="457200" cy="365760"/>
          </a:xfrm>
          <a:prstGeom prst="rect">
            <a:avLst/>
          </a:prstGeom>
          <a:noFill/>
          <a:ln/>
        </p:spPr>
        <p:txBody>
          <a:bodyPr wrap="square" lIns="0" tIns="0" rIns="0" bIns="0" rtlCol="0" anchor="ctr"/>
          <a:lstStyle/>
          <a:p>
            <a:pPr marL="0" indent="0" algn="ctr">
              <a:buNone/>
            </a:pPr>
            <a:r>
              <a:rPr lang="en-US" sz="1500" dirty="0">
                <a:solidFill>
                  <a:srgbClr val="000000"/>
                </a:solidFill>
                <a:latin typeface="Segoe UI Emoji" pitchFamily="34" charset="0"/>
                <a:ea typeface="Segoe UI Emoji" pitchFamily="34" charset="-122"/>
                <a:cs typeface="Segoe UI Emoji" pitchFamily="34" charset="-120"/>
              </a:rPr>
              <a:t>👤</a:t>
            </a:r>
            <a:endParaRPr lang="en-US" sz="1500" dirty="0"/>
          </a:p>
        </p:txBody>
      </p:sp>
      <p:sp>
        <p:nvSpPr>
          <p:cNvPr id="11" name="Text 9"/>
          <p:cNvSpPr/>
          <p:nvPr/>
        </p:nvSpPr>
        <p:spPr>
          <a:xfrm>
            <a:off x="3837709" y="4773999"/>
            <a:ext cx="4937760" cy="365760"/>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Shivam Kumar Pandey</a:t>
            </a:r>
            <a:endParaRPr lang="en-US" sz="1250" dirty="0"/>
          </a:p>
        </p:txBody>
      </p:sp>
      <p:sp>
        <p:nvSpPr>
          <p:cNvPr id="12" name="Text 10"/>
          <p:cNvSpPr/>
          <p:nvPr/>
        </p:nvSpPr>
        <p:spPr>
          <a:xfrm>
            <a:off x="3380509" y="5362956"/>
            <a:ext cx="457200" cy="365760"/>
          </a:xfrm>
          <a:prstGeom prst="rect">
            <a:avLst/>
          </a:prstGeom>
          <a:noFill/>
          <a:ln/>
        </p:spPr>
        <p:txBody>
          <a:bodyPr wrap="square" lIns="0" tIns="0" rIns="0" bIns="0" rtlCol="0" anchor="ctr"/>
          <a:lstStyle/>
          <a:p>
            <a:pPr marL="0" indent="0" algn="ctr">
              <a:buNone/>
            </a:pPr>
            <a:r>
              <a:rPr lang="en-US" sz="1500" dirty="0">
                <a:solidFill>
                  <a:srgbClr val="000000"/>
                </a:solidFill>
                <a:latin typeface="Segoe UI Emoji" pitchFamily="34" charset="0"/>
                <a:ea typeface="Segoe UI Emoji" pitchFamily="34" charset="-122"/>
                <a:cs typeface="Segoe UI Emoji" pitchFamily="34" charset="-120"/>
              </a:rPr>
              <a:t>✉️</a:t>
            </a:r>
            <a:endParaRPr lang="en-US" sz="1500" dirty="0"/>
          </a:p>
        </p:txBody>
      </p:sp>
      <p:sp>
        <p:nvSpPr>
          <p:cNvPr id="13" name="Text 11"/>
          <p:cNvSpPr/>
          <p:nvPr/>
        </p:nvSpPr>
        <p:spPr>
          <a:xfrm>
            <a:off x="3837709" y="5349517"/>
            <a:ext cx="4937760" cy="365760"/>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shivamyahoo.nke@gmail.com</a:t>
            </a:r>
            <a:endParaRPr lang="en-US" sz="1250" dirty="0"/>
          </a:p>
        </p:txBody>
      </p:sp>
      <p:sp>
        <p:nvSpPr>
          <p:cNvPr id="14" name="Text 12"/>
          <p:cNvSpPr/>
          <p:nvPr/>
        </p:nvSpPr>
        <p:spPr>
          <a:xfrm>
            <a:off x="3429000" y="4370832"/>
            <a:ext cx="457200" cy="365760"/>
          </a:xfrm>
          <a:prstGeom prst="rect">
            <a:avLst/>
          </a:prstGeom>
          <a:noFill/>
          <a:ln/>
        </p:spPr>
        <p:txBody>
          <a:bodyPr wrap="square" lIns="0" tIns="0" rIns="0" bIns="0" rtlCol="0" anchor="ctr"/>
          <a:lstStyle/>
          <a:p>
            <a:pPr algn="ctr"/>
            <a:endParaRPr lang="en-US" sz="1500" dirty="0"/>
          </a:p>
        </p:txBody>
      </p:sp>
      <p:sp>
        <p:nvSpPr>
          <p:cNvPr id="15" name="Text 13"/>
          <p:cNvSpPr/>
          <p:nvPr/>
        </p:nvSpPr>
        <p:spPr>
          <a:xfrm>
            <a:off x="3886200" y="4773168"/>
            <a:ext cx="4937760" cy="365760"/>
          </a:xfrm>
          <a:prstGeom prst="rect">
            <a:avLst/>
          </a:prstGeom>
          <a:noFill/>
          <a:ln/>
        </p:spPr>
        <p:txBody>
          <a:bodyPr wrap="square" lIns="0" tIns="0" rIns="0" bIns="0" rtlCol="0" anchor="ctr"/>
          <a:lstStyle/>
          <a:p>
            <a:endParaRPr lang="en-US" sz="1250" dirty="0"/>
          </a:p>
        </p:txBody>
      </p:sp>
      <p:sp>
        <p:nvSpPr>
          <p:cNvPr id="16" name="Text 14"/>
          <p:cNvSpPr/>
          <p:nvPr/>
        </p:nvSpPr>
        <p:spPr>
          <a:xfrm>
            <a:off x="3429000" y="4773168"/>
            <a:ext cx="457200" cy="365760"/>
          </a:xfrm>
          <a:prstGeom prst="rect">
            <a:avLst/>
          </a:prstGeom>
          <a:noFill/>
          <a:ln/>
        </p:spPr>
        <p:txBody>
          <a:bodyPr wrap="square" lIns="0" tIns="0" rIns="0" bIns="0" rtlCol="0" anchor="ctr"/>
          <a:lstStyle/>
          <a:p>
            <a:pPr marL="0" indent="0" algn="ctr">
              <a:buNone/>
            </a:pPr>
            <a:endParaRPr lang="en-US" sz="1500" dirty="0"/>
          </a:p>
        </p:txBody>
      </p:sp>
      <p:sp>
        <p:nvSpPr>
          <p:cNvPr id="17" name="Text 15"/>
          <p:cNvSpPr/>
          <p:nvPr/>
        </p:nvSpPr>
        <p:spPr>
          <a:xfrm>
            <a:off x="3931920" y="4773168"/>
            <a:ext cx="4937760" cy="365760"/>
          </a:xfrm>
          <a:prstGeom prst="rect">
            <a:avLst/>
          </a:prstGeom>
          <a:noFill/>
          <a:ln/>
        </p:spPr>
        <p:txBody>
          <a:bodyPr wrap="square" lIns="0" tIns="0" rIns="0" bIns="0" rtlCol="0" anchor="ctr"/>
          <a:lstStyle/>
          <a:p>
            <a:pPr marL="0" indent="0">
              <a:buNone/>
            </a:pPr>
            <a:endParaRPr lang="en-US" sz="1250" dirty="0"/>
          </a:p>
        </p:txBody>
      </p:sp>
      <p:sp>
        <p:nvSpPr>
          <p:cNvPr id="18" name="Text 16"/>
          <p:cNvSpPr/>
          <p:nvPr/>
        </p:nvSpPr>
        <p:spPr>
          <a:xfrm>
            <a:off x="548640" y="6528816"/>
            <a:ext cx="2743200" cy="274320"/>
          </a:xfrm>
          <a:prstGeom prst="rect">
            <a:avLst/>
          </a:prstGeom>
          <a:noFill/>
          <a:ln/>
        </p:spPr>
        <p:txBody>
          <a:bodyPr wrap="square" lIns="0" tIns="0" rIns="0" bIns="0" rtlCol="0" anchor="ctr"/>
          <a:lstStyle/>
          <a:p>
            <a:pPr marL="0" indent="0" algn="l">
              <a:buNone/>
            </a:pPr>
            <a:r>
              <a:rPr lang="en-US" sz="1000" dirty="0">
                <a:solidFill>
                  <a:srgbClr val="D9D2F0"/>
                </a:solidFill>
                <a:latin typeface="Calibri" pitchFamily="34" charset="0"/>
                <a:ea typeface="Calibri" pitchFamily="34" charset="-122"/>
                <a:cs typeface="Calibri" pitchFamily="34" charset="-120"/>
              </a:rPr>
              <a:t>NewsNest</a:t>
            </a:r>
            <a:endParaRPr lang="en-US" sz="1000" dirty="0"/>
          </a:p>
        </p:txBody>
      </p:sp>
      <p:sp>
        <p:nvSpPr>
          <p:cNvPr id="19" name="Text 17"/>
          <p:cNvSpPr/>
          <p:nvPr/>
        </p:nvSpPr>
        <p:spPr>
          <a:xfrm>
            <a:off x="11183112" y="6528816"/>
            <a:ext cx="457200" cy="274320"/>
          </a:xfrm>
          <a:prstGeom prst="rect">
            <a:avLst/>
          </a:prstGeom>
          <a:noFill/>
          <a:ln/>
        </p:spPr>
        <p:txBody>
          <a:bodyPr wrap="square" lIns="0" tIns="0" rIns="0" bIns="0" rtlCol="0" anchor="ctr"/>
          <a:lstStyle/>
          <a:p>
            <a:pPr marL="0" indent="0" algn="r">
              <a:buNone/>
            </a:pPr>
            <a:r>
              <a:rPr lang="en-US" sz="1000" dirty="0">
                <a:solidFill>
                  <a:srgbClr val="D9D2F0"/>
                </a:solidFill>
                <a:latin typeface="Calibri" pitchFamily="34" charset="0"/>
                <a:ea typeface="Calibri" pitchFamily="34" charset="-122"/>
                <a:cs typeface="Calibri" pitchFamily="34" charset="-120"/>
              </a:rPr>
              <a:t>25</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242</TotalTime>
  <Words>3668</Words>
  <Application>Microsoft Office PowerPoint</Application>
  <PresentationFormat>Widescreen</PresentationFormat>
  <Paragraphs>479</Paragraphs>
  <Slides>19</Slides>
  <Notes>19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Arial</vt:lpstr>
      <vt:lpstr>Calibri</vt:lpstr>
      <vt:lpstr>Cambria</vt:lpstr>
      <vt:lpstr>Consolas</vt:lpstr>
      <vt:lpstr>Segoe UI Emoji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shivamyahoo.nke@gmail.com</cp:lastModifiedBy>
  <cp:revision>3</cp:revision>
  <dcterms:created xsi:type="dcterms:W3CDTF">2026-07-16T04:14:05Z</dcterms:created>
  <dcterms:modified xsi:type="dcterms:W3CDTF">2026-07-16T13:55:02Z</dcterms:modified>
</cp:coreProperties>
</file>